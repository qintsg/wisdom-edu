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73" r:id="rId3"/>
    <p:sldId id="275" r:id="rId4"/>
    <p:sldId id="274" r:id="rId5"/>
    <p:sldId id="276" r:id="rId6"/>
    <p:sldId id="277" r:id="rId7"/>
    <p:sldId id="278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19B"/>
    <a:srgbClr val="116A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192" autoAdjust="0"/>
    <p:restoredTop sz="88430"/>
  </p:normalViewPr>
  <p:slideViewPr>
    <p:cSldViewPr snapToGrid="0" showGuides="1">
      <p:cViewPr varScale="1">
        <p:scale>
          <a:sx n="107" d="100"/>
          <a:sy n="107" d="100"/>
        </p:scale>
        <p:origin x="184" y="25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4611B-D63D-4827-9508-62293A02981D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B7F5E-4F88-4111-B208-2F260B30B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6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TF-IDF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与一个词在文档中的出现次数成正比，与该词在整个语言中的出现次数成反比。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计算出文档的每个词的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TF-IDF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值，然后按降序排列，取排在最前面的几个词，即可提取出文章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(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文档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)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的关键词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B7F5E-4F88-4111-B208-2F260B30BFD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784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TF-IDF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与一个词在文档中的出现次数成正比，与该词在整个语言中的出现次数成反比。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计算出文档的每个词的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TF-IDF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值，然后按降序排列，取排在最前面的几个词，即可提取出文章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(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文档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)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的关键词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B7F5E-4F88-4111-B208-2F260B30BFD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818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8720A-802B-4124-A8FE-D6F5FDE4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5E09-60C7-49E8-A9DF-8D1D9F6D10C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1B39824-60B1-4087-9654-852D1F012284}"/>
              </a:ext>
            </a:extLst>
          </p:cNvPr>
          <p:cNvCxnSpPr>
            <a:cxnSpLocks/>
          </p:cNvCxnSpPr>
          <p:nvPr userDrawn="1"/>
        </p:nvCxnSpPr>
        <p:spPr>
          <a:xfrm>
            <a:off x="0" y="829334"/>
            <a:ext cx="952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80355FC-FEB3-439F-8098-5C06013AAE42}"/>
              </a:ext>
            </a:extLst>
          </p:cNvPr>
          <p:cNvSpPr/>
          <p:nvPr userDrawn="1"/>
        </p:nvSpPr>
        <p:spPr>
          <a:xfrm>
            <a:off x="0" y="829334"/>
            <a:ext cx="1028700" cy="275566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41" y="110649"/>
            <a:ext cx="10515600" cy="570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2770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50960-1701-48AC-A59F-767B60563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5D7F4C-19FA-4DBB-8E0E-50D86708B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EF640-BE20-4B67-A136-5F55CD33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DE3503-87F1-4CF7-A256-C5FB9A22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49AA02-E14A-4B76-9C38-2F9B89BB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03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C072B-542B-4EB4-AE3E-3962BC96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7FC81C-17BC-4E49-801A-5535D52E3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C2DB2-8954-4FAC-BDAC-A41CB9FD1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45D9FA-8B05-43CE-A8C6-57D4B1B33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FB343-9089-4A86-8CDC-D72C628B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520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AC339-9979-439E-AD47-69A80F834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B08C4E-EFCC-422B-A0CC-66BF07485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044901-1417-472E-9D15-16ECC074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930AA9-002C-4348-9998-8027E3DF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8E8C9-BD1B-4A76-A9CB-27277C57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2C584-3CAE-47D4-911B-4E662122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7A965-7AFF-413E-B0F9-9B383F4D7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2C38DE-AED2-4131-8C10-FF03B22F8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95F5FA-8460-4FB5-BECF-082CB763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ECCEA3-CC62-4601-B76C-37ADB4AF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DFF4BD-83FA-48E8-9D3F-095F4C7C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51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6E1C5-ECAF-42BE-9623-BCADD634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1EBD31-3B49-47F1-94AD-B0C6385A0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F1D851-B286-458B-B0FF-37C11425C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B0DAC4-251D-4CAB-AAC8-1816BA2ED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3CAE68-B059-48A9-8FEA-AE16FDCBB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1B7C04-5F54-4995-8205-02AE75A6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3733C5-CACD-4D73-88DF-0FE47AEB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CC8BD8-3103-46D8-B238-FEE49AA8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69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81B53-CFBA-4ED9-A856-C7F31BDC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65807F-966E-4869-8987-657949B8D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10A72C-1EA5-4B8F-99BE-2B5DF012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0E1FBD-CDF9-4E91-99E5-A833BABA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40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3F8982-6037-4234-AD00-3123D01C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4F0542-C8F2-4C1F-BB00-D0D132707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6AEC53-34BE-4C4A-856B-8411CD69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61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AC9EE-3E5D-4DAD-862D-E4971473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60C9A-3E3A-47B4-A1B2-682A69B92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AB7B40-FEFE-403A-A042-FE872B9EF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1366DE-EBE6-4AFE-B2AF-4C25890E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2082D5-0599-48B5-8819-634575D3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55D9C-1A7C-4534-A584-4472E3B8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07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87C38-82A2-4C25-AC3F-F06B1F23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8ADE65-B3BE-4A96-890D-E7A188D83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79A9D3-7F46-42D0-B4ED-1773CC926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080096-90BF-4736-A77E-82348CC6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85590-E6CB-4FD1-A1EC-A9509A34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DA4A82-6CE2-4CA5-BD5B-08DCB7A0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98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CFA93-FCE2-44E4-878C-8FEFA601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6DA7C2-F2E1-4F67-8B34-F05CBFC08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967AE-CDF3-4D67-A190-E46F86D0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9B9F83-0BEE-42D3-99B3-055F58EB0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16528D-DEBF-45D5-AA5C-2081D9B2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693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BCEB34-32B0-4BD7-B39A-0AC8E1769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86A30-6588-4D1F-833A-33C5E7066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EA0ED4-AAED-4792-99F8-043A8A82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47DCE7-E18C-4FD7-A653-9FE1C3A9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9F1929-4F93-4E60-A024-16E632D7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367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1174279"/>
            <a:ext cx="7920203" cy="0"/>
          </a:xfrm>
          <a:prstGeom prst="line">
            <a:avLst/>
          </a:prstGeom>
          <a:ln w="15875">
            <a:gradFill>
              <a:gsLst>
                <a:gs pos="1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7333" y="296901"/>
            <a:ext cx="9792824" cy="649287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297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68784-9CD4-4F13-B6FF-DAFB8F5FA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20A121-C4E0-491B-B35A-1ABE4E2B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4455DE-3A94-44C9-BD40-E9A302C18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AF917-03E6-4637-A084-DE343516B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58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E3C0872-64D7-4B76-9B19-E1DAFDFDD242}"/>
              </a:ext>
            </a:extLst>
          </p:cNvPr>
          <p:cNvCxnSpPr>
            <a:cxnSpLocks/>
          </p:cNvCxnSpPr>
          <p:nvPr/>
        </p:nvCxnSpPr>
        <p:spPr>
          <a:xfrm>
            <a:off x="1422400" y="6113732"/>
            <a:ext cx="9093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1B39824-60B1-4087-9654-852D1F012284}"/>
              </a:ext>
            </a:extLst>
          </p:cNvPr>
          <p:cNvCxnSpPr>
            <a:cxnSpLocks/>
          </p:cNvCxnSpPr>
          <p:nvPr/>
        </p:nvCxnSpPr>
        <p:spPr>
          <a:xfrm>
            <a:off x="0" y="829334"/>
            <a:ext cx="952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980355FC-FEB3-439F-8098-5C06013AAE42}"/>
              </a:ext>
            </a:extLst>
          </p:cNvPr>
          <p:cNvSpPr/>
          <p:nvPr/>
        </p:nvSpPr>
        <p:spPr>
          <a:xfrm>
            <a:off x="0" y="829334"/>
            <a:ext cx="1028700" cy="275566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1D4805B-0FE8-4E82-B102-EE270173D087}"/>
              </a:ext>
            </a:extLst>
          </p:cNvPr>
          <p:cNvSpPr txBox="1"/>
          <p:nvPr/>
        </p:nvSpPr>
        <p:spPr>
          <a:xfrm>
            <a:off x="3664807" y="2552789"/>
            <a:ext cx="46987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accent1">
                    <a:lumMod val="75000"/>
                  </a:schemeClr>
                </a:solidFill>
              </a:rPr>
              <a:t>自然语言处理基础</a:t>
            </a:r>
          </a:p>
        </p:txBody>
      </p:sp>
    </p:spTree>
    <p:extLst>
      <p:ext uri="{BB962C8B-B14F-4D97-AF65-F5344CB8AC3E}">
        <p14:creationId xmlns:p14="http://schemas.microsoft.com/office/powerpoint/2010/main" val="399432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76"/>
    </mc:Choice>
    <mc:Fallback xmlns="">
      <p:transition spd="slow" advTm="1017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941" y="110649"/>
            <a:ext cx="11908534" cy="57097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自然语言处理（</a:t>
            </a:r>
            <a:r>
              <a:rPr lang="en-US" altLang="zh-CN" dirty="0"/>
              <a:t>Natural Language Processing, NLP</a:t>
            </a:r>
            <a:r>
              <a:rPr lang="zh-CN" altLang="en-US" dirty="0"/>
              <a:t>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D40233-C365-E08B-0863-3472080D027F}"/>
              </a:ext>
            </a:extLst>
          </p:cNvPr>
          <p:cNvSpPr txBox="1"/>
          <p:nvPr/>
        </p:nvSpPr>
        <p:spPr>
          <a:xfrm>
            <a:off x="761052" y="1292457"/>
            <a:ext cx="10105068" cy="4366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自然语言处理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  <a:p>
            <a:pPr marL="817245" lvl="1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专注机器学习以及理解文本数据以便执行文本相关任务的技术领域。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  <a:p>
            <a:pPr marL="360045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NLP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应用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  <a:p>
            <a:pPr marL="817245" lvl="1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对话机器人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  <a:p>
            <a:pPr marL="817245" lvl="1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大语言模型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  <a:p>
            <a:pPr marL="817245" lvl="1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情感分析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  <a:p>
            <a:pPr marL="817245" lvl="1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垃圾邮件检测等 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D326D6-3EA5-AA16-47B2-BE7717C13129}"/>
              </a:ext>
            </a:extLst>
          </p:cNvPr>
          <p:cNvSpPr/>
          <p:nvPr/>
        </p:nvSpPr>
        <p:spPr>
          <a:xfrm>
            <a:off x="1082040" y="4450080"/>
            <a:ext cx="2682240" cy="70104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92127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52367-BC47-4730-12AF-08232139F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情感分析案例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4B772EE-5C6B-830B-0009-E9F7D58523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1458456"/>
            <a:ext cx="7772400" cy="2565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2C08437-AE7F-E13E-20E8-D9730C69C1EE}"/>
              </a:ext>
            </a:extLst>
          </p:cNvPr>
          <p:cNvSpPr txBox="1"/>
          <p:nvPr/>
        </p:nvSpPr>
        <p:spPr>
          <a:xfrm>
            <a:off x="1257300" y="833119"/>
            <a:ext cx="6141720" cy="58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45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基于电影评论文本信息，来进行情感分析。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6EBE1C-BAFC-6D56-A464-57DFE1F090DD}"/>
              </a:ext>
            </a:extLst>
          </p:cNvPr>
          <p:cNvSpPr txBox="1"/>
          <p:nvPr/>
        </p:nvSpPr>
        <p:spPr>
          <a:xfrm>
            <a:off x="1257300" y="4098724"/>
            <a:ext cx="6141720" cy="2472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45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工作流程（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pipeline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）：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  <a:p>
            <a:pPr marL="914400" lvl="1" indent="-457200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+mj-lt"/>
              <a:buAutoNum type="arabicPeriod"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文本转换成数值表示（向量化）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  <a:p>
            <a:pPr marL="914400" lvl="1" indent="-457200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+mj-lt"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输入分类器模型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  <a:p>
            <a:pPr marL="914400" lvl="1" indent="-457200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+mj-lt"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预测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775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E1422B-7795-DF25-70AD-D3D0D7EF3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词袋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741B3A-24FA-2BBF-A00F-A579BAE8787E}"/>
              </a:ext>
            </a:extLst>
          </p:cNvPr>
          <p:cNvSpPr txBox="1"/>
          <p:nvPr/>
        </p:nvSpPr>
        <p:spPr>
          <a:xfrm>
            <a:off x="1059180" y="848359"/>
            <a:ext cx="9090660" cy="58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45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词袋：最简单的一种将文本数据表示成数值形式的方法。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88CD728-1759-070F-EEAE-28B3113B7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830" y="1450340"/>
            <a:ext cx="5118100" cy="12446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F18C48E-A2E9-BBCC-5191-42D6CDFACB45}"/>
              </a:ext>
            </a:extLst>
          </p:cNvPr>
          <p:cNvSpPr txBox="1"/>
          <p:nvPr/>
        </p:nvSpPr>
        <p:spPr>
          <a:xfrm>
            <a:off x="1059180" y="2694940"/>
            <a:ext cx="9090660" cy="58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45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词汇表：出现在所有文档中的独特单词的列表。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1AFFAEC-A658-8546-023C-2C8839D165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" y="3185558"/>
            <a:ext cx="8896889" cy="7932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F27618A-7F0F-4FF6-7E39-B1C503364C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540" y="4037843"/>
            <a:ext cx="8141379" cy="262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072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32D20-3261-4BB6-3062-AFD79D68C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TF-IDF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55E75F-5F28-7D12-79E7-B5ACB149E11D}"/>
              </a:ext>
            </a:extLst>
          </p:cNvPr>
          <p:cNvSpPr txBox="1"/>
          <p:nvPr/>
        </p:nvSpPr>
        <p:spPr>
          <a:xfrm>
            <a:off x="281940" y="1081364"/>
            <a:ext cx="11628120" cy="3026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45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400" b="0" i="0" dirty="0">
                <a:solidFill>
                  <a:srgbClr val="191B1F"/>
                </a:solidFill>
                <a:effectLst/>
                <a:latin typeface="-apple-system"/>
              </a:rPr>
              <a:t>TF-IDF(Term Frequency–Inverse Document Frequency)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基本理念：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  <a:p>
            <a:pPr marL="817245" lvl="1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如果单词在同一文档中大量出现，给予更多的权重；如果单词在其他文档中大量出现，则给予惩罚（较小权重）。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  <a:p>
            <a:pPr marL="360045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词频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TF(t):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单词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t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在文档中出现的次数，考虑不同文档的长短区别，进行标准化处理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.</a:t>
            </a:r>
          </a:p>
          <a:p>
            <a:pPr marL="817245" lvl="1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F6E4C65-FDF0-6B10-550D-2EEA2F2A64B6}"/>
                  </a:ext>
                </a:extLst>
              </p:cNvPr>
              <p:cNvSpPr txBox="1"/>
              <p:nvPr/>
            </p:nvSpPr>
            <p:spPr>
              <a:xfrm>
                <a:off x="3434470" y="3703417"/>
                <a:ext cx="5323060" cy="7757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i="1" smtClean="0">
                          <a:latin typeface="Cambria Math" panose="02040503050406030204" pitchFamily="18" charset="0"/>
                        </a:rPr>
                        <m:t>𝑇𝐹</m:t>
                      </m:r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zh-CN" altLang="en-US" sz="2400" i="1">
                              <a:latin typeface="Cambria Math" panose="02040503050406030204" pitchFamily="18" charset="0"/>
                            </a:rPr>
                            <m:t>单词</m:t>
                          </m:r>
                          <m:r>
                            <m:rPr>
                              <m:sty m:val="p"/>
                            </m:r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kumimoji="1" lang="zh-CN" altLang="en-US" sz="2400" i="1">
                              <a:latin typeface="Cambria Math" panose="02040503050406030204" pitchFamily="18" charset="0"/>
                            </a:rPr>
                            <m:t>在</m:t>
                          </m:r>
                          <m: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  <m:t>当前文档</m:t>
                          </m:r>
                          <m:r>
                            <a:rPr kumimoji="1" lang="zh-CN" altLang="en-US" sz="2400" i="1">
                              <a:latin typeface="Cambria Math" panose="02040503050406030204" pitchFamily="18" charset="0"/>
                            </a:rPr>
                            <m:t>中</m:t>
                          </m:r>
                          <m: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  <m:t>出现</m:t>
                          </m:r>
                          <m:r>
                            <a:rPr kumimoji="1" lang="zh-CN" altLang="en-US" sz="2400" i="1">
                              <a:latin typeface="Cambria Math" panose="02040503050406030204" pitchFamily="18" charset="0"/>
                            </a:rPr>
                            <m:t>的</m:t>
                          </m:r>
                          <m: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  <m:t>次数</m:t>
                          </m:r>
                        </m:num>
                        <m:den>
                          <m:r>
                            <a:rPr kumimoji="1" lang="zh-CN" altLang="en-US" sz="2400" i="1">
                              <a:latin typeface="Cambria Math" panose="02040503050406030204" pitchFamily="18" charset="0"/>
                            </a:rPr>
                            <m:t>当前</m:t>
                          </m:r>
                          <m: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  <m:t>文档</m:t>
                          </m:r>
                          <m:r>
                            <a:rPr kumimoji="1" lang="zh-CN" altLang="en-US" sz="2400" i="1">
                              <a:latin typeface="Cambria Math" panose="02040503050406030204" pitchFamily="18" charset="0"/>
                            </a:rPr>
                            <m:t>总</m:t>
                          </m:r>
                          <m: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  <m:t>词数</m:t>
                          </m:r>
                        </m:den>
                      </m:f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F6E4C65-FDF0-6B10-550D-2EEA2F2A6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470" y="3703417"/>
                <a:ext cx="5323060" cy="775725"/>
              </a:xfrm>
              <a:prstGeom prst="rect">
                <a:avLst/>
              </a:prstGeom>
              <a:blipFill>
                <a:blip r:embed="rId3"/>
                <a:stretch>
                  <a:fillRect l="-952" t="-3226" r="-1905" b="-19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1F670B65-C5CA-420F-A037-6F8E820C8129}"/>
              </a:ext>
            </a:extLst>
          </p:cNvPr>
          <p:cNvSpPr txBox="1"/>
          <p:nvPr/>
        </p:nvSpPr>
        <p:spPr>
          <a:xfrm>
            <a:off x="281940" y="4507891"/>
            <a:ext cx="6141720" cy="58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45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逆词频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IDF (t):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2D7C6F6-0638-5920-BEC7-752EA27A6011}"/>
                  </a:ext>
                </a:extLst>
              </p:cNvPr>
              <p:cNvSpPr txBox="1"/>
              <p:nvPr/>
            </p:nvSpPr>
            <p:spPr>
              <a:xfrm>
                <a:off x="3208879" y="4989139"/>
                <a:ext cx="4822923" cy="7076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𝐼𝐷</m:t>
                    </m:r>
                    <m:r>
                      <m:rPr>
                        <m:sty m:val="p"/>
                      </m:rPr>
                      <a:rPr kumimoji="1" lang="en-US" altLang="zh-CN" sz="2400" i="1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sz="2400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zh-CN" altLang="en-US" sz="2400" i="1">
                            <a:latin typeface="Cambria Math" panose="02040503050406030204" pitchFamily="18" charset="0"/>
                          </a:rPr>
                          <m:t>语料库</m:t>
                        </m:r>
                        <m:r>
                          <a:rPr kumimoji="1" lang="zh-CN" altLang="en-US" sz="2400" i="1" smtClean="0">
                            <a:latin typeface="Cambria Math" panose="02040503050406030204" pitchFamily="18" charset="0"/>
                          </a:rPr>
                          <m:t>中文档</m:t>
                        </m:r>
                        <m:r>
                          <a:rPr kumimoji="1" lang="zh-CN" altLang="en-US" sz="2400" i="1">
                            <a:latin typeface="Cambria Math" panose="02040503050406030204" pitchFamily="18" charset="0"/>
                          </a:rPr>
                          <m:t>总数</m:t>
                        </m:r>
                      </m:num>
                      <m:den>
                        <m:r>
                          <a:rPr kumimoji="1" lang="zh-CN" altLang="en-US" sz="2400" i="1">
                            <a:latin typeface="Cambria Math" panose="02040503050406030204" pitchFamily="18" charset="0"/>
                          </a:rPr>
                          <m:t>包含</m:t>
                        </m:r>
                        <m:r>
                          <a:rPr kumimoji="1" lang="zh-CN" altLang="en-US" sz="2400" i="1" smtClean="0">
                            <a:latin typeface="Cambria Math" panose="02040503050406030204" pitchFamily="18" charset="0"/>
                          </a:rPr>
                          <m:t>单词</m:t>
                        </m:r>
                        <m:r>
                          <m:rPr>
                            <m:sty m:val="p"/>
                          </m:rP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kumimoji="1" lang="zh-CN" altLang="en-US" sz="2400" i="1" smtClean="0">
                            <a:latin typeface="Cambria Math" panose="02040503050406030204" pitchFamily="18" charset="0"/>
                          </a:rPr>
                          <m:t>的</m:t>
                        </m:r>
                        <m:r>
                          <a:rPr kumimoji="1" lang="zh-CN" altLang="en-US" sz="2400" i="1">
                            <a:latin typeface="Cambria Math" panose="02040503050406030204" pitchFamily="18" charset="0"/>
                          </a:rPr>
                          <m:t>文档</m:t>
                        </m:r>
                        <m:r>
                          <a:rPr kumimoji="1" lang="zh-CN" altLang="en-US" sz="2400" i="1" smtClean="0">
                            <a:latin typeface="Cambria Math" panose="02040503050406030204" pitchFamily="18" charset="0"/>
                          </a:rPr>
                          <m:t>数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kumimoji="1" lang="en-US" altLang="zh-CN" sz="2400" dirty="0"/>
                  <a:t>)</a:t>
                </a:r>
                <a:endParaRPr kumimoji="1"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2D7C6F6-0638-5920-BEC7-752EA27A6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879" y="4989139"/>
                <a:ext cx="4822923" cy="707694"/>
              </a:xfrm>
              <a:prstGeom prst="rect">
                <a:avLst/>
              </a:prstGeom>
              <a:blipFill>
                <a:blip r:embed="rId4"/>
                <a:stretch>
                  <a:fillRect l="-2100" t="-3509" r="-1050" b="-19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EE6E654-56B9-EB1F-D3C4-A386C2620495}"/>
                  </a:ext>
                </a:extLst>
              </p:cNvPr>
              <p:cNvSpPr txBox="1"/>
              <p:nvPr/>
            </p:nvSpPr>
            <p:spPr>
              <a:xfrm>
                <a:off x="3473847" y="6068009"/>
                <a:ext cx="374288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i="1" smtClean="0">
                          <a:latin typeface="Cambria Math" panose="02040503050406030204" pitchFamily="18" charset="0"/>
                        </a:rPr>
                        <m:t>𝑇𝐹</m:t>
                      </m:r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rgbClr val="191B1F"/>
                          </a:solidFill>
                          <a:latin typeface="-apple-system"/>
                        </a:rPr>
                        <m:t>−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𝐼𝐷𝐹</m:t>
                      </m:r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𝑇𝐹</m:t>
                      </m:r>
                      <m:r>
                        <a:rPr kumimoji="1" lang="en-US" altLang="zh-CN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zh-CN" sz="24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kumimoji="1" lang="en-US" altLang="zh-CN" sz="2400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𝐼𝐷𝐹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EE6E654-56B9-EB1F-D3C4-A386C2620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3847" y="6068009"/>
                <a:ext cx="3742884" cy="369332"/>
              </a:xfrm>
              <a:prstGeom prst="rect">
                <a:avLst/>
              </a:prstGeom>
              <a:blipFill>
                <a:blip r:embed="rId5"/>
                <a:stretch>
                  <a:fillRect l="-1351" r="-2027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5946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A3D17A-E29C-3E7A-2EAE-A69AC1108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TF-IDF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E34CEF9-781D-6A51-3486-41DF14DEB3F5}"/>
              </a:ext>
            </a:extLst>
          </p:cNvPr>
          <p:cNvSpPr txBox="1"/>
          <p:nvPr/>
        </p:nvSpPr>
        <p:spPr>
          <a:xfrm>
            <a:off x="1015253" y="1390512"/>
            <a:ext cx="10161494" cy="3111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45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91B1F"/>
                </a:solidFill>
                <a:latin typeface="-apple-system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优点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：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  <a:p>
            <a:pPr marL="817245" lvl="1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简单，容易理解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  <a:p>
            <a:pPr marL="360045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91B1F"/>
                </a:solidFill>
                <a:latin typeface="-apple-system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缺点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：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  <a:p>
            <a:pPr marL="817245" lvl="1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词频衡量词的重要性不够全面，很多重要的词可能出现的不多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  <a:p>
            <a:pPr marL="817245" lvl="1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无法体现位置信息，无法体现词在上下文中的重要性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9453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07733A-A337-D9EE-3CF3-4D32CB68C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嵌入表示（</a:t>
            </a:r>
            <a:r>
              <a:rPr kumimoji="1" lang="en-US" altLang="zh-CN" dirty="0"/>
              <a:t>Embedding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7AB6DB-0334-2089-3664-0A7B93F92710}"/>
              </a:ext>
            </a:extLst>
          </p:cNvPr>
          <p:cNvSpPr txBox="1"/>
          <p:nvPr/>
        </p:nvSpPr>
        <p:spPr>
          <a:xfrm>
            <a:off x="1015253" y="1390512"/>
            <a:ext cx="10161494" cy="2395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45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91B1F"/>
                </a:solidFill>
                <a:latin typeface="-apple-system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嵌入技术：则可以捕获单子的上下文信息，将具有相似单词具有相似的词嵌入（词向量）</a:t>
            </a:r>
            <a:endParaRPr lang="en-US" altLang="zh-CN" sz="2400" dirty="0">
              <a:solidFill>
                <a:srgbClr val="191B1F"/>
              </a:solidFill>
              <a:latin typeface="-apple-system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  <a:p>
            <a:pPr marL="360045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91B1F"/>
                </a:solidFill>
                <a:latin typeface="-apple-system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Word2vec</a:t>
            </a:r>
            <a:r>
              <a:rPr lang="zh-CN" altLang="en-US" sz="2400" dirty="0">
                <a:solidFill>
                  <a:srgbClr val="191B1F"/>
                </a:solidFill>
                <a:latin typeface="-apple-system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：基于神经网络技术，可以提供每个单词的嵌入向量</a:t>
            </a:r>
            <a:endParaRPr lang="en-US" altLang="zh-CN" sz="2400" dirty="0">
              <a:solidFill>
                <a:srgbClr val="191B1F"/>
              </a:solidFill>
              <a:latin typeface="-apple-system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  <a:p>
            <a:pPr marL="360045" indent="-360045" algn="just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91B1F"/>
                </a:solidFill>
                <a:latin typeface="-apple-system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文档向量：将每个出现在文档中的所有单词嵌入加权平均值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064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11502</TotalTime>
  <Words>441</Words>
  <Application>Microsoft Macintosh PowerPoint</Application>
  <PresentationFormat>宽屏</PresentationFormat>
  <Paragraphs>42</Paragraphs>
  <Slides>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-apple-system</vt:lpstr>
      <vt:lpstr>等线</vt:lpstr>
      <vt:lpstr>等线 Light</vt:lpstr>
      <vt:lpstr>Arial</vt:lpstr>
      <vt:lpstr>Cambria Math</vt:lpstr>
      <vt:lpstr>Times New Roman</vt:lpstr>
      <vt:lpstr>Wingdings</vt:lpstr>
      <vt:lpstr>Office 主题​​</vt:lpstr>
      <vt:lpstr>PowerPoint 演示文稿</vt:lpstr>
      <vt:lpstr>自然语言处理（Natural Language Processing, NLP）</vt:lpstr>
      <vt:lpstr>情感分析案例</vt:lpstr>
      <vt:lpstr>词袋</vt:lpstr>
      <vt:lpstr>TF-IDF</vt:lpstr>
      <vt:lpstr>TF-IDF</vt:lpstr>
      <vt:lpstr>嵌入表示（Embedding）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说课 ——《动力工程测控技术》</dc:title>
  <dc:creator>陈 冰虹</dc:creator>
  <cp:lastModifiedBy>Microsoft Office User</cp:lastModifiedBy>
  <cp:revision>642</cp:revision>
  <dcterms:created xsi:type="dcterms:W3CDTF">2021-11-17T13:21:01Z</dcterms:created>
  <dcterms:modified xsi:type="dcterms:W3CDTF">2025-07-26T14:11:10Z</dcterms:modified>
</cp:coreProperties>
</file>
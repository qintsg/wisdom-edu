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42" r:id="rId2"/>
    <p:sldId id="341" r:id="rId3"/>
    <p:sldId id="343" r:id="rId4"/>
    <p:sldId id="344" r:id="rId5"/>
    <p:sldId id="345" r:id="rId6"/>
    <p:sldId id="346" r:id="rId7"/>
    <p:sldId id="347" r:id="rId8"/>
    <p:sldId id="348" r:id="rId9"/>
    <p:sldId id="34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93" autoAdjust="0"/>
    <p:restoredTop sz="84780"/>
  </p:normalViewPr>
  <p:slideViewPr>
    <p:cSldViewPr snapToGrid="0" showGuides="1">
      <p:cViewPr varScale="1">
        <p:scale>
          <a:sx n="106" d="100"/>
          <a:sy n="106" d="100"/>
        </p:scale>
        <p:origin x="200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C9CE943-B56E-DB49-B8C4-6529A45E560F}"/>
              </a:ext>
            </a:extLst>
          </p:cNvPr>
          <p:cNvSpPr/>
          <p:nvPr userDrawn="1"/>
        </p:nvSpPr>
        <p:spPr>
          <a:xfrm>
            <a:off x="0" y="6378576"/>
            <a:ext cx="12192000" cy="479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B1CC48-0F36-E84A-AD3C-0A71484EADA6}"/>
              </a:ext>
            </a:extLst>
          </p:cNvPr>
          <p:cNvSpPr/>
          <p:nvPr userDrawn="1"/>
        </p:nvSpPr>
        <p:spPr>
          <a:xfrm>
            <a:off x="0" y="1"/>
            <a:ext cx="12192000" cy="479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5" name="六边形 4">
            <a:extLst>
              <a:ext uri="{FF2B5EF4-FFF2-40B4-BE49-F238E27FC236}">
                <a16:creationId xmlns:a16="http://schemas.microsoft.com/office/drawing/2014/main" id="{3C5888FC-F9A7-644B-A5F0-A432723D85D7}"/>
              </a:ext>
            </a:extLst>
          </p:cNvPr>
          <p:cNvSpPr/>
          <p:nvPr userDrawn="1"/>
        </p:nvSpPr>
        <p:spPr>
          <a:xfrm rot="5400000">
            <a:off x="11246645" y="6290469"/>
            <a:ext cx="531812" cy="457200"/>
          </a:xfrm>
          <a:prstGeom prst="hexagon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CF94DF91-7767-F74D-8028-A9B801123164}"/>
              </a:ext>
            </a:extLst>
          </p:cNvPr>
          <p:cNvSpPr/>
          <p:nvPr userDrawn="1"/>
        </p:nvSpPr>
        <p:spPr>
          <a:xfrm rot="5400000">
            <a:off x="406136" y="809361"/>
            <a:ext cx="627062" cy="541867"/>
          </a:xfrm>
          <a:prstGeom prst="hexagon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3"/>
          </p:nvPr>
        </p:nvSpPr>
        <p:spPr>
          <a:xfrm>
            <a:off x="1154224" y="861944"/>
            <a:ext cx="7416800" cy="5842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B9D3675-0C0C-3B45-A517-171AAC0083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44997-DFC2-47A5-92F6-95BB1802E9B5}" type="datetime1">
              <a:rPr lang="zh-CN" altLang="en-US"/>
              <a:pPr>
                <a:defRPr/>
              </a:pPr>
              <a:t>2025/7/26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9F0F7022-D17C-0048-920D-05CC8A5983B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301DA0A7-B2A6-C849-A3BD-62D2980A0C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37901" y="6343651"/>
            <a:ext cx="723900" cy="365125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D340BD-0C8F-4029-BC04-92E607371FC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98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Three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</a:rPr>
              <a:t>PySpark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逻辑回归实现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82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DDC8F-A20F-9CEB-EFBD-B860415D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8C3151-9A1A-A636-0E9E-5B0CD4B76B81}"/>
              </a:ext>
            </a:extLst>
          </p:cNvPr>
          <p:cNvSpPr txBox="1"/>
          <p:nvPr/>
        </p:nvSpPr>
        <p:spPr>
          <a:xfrm>
            <a:off x="133941" y="1160040"/>
            <a:ext cx="166295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数据信息</a:t>
            </a:r>
            <a:r>
              <a:rPr lang="en-US" altLang="zh-CN" sz="2800" b="1" dirty="0"/>
              <a:t>:</a:t>
            </a:r>
          </a:p>
          <a:p>
            <a:r>
              <a:rPr lang="zh-CN" altLang="en-US" sz="2400" dirty="0"/>
              <a:t>运动商品零售网站在线用户信息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258B14-E582-45B8-A23A-70FF33F86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894" y="1054022"/>
            <a:ext cx="8218797" cy="55720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9E674D9-CDEF-C5EA-2106-954CA34A0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460" y="3429000"/>
            <a:ext cx="5536298" cy="21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2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DAE26-C42F-2078-DB9E-271815FA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3898F5-DAB2-EC67-E4E3-E89FF29094B5}"/>
              </a:ext>
            </a:extLst>
          </p:cNvPr>
          <p:cNvSpPr txBox="1"/>
          <p:nvPr/>
        </p:nvSpPr>
        <p:spPr>
          <a:xfrm>
            <a:off x="1101436" y="882134"/>
            <a:ext cx="261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特征工程</a:t>
            </a:r>
            <a:endParaRPr lang="en-US" altLang="zh-CN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94C7E6-4A44-5ED0-533D-9F3976E77277}"/>
              </a:ext>
            </a:extLst>
          </p:cNvPr>
          <p:cNvSpPr txBox="1"/>
          <p:nvPr/>
        </p:nvSpPr>
        <p:spPr>
          <a:xfrm>
            <a:off x="290946" y="1343799"/>
            <a:ext cx="11792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将</a:t>
            </a:r>
            <a:r>
              <a:rPr kumimoji="1" lang="en-US" altLang="zh-CN" sz="2400" dirty="0"/>
              <a:t>Platform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Country</a:t>
            </a:r>
            <a:r>
              <a:rPr kumimoji="1" lang="zh-CN" altLang="en-US" sz="2400" dirty="0"/>
              <a:t>转换成数值形式，否则模型无法理解类别值。（以</a:t>
            </a:r>
            <a:r>
              <a:rPr kumimoji="1" lang="en-US" altLang="zh-CN" sz="2400" dirty="0"/>
              <a:t>Platform</a:t>
            </a:r>
            <a:r>
              <a:rPr kumimoji="1" lang="zh-CN" altLang="en-US" sz="2400" dirty="0"/>
              <a:t>为例）</a:t>
            </a:r>
            <a:endParaRPr kumimoji="1" lang="en-US" altLang="zh-CN" sz="2400" dirty="0"/>
          </a:p>
          <a:p>
            <a:r>
              <a:rPr kumimoji="1" lang="zh-CN" altLang="en-US" sz="2400" dirty="0"/>
              <a:t>首先，使用</a:t>
            </a:r>
            <a:r>
              <a:rPr kumimoji="1" lang="en-US" altLang="zh-CN" sz="2400" dirty="0" err="1"/>
              <a:t>StringIndexer</a:t>
            </a:r>
            <a:r>
              <a:rPr kumimoji="1" lang="zh-CN" altLang="en-US" sz="2400" dirty="0"/>
              <a:t>将类别转化成独特的数值。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0E5CDA-A7E2-1CCB-02CB-E142D3BE5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13" y="2174796"/>
            <a:ext cx="8315537" cy="443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02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DAE26-C42F-2078-DB9E-271815FA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3898F5-DAB2-EC67-E4E3-E89FF29094B5}"/>
              </a:ext>
            </a:extLst>
          </p:cNvPr>
          <p:cNvSpPr txBox="1"/>
          <p:nvPr/>
        </p:nvSpPr>
        <p:spPr>
          <a:xfrm>
            <a:off x="1101436" y="882134"/>
            <a:ext cx="261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特征工程</a:t>
            </a:r>
            <a:endParaRPr lang="en-US" altLang="zh-CN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94C7E6-4A44-5ED0-533D-9F3976E77277}"/>
              </a:ext>
            </a:extLst>
          </p:cNvPr>
          <p:cNvSpPr txBox="1"/>
          <p:nvPr/>
        </p:nvSpPr>
        <p:spPr>
          <a:xfrm>
            <a:off x="396964" y="1486985"/>
            <a:ext cx="81612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然后，使用</a:t>
            </a:r>
            <a:r>
              <a:rPr kumimoji="1" lang="en-US" altLang="zh-CN" sz="2400" dirty="0" err="1"/>
              <a:t>OneHotEncoder</a:t>
            </a:r>
            <a:r>
              <a:rPr kumimoji="1" lang="zh-CN" altLang="en-US" sz="2400" dirty="0"/>
              <a:t>将数值表示成独热码向量形式。</a:t>
            </a:r>
            <a:endParaRPr kumimoji="1" lang="en-US" altLang="zh-CN" sz="2400" dirty="0"/>
          </a:p>
          <a:p>
            <a:r>
              <a:rPr kumimoji="1" lang="zh-CN" altLang="en-US" sz="2400" dirty="0"/>
              <a:t>避免数值给模型带来大小的困扰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C7882A-67E0-C36B-5675-0C46D7AC6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13" y="2493712"/>
            <a:ext cx="8911824" cy="33650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28AEB02-E140-F505-354D-E7AB94001724}"/>
              </a:ext>
            </a:extLst>
          </p:cNvPr>
          <p:cNvSpPr txBox="1"/>
          <p:nvPr/>
        </p:nvSpPr>
        <p:spPr>
          <a:xfrm>
            <a:off x="396964" y="6034487"/>
            <a:ext cx="61357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dirty="0" err="1"/>
              <a:t>Platform_Vectotr</a:t>
            </a:r>
            <a:r>
              <a:rPr kumimoji="1" lang="zh-CN" altLang="en-US" sz="2000" dirty="0"/>
              <a:t>：用来构建逻辑回归最终的平台特征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D57D05-CB2A-5360-499B-DCBE522BE3D8}"/>
              </a:ext>
            </a:extLst>
          </p:cNvPr>
          <p:cNvSpPr txBox="1"/>
          <p:nvPr/>
        </p:nvSpPr>
        <p:spPr>
          <a:xfrm>
            <a:off x="8873965" y="4416221"/>
            <a:ext cx="230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>
                <a:solidFill>
                  <a:srgbClr val="FF0000"/>
                </a:solidFill>
              </a:rPr>
              <a:t>代表什么含义？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3" name="直接箭头连接符 7">
            <a:extLst>
              <a:ext uri="{FF2B5EF4-FFF2-40B4-BE49-F238E27FC236}">
                <a16:creationId xmlns:a16="http://schemas.microsoft.com/office/drawing/2014/main" id="{2DCF4E03-DF0F-5EF7-30B3-510884023191}"/>
              </a:ext>
            </a:extLst>
          </p:cNvPr>
          <p:cNvCxnSpPr>
            <a:cxnSpLocks/>
          </p:cNvCxnSpPr>
          <p:nvPr/>
        </p:nvCxnSpPr>
        <p:spPr>
          <a:xfrm flipH="1">
            <a:off x="8214139" y="4600887"/>
            <a:ext cx="659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71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DAE26-C42F-2078-DB9E-271815FA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3898F5-DAB2-EC67-E4E3-E89FF29094B5}"/>
              </a:ext>
            </a:extLst>
          </p:cNvPr>
          <p:cNvSpPr txBox="1"/>
          <p:nvPr/>
        </p:nvSpPr>
        <p:spPr>
          <a:xfrm>
            <a:off x="1101436" y="882134"/>
            <a:ext cx="261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特征工程</a:t>
            </a:r>
            <a:endParaRPr lang="en-US" altLang="zh-CN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94C7E6-4A44-5ED0-533D-9F3976E77277}"/>
              </a:ext>
            </a:extLst>
          </p:cNvPr>
          <p:cNvSpPr txBox="1"/>
          <p:nvPr/>
        </p:nvSpPr>
        <p:spPr>
          <a:xfrm>
            <a:off x="290946" y="134379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独热码向量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71F7A4D-05CC-269C-ED0D-30F777BA3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936187"/>
              </p:ext>
            </p:extLst>
          </p:nvPr>
        </p:nvGraphicFramePr>
        <p:xfrm>
          <a:off x="918817" y="2000208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610980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60069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816815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01819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Yahoo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Google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70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Yahoo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89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Google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7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46531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7E7075F-9FB6-DEBE-3C9B-8584D5A647E1}"/>
              </a:ext>
            </a:extLst>
          </p:cNvPr>
          <p:cNvSpPr txBox="1"/>
          <p:nvPr/>
        </p:nvSpPr>
        <p:spPr>
          <a:xfrm>
            <a:off x="430694" y="3678312"/>
            <a:ext cx="9349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/>
              <a:t> </a:t>
            </a:r>
            <a:r>
              <a:rPr kumimoji="1" lang="zh-CN" altLang="en-US" sz="2400" dirty="0"/>
              <a:t>为节省计算空间，可以将向量长度设定为元素总数量减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6AFB425-7E75-DAB9-6D7D-9DD320161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091906"/>
              </p:ext>
            </p:extLst>
          </p:nvPr>
        </p:nvGraphicFramePr>
        <p:xfrm>
          <a:off x="819426" y="4353729"/>
          <a:ext cx="6096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610980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60069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81681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Yahoo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Google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70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Yahoo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89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Google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7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465316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67F94FE6-FE28-E44C-36CF-25A287835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825" y="4785123"/>
            <a:ext cx="1368287" cy="2472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92C8B8-25D2-536D-50FC-E20D39F99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78" y="5134733"/>
            <a:ext cx="1381256" cy="2216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C3959F-F653-873F-9B17-A99FF3663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329" y="5581747"/>
            <a:ext cx="1050235" cy="223821"/>
          </a:xfrm>
          <a:prstGeom prst="rect">
            <a:avLst/>
          </a:prstGeom>
        </p:spPr>
      </p:pic>
      <p:cxnSp>
        <p:nvCxnSpPr>
          <p:cNvPr id="13" name="直接箭头连接符 7">
            <a:extLst>
              <a:ext uri="{FF2B5EF4-FFF2-40B4-BE49-F238E27FC236}">
                <a16:creationId xmlns:a16="http://schemas.microsoft.com/office/drawing/2014/main" id="{51DBE95A-A3E1-9C4F-94F4-FF899586B5D4}"/>
              </a:ext>
            </a:extLst>
          </p:cNvPr>
          <p:cNvCxnSpPr>
            <a:cxnSpLocks/>
          </p:cNvCxnSpPr>
          <p:nvPr/>
        </p:nvCxnSpPr>
        <p:spPr>
          <a:xfrm flipH="1">
            <a:off x="8381182" y="4785123"/>
            <a:ext cx="285740" cy="11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521E1E2-D9E9-58AE-74D5-99C2B5B0B9C6}"/>
              </a:ext>
            </a:extLst>
          </p:cNvPr>
          <p:cNvSpPr txBox="1"/>
          <p:nvPr/>
        </p:nvSpPr>
        <p:spPr>
          <a:xfrm>
            <a:off x="8838096" y="4243660"/>
            <a:ext cx="2903330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>
                <a:ea typeface="华文细黑" panose="02010600040101010101" pitchFamily="2" charset="-122"/>
              </a:rPr>
              <a:t>2</a:t>
            </a:r>
            <a:r>
              <a:rPr lang="zh-CN" altLang="en-US" sz="1800" b="1" dirty="0">
                <a:ea typeface="华文细黑" panose="02010600040101010101" pitchFamily="2" charset="-122"/>
              </a:rPr>
              <a:t>表示向量长度</a:t>
            </a:r>
            <a:endParaRPr lang="en-US" altLang="zh-CN" sz="1800" b="1" dirty="0">
              <a:ea typeface="华文细黑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[1.0]</a:t>
            </a:r>
            <a:r>
              <a:rPr lang="zh-CN" altLang="en-US" dirty="0"/>
              <a:t>表示向量中数值</a:t>
            </a:r>
            <a:r>
              <a:rPr lang="en-US" altLang="zh-CN" dirty="0"/>
              <a:t>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[0]</a:t>
            </a:r>
            <a:r>
              <a:rPr lang="zh-CN" altLang="en-US" dirty="0"/>
              <a:t>表示数值</a:t>
            </a:r>
            <a:r>
              <a:rPr lang="en-US" altLang="zh-CN" dirty="0"/>
              <a:t>value</a:t>
            </a:r>
            <a:r>
              <a:rPr lang="zh-CN" altLang="en-US" dirty="0"/>
              <a:t>所在的向量的位置</a:t>
            </a:r>
          </a:p>
        </p:txBody>
      </p:sp>
    </p:spTree>
    <p:extLst>
      <p:ext uri="{BB962C8B-B14F-4D97-AF65-F5344CB8AC3E}">
        <p14:creationId xmlns:p14="http://schemas.microsoft.com/office/powerpoint/2010/main" val="98357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DAE26-C42F-2078-DB9E-271815FA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3898F5-DAB2-EC67-E4E3-E89FF29094B5}"/>
              </a:ext>
            </a:extLst>
          </p:cNvPr>
          <p:cNvSpPr txBox="1"/>
          <p:nvPr/>
        </p:nvSpPr>
        <p:spPr>
          <a:xfrm>
            <a:off x="1101436" y="882134"/>
            <a:ext cx="261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特征工程</a:t>
            </a:r>
            <a:endParaRPr lang="en-US" altLang="zh-CN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94C7E6-4A44-5ED0-533D-9F3976E77277}"/>
              </a:ext>
            </a:extLst>
          </p:cNvPr>
          <p:cNvSpPr txBox="1"/>
          <p:nvPr/>
        </p:nvSpPr>
        <p:spPr>
          <a:xfrm>
            <a:off x="290946" y="1343799"/>
            <a:ext cx="6470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使用相同方法，将</a:t>
            </a:r>
            <a:r>
              <a:rPr kumimoji="1" lang="en-US" altLang="zh-CN" sz="2400" dirty="0"/>
              <a:t>Country</a:t>
            </a:r>
            <a:r>
              <a:rPr kumimoji="1" lang="zh-CN" altLang="en-US" sz="2400" dirty="0"/>
              <a:t>转换成独热编码向量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AABF34-9DF7-5224-5C11-0FC2F3A69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001" y="1946164"/>
            <a:ext cx="7543800" cy="571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F0D1AD-C915-4FB2-CA2F-22A972710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001" y="2658364"/>
            <a:ext cx="7772400" cy="283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3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233F6-24D4-13EA-44AA-3CF8FD45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942F12-46B3-8F32-9250-62A5BD7152D9}"/>
              </a:ext>
            </a:extLst>
          </p:cNvPr>
          <p:cNvSpPr txBox="1"/>
          <p:nvPr/>
        </p:nvSpPr>
        <p:spPr>
          <a:xfrm>
            <a:off x="290946" y="1343799"/>
            <a:ext cx="11312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使用</a:t>
            </a:r>
            <a:r>
              <a:rPr kumimoji="1" lang="en-US" altLang="zh-CN" sz="2400" dirty="0"/>
              <a:t>Spark</a:t>
            </a:r>
            <a:r>
              <a:rPr kumimoji="1" lang="zh-CN" altLang="en-US" sz="2400" dirty="0"/>
              <a:t>的</a:t>
            </a:r>
            <a:r>
              <a:rPr kumimoji="1" lang="en-US" altLang="zh-CN" sz="2400" dirty="0" err="1"/>
              <a:t>VectorAssembler</a:t>
            </a:r>
            <a:r>
              <a:rPr kumimoji="1" lang="zh-CN" altLang="en-US" sz="2400" dirty="0"/>
              <a:t>将所有输入特征列合并成单个特征向量列</a:t>
            </a:r>
            <a:r>
              <a:rPr lang="en-US" altLang="zh-CN" sz="2400" dirty="0" err="1"/>
              <a:t>DenseVector</a:t>
            </a:r>
            <a:endParaRPr kumimoji="1"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0F1589-FBB9-9C48-FAA0-E8506FC9E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12" y="1939398"/>
            <a:ext cx="8548939" cy="34241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E0B5C12-EA73-9998-B587-55E5DFD67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12" y="5363569"/>
            <a:ext cx="8663929" cy="96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8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233F6-24D4-13EA-44AA-3CF8FD45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942F12-46B3-8F32-9250-62A5BD7152D9}"/>
              </a:ext>
            </a:extLst>
          </p:cNvPr>
          <p:cNvSpPr txBox="1"/>
          <p:nvPr/>
        </p:nvSpPr>
        <p:spPr>
          <a:xfrm>
            <a:off x="290946" y="134379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数据划分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809F4A-1AFA-A8AD-7BCE-A7B076AF0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63" y="1139411"/>
            <a:ext cx="5295900" cy="532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0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233F6-24D4-13EA-44AA-3CF8FD45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逻辑回归案例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942F12-46B3-8F32-9250-62A5BD7152D9}"/>
              </a:ext>
            </a:extLst>
          </p:cNvPr>
          <p:cNvSpPr txBox="1"/>
          <p:nvPr/>
        </p:nvSpPr>
        <p:spPr>
          <a:xfrm>
            <a:off x="290946" y="1343799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模型训练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5BF0C6-8045-41E9-E73D-251BDE748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81" y="1985035"/>
            <a:ext cx="5562600" cy="482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870613-402C-F716-90B3-7C43D56FC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81" y="2467635"/>
            <a:ext cx="5588000" cy="4953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9B67F2E-FE85-BE4B-F703-C337A2C83079}"/>
              </a:ext>
            </a:extLst>
          </p:cNvPr>
          <p:cNvSpPr txBox="1"/>
          <p:nvPr/>
        </p:nvSpPr>
        <p:spPr>
          <a:xfrm>
            <a:off x="302562" y="3214702"/>
            <a:ext cx="1457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模型评估</a:t>
            </a:r>
          </a:p>
        </p:txBody>
      </p:sp>
    </p:spTree>
    <p:extLst>
      <p:ext uri="{BB962C8B-B14F-4D97-AF65-F5344CB8AC3E}">
        <p14:creationId xmlns:p14="http://schemas.microsoft.com/office/powerpoint/2010/main" val="386410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6656</TotalTime>
  <Words>236</Words>
  <Application>Microsoft Macintosh PowerPoint</Application>
  <PresentationFormat>宽屏</PresentationFormat>
  <Paragraphs>59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Wingdings</vt:lpstr>
      <vt:lpstr>Office 主题​​</vt:lpstr>
      <vt:lpstr>Part Three PySpark逻辑回归实现</vt:lpstr>
      <vt:lpstr>PySpark逻辑回归案例</vt:lpstr>
      <vt:lpstr>PySpark逻辑回归案例</vt:lpstr>
      <vt:lpstr>PySpark逻辑回归案例</vt:lpstr>
      <vt:lpstr>PySpark逻辑回归案例</vt:lpstr>
      <vt:lpstr>PySpark逻辑回归案例</vt:lpstr>
      <vt:lpstr>PySpark逻辑回归案例</vt:lpstr>
      <vt:lpstr>PySpark逻辑回归案例</vt:lpstr>
      <vt:lpstr>PySpark逻辑回归案例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744</cp:revision>
  <dcterms:created xsi:type="dcterms:W3CDTF">2021-11-17T13:21:01Z</dcterms:created>
  <dcterms:modified xsi:type="dcterms:W3CDTF">2025-07-26T13:59:57Z</dcterms:modified>
</cp:coreProperties>
</file>
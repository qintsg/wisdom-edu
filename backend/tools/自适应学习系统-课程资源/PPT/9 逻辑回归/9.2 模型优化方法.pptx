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6" r:id="rId2"/>
    <p:sldId id="276" r:id="rId3"/>
    <p:sldId id="277" r:id="rId4"/>
    <p:sldId id="285" r:id="rId5"/>
    <p:sldId id="284" r:id="rId6"/>
    <p:sldId id="35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93" autoAdjust="0"/>
    <p:restoredTop sz="84780"/>
  </p:normalViewPr>
  <p:slideViewPr>
    <p:cSldViewPr snapToGrid="0" showGuides="1">
      <p:cViewPr varScale="1">
        <p:scale>
          <a:sx n="106" d="100"/>
          <a:sy n="106" d="100"/>
        </p:scale>
        <p:origin x="200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42338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3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219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219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219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219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C355E96-D21F-4683-9898-7080BFF0CDED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553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44386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38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219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219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219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219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219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4C73DF2-B94B-45BD-95DA-213360423416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23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823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其他方法：</a:t>
            </a:r>
            <a:endParaRPr kumimoji="1" lang="en-US" altLang="zh-CN" dirty="0"/>
          </a:p>
          <a:p>
            <a:r>
              <a:rPr kumimoji="1" lang="zh-CN" altLang="en-US" dirty="0"/>
              <a:t>降低模型复杂度</a:t>
            </a:r>
            <a:endParaRPr kumimoji="1" lang="en-US" altLang="zh-CN" dirty="0"/>
          </a:p>
          <a:p>
            <a:r>
              <a:rPr kumimoji="1" lang="zh-CN" altLang="en-US" dirty="0"/>
              <a:t>增加训练集合</a:t>
            </a:r>
            <a:endParaRPr kumimoji="1" lang="en-US" altLang="zh-CN" dirty="0"/>
          </a:p>
          <a:p>
            <a:r>
              <a:rPr kumimoji="1" lang="zh-CN" altLang="en-US" dirty="0"/>
              <a:t>数据增强，如图像变成多个图像</a:t>
            </a:r>
            <a:endParaRPr kumimoji="1" lang="en-US" altLang="zh-CN" dirty="0"/>
          </a:p>
          <a:p>
            <a:r>
              <a:rPr kumimoji="1" lang="zh-CN" altLang="en-US" dirty="0"/>
              <a:t>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699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C9CE943-B56E-DB49-B8C4-6529A45E560F}"/>
              </a:ext>
            </a:extLst>
          </p:cNvPr>
          <p:cNvSpPr/>
          <p:nvPr userDrawn="1"/>
        </p:nvSpPr>
        <p:spPr>
          <a:xfrm>
            <a:off x="0" y="6378576"/>
            <a:ext cx="12192000" cy="479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B1CC48-0F36-E84A-AD3C-0A71484EADA6}"/>
              </a:ext>
            </a:extLst>
          </p:cNvPr>
          <p:cNvSpPr/>
          <p:nvPr userDrawn="1"/>
        </p:nvSpPr>
        <p:spPr>
          <a:xfrm>
            <a:off x="0" y="1"/>
            <a:ext cx="12192000" cy="479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5" name="六边形 4">
            <a:extLst>
              <a:ext uri="{FF2B5EF4-FFF2-40B4-BE49-F238E27FC236}">
                <a16:creationId xmlns:a16="http://schemas.microsoft.com/office/drawing/2014/main" id="{3C5888FC-F9A7-644B-A5F0-A432723D85D7}"/>
              </a:ext>
            </a:extLst>
          </p:cNvPr>
          <p:cNvSpPr/>
          <p:nvPr userDrawn="1"/>
        </p:nvSpPr>
        <p:spPr>
          <a:xfrm rot="5400000">
            <a:off x="11246645" y="6290469"/>
            <a:ext cx="531812" cy="457200"/>
          </a:xfrm>
          <a:prstGeom prst="hexagon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CF94DF91-7767-F74D-8028-A9B801123164}"/>
              </a:ext>
            </a:extLst>
          </p:cNvPr>
          <p:cNvSpPr/>
          <p:nvPr userDrawn="1"/>
        </p:nvSpPr>
        <p:spPr>
          <a:xfrm rot="5400000">
            <a:off x="406136" y="809361"/>
            <a:ext cx="627062" cy="541867"/>
          </a:xfrm>
          <a:prstGeom prst="hexagon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3"/>
          </p:nvPr>
        </p:nvSpPr>
        <p:spPr>
          <a:xfrm>
            <a:off x="1154224" y="861944"/>
            <a:ext cx="7416800" cy="5842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B9D3675-0C0C-3B45-A517-171AAC0083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44997-DFC2-47A5-92F6-95BB1802E9B5}" type="datetime1">
              <a:rPr lang="zh-CN" altLang="en-US"/>
              <a:pPr>
                <a:defRPr/>
              </a:pPr>
              <a:t>2025/7/26</a:t>
            </a:fld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9F0F7022-D17C-0048-920D-05CC8A5983B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301DA0A7-B2A6-C849-A3BD-62D2980A0C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37901" y="6343651"/>
            <a:ext cx="723900" cy="365125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D340BD-0C8F-4029-BC04-92E607371FC4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898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4">
            <a:extLst>
              <a:ext uri="{FF2B5EF4-FFF2-40B4-BE49-F238E27FC236}">
                <a16:creationId xmlns:a16="http://schemas.microsoft.com/office/drawing/2014/main" id="{817E3D0A-F22C-8A4F-A75C-2A6E016625C4}"/>
              </a:ext>
            </a:extLst>
          </p:cNvPr>
          <p:cNvCxnSpPr/>
          <p:nvPr userDrawn="1"/>
        </p:nvCxnSpPr>
        <p:spPr>
          <a:xfrm>
            <a:off x="148167" y="693738"/>
            <a:ext cx="11906251" cy="0"/>
          </a:xfrm>
          <a:prstGeom prst="line">
            <a:avLst/>
          </a:prstGeom>
          <a:ln w="25400">
            <a:solidFill>
              <a:srgbClr val="F5A6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28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4">
            <a:extLst>
              <a:ext uri="{FF2B5EF4-FFF2-40B4-BE49-F238E27FC236}">
                <a16:creationId xmlns:a16="http://schemas.microsoft.com/office/drawing/2014/main" id="{817E3D0A-F22C-8A4F-A75C-2A6E016625C4}"/>
              </a:ext>
            </a:extLst>
          </p:cNvPr>
          <p:cNvCxnSpPr/>
          <p:nvPr userDrawn="1"/>
        </p:nvCxnSpPr>
        <p:spPr>
          <a:xfrm>
            <a:off x="148167" y="693738"/>
            <a:ext cx="11906251" cy="0"/>
          </a:xfrm>
          <a:prstGeom prst="line">
            <a:avLst/>
          </a:prstGeom>
          <a:ln w="25400">
            <a:solidFill>
              <a:srgbClr val="F5A6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26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Part Three</a:t>
            </a:r>
            <a:b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模型优化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44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CE67B49-FB0D-AF40-89EF-EAD405747C59}"/>
              </a:ext>
            </a:extLst>
          </p:cNvPr>
          <p:cNvSpPr txBox="1"/>
          <p:nvPr/>
        </p:nvSpPr>
        <p:spPr>
          <a:xfrm>
            <a:off x="1935164" y="681039"/>
            <a:ext cx="3208337" cy="3516311"/>
          </a:xfrm>
          <a:prstGeom prst="rect">
            <a:avLst/>
          </a:prstGeom>
        </p:spPr>
        <p:txBody>
          <a:bodyPr lIns="91392" tIns="45696" rIns="91392" bIns="45696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欠拟合、过拟合示例</a:t>
            </a:r>
            <a:endParaRPr lang="en-US" altLang="zh-CN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模型在训练样本上产生的误差叫训练误差（</a:t>
            </a:r>
            <a:r>
              <a:rPr lang="en-US" altLang="zh-CN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training error</a:t>
            </a:r>
            <a:r>
              <a:rPr lang="zh-CN" altLang="en-US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。在测试样本上产生的误差叫测试误差（</a:t>
            </a:r>
            <a:r>
              <a:rPr lang="en-US" altLang="zh-CN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test error</a:t>
            </a:r>
            <a:r>
              <a:rPr lang="zh-CN" altLang="en-US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）。</a:t>
            </a:r>
            <a:endParaRPr lang="en-US" altLang="zh-CN" sz="2200" dirty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zh-CN" altLang="zh-CN" sz="2200" dirty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1314" name="文本框 2"/>
          <p:cNvSpPr txBox="1">
            <a:spLocks noChangeArrowheads="1"/>
          </p:cNvSpPr>
          <p:nvPr/>
        </p:nvSpPr>
        <p:spPr bwMode="auto">
          <a:xfrm>
            <a:off x="1524000" y="158750"/>
            <a:ext cx="9144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欠拟合、过拟合与泛化能力</a:t>
            </a:r>
          </a:p>
        </p:txBody>
      </p:sp>
      <p:sp>
        <p:nvSpPr>
          <p:cNvPr id="141315" name="灯片编号占位符 1"/>
          <p:cNvSpPr txBox="1">
            <a:spLocks noChangeArrowheads="1"/>
          </p:cNvSpPr>
          <p:nvPr/>
        </p:nvSpPr>
        <p:spPr bwMode="auto">
          <a:xfrm>
            <a:off x="8315325" y="6464300"/>
            <a:ext cx="21336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8B1AFB7F-B193-4E89-A761-7D9A7E9DA586}" type="slidenum">
              <a:rPr lang="zh-CN" altLang="en-US" sz="16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/>
              <a:t>2</a:t>
            </a:fld>
            <a:endParaRPr lang="zh-CN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131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1317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41318" name="图片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1" y="830264"/>
            <a:ext cx="2555875" cy="183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319" name="图片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3032125"/>
            <a:ext cx="2560638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320" name="图片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9" y="3032125"/>
            <a:ext cx="2560637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11314" y="5284788"/>
          <a:ext cx="8993187" cy="1098552"/>
        </p:xfrm>
        <a:graphic>
          <a:graphicData uri="http://schemas.openxmlformats.org/drawingml/2006/table">
            <a:tbl>
              <a:tblPr/>
              <a:tblGrid>
                <a:gridCol w="1141412">
                  <a:extLst>
                    <a:ext uri="{9D8B030D-6E8A-4147-A177-3AD203B41FA5}">
                      <a16:colId xmlns:a16="http://schemas.microsoft.com/office/drawing/2014/main" val="272944071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393048881"/>
                    </a:ext>
                  </a:extLst>
                </a:gridCol>
                <a:gridCol w="1949450">
                  <a:extLst>
                    <a:ext uri="{9D8B030D-6E8A-4147-A177-3AD203B41FA5}">
                      <a16:colId xmlns:a16="http://schemas.microsoft.com/office/drawing/2014/main" val="3273981575"/>
                    </a:ext>
                  </a:extLst>
                </a:gridCol>
                <a:gridCol w="1884363">
                  <a:extLst>
                    <a:ext uri="{9D8B030D-6E8A-4147-A177-3AD203B41FA5}">
                      <a16:colId xmlns:a16="http://schemas.microsoft.com/office/drawing/2014/main" val="3898242670"/>
                    </a:ext>
                  </a:extLst>
                </a:gridCol>
                <a:gridCol w="1884362">
                  <a:extLst>
                    <a:ext uri="{9D8B030D-6E8A-4147-A177-3AD203B41FA5}">
                      <a16:colId xmlns:a16="http://schemas.microsoft.com/office/drawing/2014/main" val="207002478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线性回归模型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三次多项式模型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五次多项式模型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九次多项式模型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784269"/>
                  </a:ext>
                </a:extLst>
              </a:tr>
              <a:tr h="274638"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训练误差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2019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534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209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7183"/>
                  </a:ext>
                </a:extLst>
              </a:tr>
              <a:tr h="274638"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测试误差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578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247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1232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38492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798770"/>
                  </a:ext>
                </a:extLst>
              </a:tr>
              <a:tr h="274638"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和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2597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781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1441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1217613">
                        <a:spcBef>
                          <a:spcPct val="20000"/>
                        </a:spcBef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38496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666883"/>
                  </a:ext>
                </a:extLst>
              </a:tr>
            </a:tbl>
          </a:graphicData>
        </a:graphic>
      </p:graphicFrame>
      <p:pic>
        <p:nvPicPr>
          <p:cNvPr id="141345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351" y="830264"/>
            <a:ext cx="2632075" cy="183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368563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EB5864F-3F41-1143-BD7F-F84E38023AD9}"/>
              </a:ext>
            </a:extLst>
          </p:cNvPr>
          <p:cNvSpPr txBox="1"/>
          <p:nvPr/>
        </p:nvSpPr>
        <p:spPr>
          <a:xfrm>
            <a:off x="554636" y="681039"/>
            <a:ext cx="6198589" cy="5775325"/>
          </a:xfrm>
          <a:prstGeom prst="rect">
            <a:avLst/>
          </a:prstGeom>
        </p:spPr>
        <p:txBody>
          <a:bodyPr lIns="91392" tIns="45696" rIns="91392" bIns="45696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泛化能力与模型复杂度</a:t>
            </a:r>
            <a:endParaRPr lang="en-US" altLang="zh-CN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测试误差：</a:t>
            </a:r>
            <a:r>
              <a:rPr lang="zh-CN" altLang="en-US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衡量模型好坏，它标志了模型对未知新实例的预测能力，因此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一般追求的是测试误差最小的那个模型</a:t>
            </a:r>
            <a:r>
              <a:rPr lang="zh-CN" altLang="en-US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200" dirty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泛化能力</a:t>
            </a:r>
            <a:r>
              <a:rPr lang="zh-CN" altLang="en-US" sz="2200" b="1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2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模型对新实例的预测能力称为泛化能力</a:t>
            </a:r>
            <a:r>
              <a:rPr lang="zh-CN" altLang="en-US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，模型在新实例上的误差称为泛化误差。</a:t>
            </a:r>
            <a:endParaRPr lang="en-US" altLang="zh-CN" sz="2200" dirty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 sz="2200" dirty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zh-CN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能够求解问题的模型往往不只一个。一般来说，</a:t>
            </a:r>
            <a:r>
              <a:rPr lang="zh-CN" altLang="zh-CN" sz="2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只有合适复杂程度的模型</a:t>
            </a:r>
            <a:r>
              <a:rPr lang="zh-CN" altLang="zh-CN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才能最好地反映出训练集中蕴含的规律，取得最好的泛化能力。</a:t>
            </a:r>
          </a:p>
        </p:txBody>
      </p:sp>
      <p:sp>
        <p:nvSpPr>
          <p:cNvPr id="143362" name="文本框 2"/>
          <p:cNvSpPr txBox="1">
            <a:spLocks noChangeArrowheads="1"/>
          </p:cNvSpPr>
          <p:nvPr/>
        </p:nvSpPr>
        <p:spPr bwMode="auto">
          <a:xfrm>
            <a:off x="1524000" y="158750"/>
            <a:ext cx="9144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欠拟合、过拟合与泛化能力</a:t>
            </a:r>
          </a:p>
        </p:txBody>
      </p:sp>
      <p:sp>
        <p:nvSpPr>
          <p:cNvPr id="143363" name="灯片编号占位符 1"/>
          <p:cNvSpPr txBox="1">
            <a:spLocks noChangeArrowheads="1"/>
          </p:cNvSpPr>
          <p:nvPr/>
        </p:nvSpPr>
        <p:spPr bwMode="auto">
          <a:xfrm>
            <a:off x="8315325" y="6464300"/>
            <a:ext cx="21336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FCF2D67C-2E31-48C9-AF6D-8513E640FAC5}" type="slidenum">
              <a:rPr lang="zh-CN" altLang="en-US" sz="16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/>
              <a:t>3</a:t>
            </a:fld>
            <a:endParaRPr lang="zh-CN" altLang="en-US" sz="1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336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3365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336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3367" name="Rectangle 2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43368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25" y="1862139"/>
            <a:ext cx="3962400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439210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正则项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44" y="1432920"/>
            <a:ext cx="11064858" cy="38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1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正则项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48328" y="1172935"/>
            <a:ext cx="4136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3600" b="1" dirty="0"/>
              <a:t>L1</a:t>
            </a:r>
            <a:r>
              <a:rPr lang="zh-CN" altLang="en-US" sz="3600" b="1" dirty="0"/>
              <a:t>正则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28" y="2813043"/>
            <a:ext cx="4136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3600" b="1" dirty="0"/>
              <a:t>L2</a:t>
            </a:r>
            <a:r>
              <a:rPr lang="zh-CN" altLang="en-US" sz="3600" b="1" dirty="0"/>
              <a:t>正则</a:t>
            </a:r>
          </a:p>
        </p:txBody>
      </p:sp>
      <p:sp>
        <p:nvSpPr>
          <p:cNvPr id="7" name="椭圆 6"/>
          <p:cNvSpPr/>
          <p:nvPr/>
        </p:nvSpPr>
        <p:spPr>
          <a:xfrm>
            <a:off x="7353097" y="2064035"/>
            <a:ext cx="741206" cy="646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303190" y="3459502"/>
            <a:ext cx="791113" cy="6463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6D1145-CB93-2DC3-9E77-A30A1DC37CC2}"/>
              </a:ext>
            </a:extLst>
          </p:cNvPr>
          <p:cNvGrpSpPr/>
          <p:nvPr/>
        </p:nvGrpSpPr>
        <p:grpSpPr>
          <a:xfrm>
            <a:off x="9187494" y="1912333"/>
            <a:ext cx="1928219" cy="2447925"/>
            <a:chOff x="6956770" y="3789387"/>
            <a:chExt cx="1928219" cy="244792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FDE0D5B-F0D7-30B6-B4C1-DBCFAB3E3746}"/>
                </a:ext>
              </a:extLst>
            </p:cNvPr>
            <p:cNvSpPr/>
            <p:nvPr/>
          </p:nvSpPr>
          <p:spPr bwMode="auto">
            <a:xfrm>
              <a:off x="6956770" y="3789387"/>
              <a:ext cx="1928218" cy="2447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rgbClr val="1354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object 3">
              <a:extLst>
                <a:ext uri="{FF2B5EF4-FFF2-40B4-BE49-F238E27FC236}">
                  <a16:creationId xmlns:a16="http://schemas.microsoft.com/office/drawing/2014/main" id="{68EDEBC8-B406-CD7B-A7C6-7D940EFFC544}"/>
                </a:ext>
              </a:extLst>
            </p:cNvPr>
            <p:cNvSpPr txBox="1"/>
            <p:nvPr/>
          </p:nvSpPr>
          <p:spPr>
            <a:xfrm>
              <a:off x="7904464" y="4094313"/>
              <a:ext cx="184150" cy="26161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700" i="1" spc="25" dirty="0">
                  <a:solidFill>
                    <a:prstClr val="black"/>
                  </a:solidFill>
                  <a:latin typeface="Times New Roman" panose="02020603050405020304"/>
                  <a:cs typeface="Times New Roman" panose="02020603050405020304"/>
                </a:rPr>
                <a:t>n</a:t>
              </a:r>
              <a:endParaRPr sz="1700" dirty="0">
                <a:solidFill>
                  <a:prstClr val="black"/>
                </a:solidFill>
                <a:latin typeface="Times New Roman" panose="02020603050405020304"/>
                <a:ea typeface="+mn-ea"/>
                <a:cs typeface="Times New Roman" panose="020206030504050203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4">
                  <a:extLst>
                    <a:ext uri="{FF2B5EF4-FFF2-40B4-BE49-F238E27FC236}">
                      <a16:creationId xmlns:a16="http://schemas.microsoft.com/office/drawing/2014/main" id="{8CAD87D4-19B1-3571-287A-DB53EFE47A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36986" y="4178842"/>
                  <a:ext cx="1733029" cy="9002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marL="127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zh-CN" altLang="zh-CN" sz="24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</a:t>
                  </a:r>
                  <a:r>
                    <a:rPr lang="en-US" altLang="zh-CN" sz="24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zh-CN" sz="24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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zh-CN" sz="6000" baseline="-9000" dirty="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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 </a:t>
                  </a:r>
                  <a14:m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zh-CN" altLang="zh-CN" sz="2400" i="1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 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</a:p>
                <a:p>
                  <a:pPr eaLnBrk="1" hangingPunct="1">
                    <a:spcBef>
                      <a:spcPts val="250"/>
                    </a:spcBef>
                  </a:pPr>
                  <a:r>
                    <a:rPr lang="en-US" altLang="zh-CN" sz="16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</a:t>
                  </a:r>
                  <a:r>
                    <a:rPr lang="zh-CN" altLang="zh-CN" sz="16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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</mc:Choice>
          <mc:Fallback xmlns="">
            <p:sp>
              <p:nvSpPr>
                <p:cNvPr id="12" name="object 4">
                  <a:extLst>
                    <a:ext uri="{FF2B5EF4-FFF2-40B4-BE49-F238E27FC236}">
                      <a16:creationId xmlns:a16="http://schemas.microsoft.com/office/drawing/2014/main" id="{8CAD87D4-19B1-3571-287A-DB53EFE47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36986" y="4178842"/>
                  <a:ext cx="1733029" cy="900246"/>
                </a:xfrm>
                <a:prstGeom prst="rect">
                  <a:avLst/>
                </a:prstGeom>
                <a:blipFill>
                  <a:blip r:embed="rId3"/>
                  <a:stretch>
                    <a:fillRect l="-11594" t="-12500" r="-7971" b="-1388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AFE15D89-C1A5-F4F5-8EB8-C37A8DDE1D36}"/>
                </a:ext>
              </a:extLst>
            </p:cNvPr>
            <p:cNvSpPr txBox="1"/>
            <p:nvPr/>
          </p:nvSpPr>
          <p:spPr>
            <a:xfrm>
              <a:off x="8532440" y="5408367"/>
              <a:ext cx="136525" cy="2762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1700" spc="15" dirty="0">
                  <a:solidFill>
                    <a:prstClr val="black"/>
                  </a:solidFill>
                  <a:latin typeface="Times New Roman" panose="02020603050405020304"/>
                  <a:ea typeface="+mn-ea"/>
                  <a:cs typeface="Times New Roman" panose="02020603050405020304"/>
                </a:rPr>
                <a:t>2</a:t>
              </a:r>
              <a:endParaRPr sz="1700">
                <a:solidFill>
                  <a:prstClr val="black"/>
                </a:solidFill>
                <a:latin typeface="Times New Roman" panose="02020603050405020304"/>
                <a:ea typeface="+mn-ea"/>
                <a:cs typeface="Times New Roman" panose="02020603050405020304"/>
              </a:endParaRPr>
            </a:p>
          </p:txBody>
        </p:sp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EE002584-4DCA-345C-B296-92D0E2EE43BD}"/>
                </a:ext>
              </a:extLst>
            </p:cNvPr>
            <p:cNvSpPr txBox="1"/>
            <p:nvPr/>
          </p:nvSpPr>
          <p:spPr>
            <a:xfrm>
              <a:off x="7991431" y="5187031"/>
              <a:ext cx="184150" cy="261610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700" i="1" spc="25" dirty="0">
                  <a:solidFill>
                    <a:prstClr val="black"/>
                  </a:solidFill>
                  <a:latin typeface="Times New Roman" panose="02020603050405020304"/>
                  <a:cs typeface="Times New Roman" panose="02020603050405020304"/>
                </a:rPr>
                <a:t>n</a:t>
              </a:r>
              <a:endParaRPr sz="1700" dirty="0">
                <a:solidFill>
                  <a:prstClr val="black"/>
                </a:solidFill>
                <a:latin typeface="Times New Roman" panose="02020603050405020304"/>
                <a:ea typeface="+mn-ea"/>
                <a:cs typeface="Times New Roman" panose="02020603050405020304"/>
              </a:endParaRPr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85DAA34F-0E14-6807-827A-5617587EC649}"/>
                </a:ext>
              </a:extLst>
            </p:cNvPr>
            <p:cNvSpPr txBox="1"/>
            <p:nvPr/>
          </p:nvSpPr>
          <p:spPr>
            <a:xfrm>
              <a:off x="6956771" y="3789387"/>
              <a:ext cx="1928218" cy="369332"/>
            </a:xfrm>
            <a:prstGeom prst="rect">
              <a:avLst/>
            </a:prstGeom>
            <a:solidFill>
              <a:srgbClr val="13548C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正则化表达式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4">
                  <a:extLst>
                    <a:ext uri="{FF2B5EF4-FFF2-40B4-BE49-F238E27FC236}">
                      <a16:creationId xmlns:a16="http://schemas.microsoft.com/office/drawing/2014/main" id="{75FEFF2C-8C06-16B2-DFEC-0689BA216B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7479" y="5296966"/>
                  <a:ext cx="1733030" cy="9156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marL="127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altLang="zh-CN" sz="24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zh-CN" altLang="zh-CN" sz="24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zh-CN" sz="24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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zh-CN" sz="6000" baseline="-9000" dirty="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</a:t>
                  </a:r>
                  <a:r>
                    <a:rPr lang="en-US" altLang="zh-CN" sz="2800" baseline="-9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zh-CN" altLang="zh-CN" sz="2400" i="1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 </a:t>
                  </a:r>
                  <a:endPara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eaLnBrk="1" hangingPunct="1">
                    <a:spcBef>
                      <a:spcPts val="250"/>
                    </a:spcBef>
                  </a:pPr>
                  <a:r>
                    <a:rPr lang="en-US" altLang="zh-CN" sz="16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</a:t>
                  </a:r>
                  <a:r>
                    <a:rPr lang="zh-CN" altLang="zh-CN" sz="16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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</mc:Choice>
          <mc:Fallback xmlns="">
            <p:sp>
              <p:nvSpPr>
                <p:cNvPr id="16" name="object 4">
                  <a:extLst>
                    <a:ext uri="{FF2B5EF4-FFF2-40B4-BE49-F238E27FC236}">
                      <a16:creationId xmlns:a16="http://schemas.microsoft.com/office/drawing/2014/main" id="{75FEFF2C-8C06-16B2-DFEC-0689BA216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37479" y="5296966"/>
                  <a:ext cx="1733030" cy="915635"/>
                </a:xfrm>
                <a:prstGeom prst="rect">
                  <a:avLst/>
                </a:prstGeom>
                <a:blipFill>
                  <a:blip r:embed="rId4"/>
                  <a:stretch>
                    <a:fillRect l="-11594" t="-10959" b="-1095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object 4">
            <a:extLst>
              <a:ext uri="{FF2B5EF4-FFF2-40B4-BE49-F238E27FC236}">
                <a16:creationId xmlns:a16="http://schemas.microsoft.com/office/drawing/2014/main" id="{69952AE1-028C-2F54-E9BC-CE3F3FE35140}"/>
              </a:ext>
            </a:extLst>
          </p:cNvPr>
          <p:cNvSpPr txBox="1"/>
          <p:nvPr/>
        </p:nvSpPr>
        <p:spPr>
          <a:xfrm>
            <a:off x="495860" y="4558122"/>
            <a:ext cx="307975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3000" i="1" spc="-32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/>
                <a:sym typeface="Times New Roman" panose="02020603050405020304" pitchFamily="18" charset="0"/>
              </a:rPr>
              <a:t>L</a:t>
            </a:r>
            <a:r>
              <a:rPr sz="2550" spc="22" baseline="-26143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/>
                <a:sym typeface="Times New Roman" panose="02020603050405020304" pitchFamily="18" charset="0"/>
              </a:rPr>
              <a:t>1</a:t>
            </a:r>
            <a:endParaRPr sz="2550" baseline="-26143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/>
              <a:sym typeface="Times New Roman" panose="02020603050405020304" pitchFamily="18" charset="0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DF6AE18F-35DC-7CB1-C0E1-0723C39D2BAF}"/>
              </a:ext>
            </a:extLst>
          </p:cNvPr>
          <p:cNvSpPr txBox="1"/>
          <p:nvPr/>
        </p:nvSpPr>
        <p:spPr>
          <a:xfrm>
            <a:off x="470849" y="5846007"/>
            <a:ext cx="333375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3000" i="1" spc="-12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/>
                <a:sym typeface="Times New Roman" panose="02020603050405020304" pitchFamily="18" charset="0"/>
              </a:rPr>
              <a:t>L</a:t>
            </a:r>
            <a:r>
              <a:rPr sz="2550" spc="22" baseline="-26143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/>
                <a:sym typeface="Times New Roman" panose="02020603050405020304" pitchFamily="18" charset="0"/>
              </a:rPr>
              <a:t>2</a:t>
            </a:r>
            <a:endParaRPr sz="2550" baseline="-26143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/>
              <a:sym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6">
                <a:extLst>
                  <a:ext uri="{FF2B5EF4-FFF2-40B4-BE49-F238E27FC236}">
                    <a16:creationId xmlns:a16="http://schemas.microsoft.com/office/drawing/2014/main" id="{DCEF2F02-87EC-62C3-3126-E9EC8E70AA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5958" y="4553425"/>
                <a:ext cx="10078390" cy="15956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1270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倾向于使得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要么取1，要么取0</a:t>
                </a:r>
                <a:r>
                  <a:rPr lang="zh-CN" altLang="en-US" sz="2400" b="1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，模型更加稀疏，从而简化模型，防止过拟合，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适合降低维度</a:t>
                </a:r>
                <a:endParaRPr lang="zh-CN" altLang="zh-CN" sz="24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微软雅黑" pitchFamily="34" charset="-122"/>
                  <a:sym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endParaRPr lang="zh-CN" altLang="zh-CN" sz="24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微软雅黑" pitchFamily="34" charset="-122"/>
                  <a:sym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object 6">
                <a:extLst>
                  <a:ext uri="{FF2B5EF4-FFF2-40B4-BE49-F238E27FC236}">
                    <a16:creationId xmlns:a16="http://schemas.microsoft.com/office/drawing/2014/main" id="{DCEF2F02-87EC-62C3-3126-E9EC8E70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5958" y="4553425"/>
                <a:ext cx="10078390" cy="1595630"/>
              </a:xfrm>
              <a:prstGeom prst="rect">
                <a:avLst/>
              </a:prstGeom>
              <a:blipFill>
                <a:blip r:embed="rId5"/>
                <a:stretch>
                  <a:fillRect l="-1761" r="-5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53AEA48C-BA2C-903B-4BB7-CADCD3155D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5958" y="5832573"/>
                <a:ext cx="9220347" cy="488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1270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倾向于使得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整体偏小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，但很难等于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，</a:t>
                </a:r>
                <a:r>
                  <a:rPr lang="zh-CN" altLang="zh-CN" sz="2400" b="1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岭回归</a:t>
                </a:r>
                <a:r>
                  <a:rPr lang="zh-CN" altLang="en-US" sz="2400" b="1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，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itchFamily="34" charset="-122"/>
                    <a:sym typeface="Times New Roman" panose="02020603050405020304" pitchFamily="18" charset="0"/>
                  </a:rPr>
                  <a:t>有很强的概率意义</a:t>
                </a:r>
                <a:endParaRPr lang="zh-CN" altLang="zh-CN" sz="24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微软雅黑" pitchFamily="34" charset="-122"/>
                  <a:sym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53AEA48C-BA2C-903B-4BB7-CADCD3155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5958" y="5832573"/>
                <a:ext cx="9220347" cy="488532"/>
              </a:xfrm>
              <a:prstGeom prst="rect">
                <a:avLst/>
              </a:prstGeom>
              <a:blipFill>
                <a:blip r:embed="rId6"/>
                <a:stretch>
                  <a:fillRect l="-1926" b="-384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BECF381-077B-66DC-9768-4FE59ED8D137}"/>
                  </a:ext>
                </a:extLst>
              </p:cNvPr>
              <p:cNvSpPr txBox="1"/>
              <p:nvPr/>
            </p:nvSpPr>
            <p:spPr>
              <a:xfrm>
                <a:off x="1846039" y="1912333"/>
                <a:ext cx="6364898" cy="84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1" i="1" dirty="0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800" b="1" i="1" dirty="0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b="1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𝒚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1800" b="1" i="1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1" i="1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𝒊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d>
                                <m:dPr>
                                  <m:ctrlP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800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1800" b="1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CN" sz="1800" b="1" dirty="0"/>
                                <m:t> 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1800" b="1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b="1" dirty="0"/>
                                <m:t>(1 </m:t>
                              </m:r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1800" b="1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𝒚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1800" b="1" i="1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1" i="1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𝒊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altLang="zh-CN" sz="1800" b="1" dirty="0"/>
                                <m:t>)</m:t>
                              </m:r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d>
                                <m:dPr>
                                  <m:ctrlP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18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BECF381-077B-66DC-9768-4FE59ED8D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039" y="1912333"/>
                <a:ext cx="6364898" cy="847220"/>
              </a:xfrm>
              <a:prstGeom prst="rect">
                <a:avLst/>
              </a:prstGeom>
              <a:blipFill>
                <a:blip r:embed="rId7"/>
                <a:stretch>
                  <a:fillRect l="-199" t="-98529" b="-15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C0CCFB7-FF84-33F2-6DB9-F0E090CD8FDA}"/>
                  </a:ext>
                </a:extLst>
              </p:cNvPr>
              <p:cNvSpPr txBox="1"/>
              <p:nvPr/>
            </p:nvSpPr>
            <p:spPr>
              <a:xfrm>
                <a:off x="1779610" y="3352521"/>
                <a:ext cx="6277426" cy="84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1" i="1" dirty="0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800" b="1" i="1" dirty="0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b="1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𝒚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1800" b="1" i="1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1" i="1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𝒊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d>
                                <m:dPr>
                                  <m:ctrlP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800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1800" b="1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CN" sz="1800" b="1" dirty="0"/>
                                <m:t> 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1800" b="1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b="1" dirty="0"/>
                                <m:t>(1 </m:t>
                              </m:r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1800" b="1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𝒚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1800" b="1" i="1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1" i="1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𝒊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altLang="zh-CN" sz="1800" b="1" dirty="0"/>
                                <m:t>)</m:t>
                              </m:r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d>
                                <m:dPr>
                                  <m:ctrlP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18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b="1" i="1" dirty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US" altLang="zh-CN" sz="18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C0CCFB7-FF84-33F2-6DB9-F0E090CD8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610" y="3352521"/>
                <a:ext cx="6277426" cy="847220"/>
              </a:xfrm>
              <a:prstGeom prst="rect">
                <a:avLst/>
              </a:prstGeom>
              <a:blipFill>
                <a:blip r:embed="rId8"/>
                <a:stretch>
                  <a:fillRect l="-202" t="-101493" b="-155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1860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BF1CC-501D-31E8-70B4-6996E051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特征归一化和标准化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1C1333-5E3E-40B3-C161-F141E7BD7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54" y="862042"/>
            <a:ext cx="8472374" cy="44210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4FC845A-8BFF-2F79-3FED-2B696CFEC409}"/>
              </a:ext>
            </a:extLst>
          </p:cNvPr>
          <p:cNvSpPr txBox="1"/>
          <p:nvPr/>
        </p:nvSpPr>
        <p:spPr>
          <a:xfrm>
            <a:off x="624271" y="5423912"/>
            <a:ext cx="95349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数量级差别很大，平衡各特征的贡献，避免数值问题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直接用原始指标值进行分析，就会突出数值较高的指标在综合分析中的作用，相对削弱数值水平较低指标的作用</a:t>
            </a:r>
            <a:endParaRPr lang="en-US" altLang="zh-CN" sz="2000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4F4F4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加快了梯度下降求最优解的速度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5E041C-5D72-53DF-6C4B-BAA182A643E2}"/>
              </a:ext>
            </a:extLst>
          </p:cNvPr>
          <p:cNvSpPr txBox="1"/>
          <p:nvPr/>
        </p:nvSpPr>
        <p:spPr>
          <a:xfrm>
            <a:off x="7823514" y="5098388"/>
            <a:ext cx="3878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归一化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标准化实质是一种线性变换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846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6656</TotalTime>
  <Words>395</Words>
  <Application>Microsoft Macintosh PowerPoint</Application>
  <PresentationFormat>宽屏</PresentationFormat>
  <Paragraphs>64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-apple-system</vt:lpstr>
      <vt:lpstr>等线</vt:lpstr>
      <vt:lpstr>等线 Light</vt:lpstr>
      <vt:lpstr>微软雅黑</vt:lpstr>
      <vt:lpstr>PingFang SC</vt:lpstr>
      <vt:lpstr>Arial</vt:lpstr>
      <vt:lpstr>Calibri</vt:lpstr>
      <vt:lpstr>Cambria Math</vt:lpstr>
      <vt:lpstr>Symbol</vt:lpstr>
      <vt:lpstr>Times New Roman</vt:lpstr>
      <vt:lpstr>Wingdings</vt:lpstr>
      <vt:lpstr>Office 主题​​</vt:lpstr>
      <vt:lpstr>Part Three 模型优化</vt:lpstr>
      <vt:lpstr>PowerPoint 演示文稿</vt:lpstr>
      <vt:lpstr>PowerPoint 演示文稿</vt:lpstr>
      <vt:lpstr>正则项</vt:lpstr>
      <vt:lpstr>正则项</vt:lpstr>
      <vt:lpstr>特征归一化和标准化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744</cp:revision>
  <dcterms:created xsi:type="dcterms:W3CDTF">2021-11-17T13:21:01Z</dcterms:created>
  <dcterms:modified xsi:type="dcterms:W3CDTF">2025-07-26T13:59:34Z</dcterms:modified>
</cp:coreProperties>
</file>
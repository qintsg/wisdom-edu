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3" r:id="rId2"/>
    <p:sldId id="324" r:id="rId3"/>
    <p:sldId id="335" r:id="rId4"/>
    <p:sldId id="352" r:id="rId5"/>
    <p:sldId id="337" r:id="rId6"/>
    <p:sldId id="339" r:id="rId7"/>
    <p:sldId id="34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93" autoAdjust="0"/>
    <p:restoredTop sz="84780"/>
  </p:normalViewPr>
  <p:slideViewPr>
    <p:cSldViewPr snapToGrid="0" showGuides="1">
      <p:cViewPr varScale="1">
        <p:scale>
          <a:sx n="106" d="100"/>
          <a:sy n="106" d="100"/>
        </p:scale>
        <p:origin x="200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疾病监测，欺诈检查，大部分都是负类，正类很少</a:t>
            </a:r>
            <a:endParaRPr kumimoji="1" lang="en-US" altLang="zh-CN" dirty="0"/>
          </a:p>
          <a:p>
            <a:r>
              <a:rPr kumimoji="1" lang="zh-CN" altLang="en-US" dirty="0"/>
              <a:t>通常</a:t>
            </a:r>
            <a:r>
              <a:rPr kumimoji="1" lang="en-US" altLang="zh-CN" dirty="0"/>
              <a:t>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</a:t>
            </a:r>
            <a:r>
              <a:rPr kumimoji="1" lang="zh-CN" altLang="en-US" dirty="0"/>
              <a:t>是负相关的，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如果我们想要找到查准率和查全率之间的一个平衡点，我们就需要一个新的指标：</a:t>
            </a:r>
            <a:r>
              <a:rPr lang="en-US" altLang="zh-CN" dirty="0"/>
              <a:t>F1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分数。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kumimoji="1"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-1 -1 -1 -1 -1 -1 -1 -1 1 1</a:t>
            </a:r>
          </a:p>
          <a:p>
            <a:r>
              <a:rPr kumimoji="1"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-1 -1                   -1 1 </a:t>
            </a:r>
          </a:p>
          <a:p>
            <a:r>
              <a:rPr kumimoji="1"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1,1</a:t>
            </a:r>
          </a:p>
          <a:p>
            <a:r>
              <a:rPr kumimoji="1"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0,8   acc=9/10 p=1/1 r =1/2, f1=2/(1+2)=2/3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430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058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36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C9CE943-B56E-DB49-B8C4-6529A45E560F}"/>
              </a:ext>
            </a:extLst>
          </p:cNvPr>
          <p:cNvSpPr/>
          <p:nvPr userDrawn="1"/>
        </p:nvSpPr>
        <p:spPr>
          <a:xfrm>
            <a:off x="0" y="6378576"/>
            <a:ext cx="12192000" cy="479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B1CC48-0F36-E84A-AD3C-0A71484EADA6}"/>
              </a:ext>
            </a:extLst>
          </p:cNvPr>
          <p:cNvSpPr/>
          <p:nvPr userDrawn="1"/>
        </p:nvSpPr>
        <p:spPr>
          <a:xfrm>
            <a:off x="0" y="1"/>
            <a:ext cx="12192000" cy="479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5" name="六边形 4">
            <a:extLst>
              <a:ext uri="{FF2B5EF4-FFF2-40B4-BE49-F238E27FC236}">
                <a16:creationId xmlns:a16="http://schemas.microsoft.com/office/drawing/2014/main" id="{3C5888FC-F9A7-644B-A5F0-A432723D85D7}"/>
              </a:ext>
            </a:extLst>
          </p:cNvPr>
          <p:cNvSpPr/>
          <p:nvPr userDrawn="1"/>
        </p:nvSpPr>
        <p:spPr>
          <a:xfrm rot="5400000">
            <a:off x="11246645" y="6290469"/>
            <a:ext cx="531812" cy="457200"/>
          </a:xfrm>
          <a:prstGeom prst="hexagon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CF94DF91-7767-F74D-8028-A9B801123164}"/>
              </a:ext>
            </a:extLst>
          </p:cNvPr>
          <p:cNvSpPr/>
          <p:nvPr userDrawn="1"/>
        </p:nvSpPr>
        <p:spPr>
          <a:xfrm rot="5400000">
            <a:off x="406136" y="809361"/>
            <a:ext cx="627062" cy="541867"/>
          </a:xfrm>
          <a:prstGeom prst="hexagon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3"/>
          </p:nvPr>
        </p:nvSpPr>
        <p:spPr>
          <a:xfrm>
            <a:off x="1154224" y="861944"/>
            <a:ext cx="7416800" cy="5842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B9D3675-0C0C-3B45-A517-171AAC0083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44997-DFC2-47A5-92F6-95BB1802E9B5}" type="datetime1">
              <a:rPr lang="zh-CN" altLang="en-US"/>
              <a:pPr>
                <a:defRPr/>
              </a:pPr>
              <a:t>2025/7/26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9F0F7022-D17C-0048-920D-05CC8A5983B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301DA0A7-B2A6-C849-A3BD-62D2980A0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37901" y="6343651"/>
            <a:ext cx="723900" cy="365125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D340BD-0C8F-4029-BC04-92E607371FC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98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png"/><Relationship Id="rId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Three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模型评价指标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077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评价指标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85163" y="1385038"/>
          <a:ext cx="4807098" cy="2249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1183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801183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801183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801183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801183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  <a:gridCol w="801183">
                  <a:extLst>
                    <a:ext uri="{9D8B030D-6E8A-4147-A177-3AD203B41FA5}">
                      <a16:colId xmlns:a16="http://schemas.microsoft.com/office/drawing/2014/main" val="4017242706"/>
                    </a:ext>
                  </a:extLst>
                </a:gridCol>
              </a:tblGrid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</a:rPr>
                        <a:t>英雄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1400" b="1" u="none" strike="noStrike" dirty="0">
                          <a:effectLst/>
                        </a:rPr>
                        <a:t>x1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1400" b="1" u="none" strike="noStrike" dirty="0">
                          <a:effectLst/>
                        </a:rPr>
                        <a:t>x2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1400" b="1" u="none" strike="noStrike" dirty="0">
                          <a:effectLst/>
                        </a:rPr>
                        <a:t>x3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真实值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预测值</a:t>
                      </a: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</a:rPr>
                        <a:t>赫卡里姆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900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effectLst/>
                        </a:rPr>
                        <a:t>50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effectLst/>
                        </a:rPr>
                        <a:t>90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effectLst/>
                        </a:rPr>
                        <a:t>前排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+1(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</a:rPr>
                        <a:t>李青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800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50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effectLst/>
                        </a:rPr>
                        <a:t>90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effectLst/>
                        </a:rPr>
                        <a:t>前排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+1(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婕拉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600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50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120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effectLst/>
                        </a:rPr>
                        <a:t>后排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-1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-1(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黑默丁格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effectLst/>
                        </a:rPr>
                        <a:t>500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40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effectLst/>
                        </a:rPr>
                        <a:t>100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effectLst/>
                        </a:rPr>
                        <a:t>后排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-1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-1(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锤石</a:t>
                      </a:r>
                      <a:endParaRPr lang="zh-CN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750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后排</a:t>
                      </a: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(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)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瑟庄妮</a:t>
                      </a:r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650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400" b="1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？</a:t>
                      </a:r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(+1</a:t>
                      </a:r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 </a:t>
                      </a: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(×)</a:t>
                      </a:r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娜美</a:t>
                      </a:r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600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40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？</a:t>
                      </a:r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(-1</a:t>
                      </a:r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</a:t>
                      </a: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(</a:t>
                      </a:r>
                      <a:r>
                        <a:rPr lang="zh-CN" alt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)</a:t>
                      </a:r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  <a:tr h="24990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沃利贝尔</a:t>
                      </a:r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？</a:t>
                      </a:r>
                      <a:r>
                        <a:rPr lang="en-US" altLang="zh-C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(+1</a:t>
                      </a:r>
                      <a:r>
                        <a:rPr lang="zh-CN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+1(</a:t>
                      </a:r>
                      <a:r>
                        <a:rPr lang="zh-CN" alt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√</a:t>
                      </a: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)</a:t>
                      </a:r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6455737"/>
                  </a:ext>
                </a:extLst>
              </a:tr>
            </a:tbl>
          </a:graphicData>
        </a:graphic>
      </p:graphicFrame>
      <p:sp>
        <p:nvSpPr>
          <p:cNvPr id="4" name="右大括号 3"/>
          <p:cNvSpPr/>
          <p:nvPr/>
        </p:nvSpPr>
        <p:spPr>
          <a:xfrm>
            <a:off x="5492261" y="1611923"/>
            <a:ext cx="293078" cy="1236786"/>
          </a:xfrm>
          <a:prstGeom prst="rightBrace">
            <a:avLst>
              <a:gd name="adj1" fmla="val 58333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92883" y="1921978"/>
            <a:ext cx="69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训练</a:t>
            </a:r>
            <a:endParaRPr lang="en-US" altLang="zh-CN" b="1" dirty="0"/>
          </a:p>
          <a:p>
            <a:r>
              <a:rPr lang="zh-CN" altLang="en-US" b="1" dirty="0"/>
              <a:t>数据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95605" y="2956759"/>
            <a:ext cx="69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测试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数据</a:t>
            </a:r>
          </a:p>
        </p:txBody>
      </p:sp>
      <p:sp>
        <p:nvSpPr>
          <p:cNvPr id="13" name="右大括号 12"/>
          <p:cNvSpPr/>
          <p:nvPr/>
        </p:nvSpPr>
        <p:spPr>
          <a:xfrm>
            <a:off x="5492261" y="2899387"/>
            <a:ext cx="293078" cy="72481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012227" y="4337566"/>
                <a:ext cx="4900246" cy="14773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𝒄𝒄𝒖𝒂𝒓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𝒄𝒚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𝑷𝒓𝒆𝒄𝒊𝒔𝒊𝒐𝒏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𝑹𝒆𝒄𝒂𝒍𝒍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b="1" dirty="0"/>
              </a:p>
              <a:p>
                <a:pPr marL="285750" indent="-285750">
                  <a:buFont typeface="Wingdings" panose="05000000000000000000" pitchFamily="2" charset="2"/>
                  <a:buChar char="u"/>
                </a:pPr>
                <a:r>
                  <a:rPr lang="en-US" altLang="zh-CN" b="1" dirty="0"/>
                  <a:t>F-Score=2/(1/P+1/R) = 2/(1+2)=2/3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227" y="4337566"/>
                <a:ext cx="4900246" cy="1477328"/>
              </a:xfrm>
              <a:prstGeom prst="rect">
                <a:avLst/>
              </a:prstGeom>
              <a:blipFill>
                <a:blip r:embed="rId3"/>
                <a:stretch>
                  <a:fillRect l="-746" t="-12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148589"/>
              </p:ext>
            </p:extLst>
          </p:nvPr>
        </p:nvGraphicFramePr>
        <p:xfrm>
          <a:off x="607646" y="4379180"/>
          <a:ext cx="442140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06">
                  <a:extLst>
                    <a:ext uri="{9D8B030D-6E8A-4147-A177-3AD203B41FA5}">
                      <a16:colId xmlns:a16="http://schemas.microsoft.com/office/drawing/2014/main" val="3347995260"/>
                    </a:ext>
                  </a:extLst>
                </a:gridCol>
                <a:gridCol w="1577009">
                  <a:extLst>
                    <a:ext uri="{9D8B030D-6E8A-4147-A177-3AD203B41FA5}">
                      <a16:colId xmlns:a16="http://schemas.microsoft.com/office/drawing/2014/main" val="3937183881"/>
                    </a:ext>
                  </a:extLst>
                </a:gridCol>
                <a:gridCol w="1914786">
                  <a:extLst>
                    <a:ext uri="{9D8B030D-6E8A-4147-A177-3AD203B41FA5}">
                      <a16:colId xmlns:a16="http://schemas.microsoft.com/office/drawing/2014/main" val="302828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+1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+1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True Positive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TP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False Negative</a:t>
                      </a:r>
                    </a:p>
                    <a:p>
                      <a:r>
                        <a:rPr lang="en-US" altLang="zh-CN" dirty="0"/>
                        <a:t>(FN)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False Positive</a:t>
                      </a:r>
                    </a:p>
                    <a:p>
                      <a:r>
                        <a:rPr lang="en-US" altLang="zh-CN" dirty="0"/>
                        <a:t>(FP)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True Negative</a:t>
                      </a:r>
                    </a:p>
                    <a:p>
                      <a:r>
                        <a:rPr lang="en-US" altLang="zh-CN" dirty="0"/>
                        <a:t>(TN)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38777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60472" y="3968234"/>
            <a:ext cx="149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1" dirty="0"/>
              <a:t>混淆矩阵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029047" y="3968234"/>
                <a:ext cx="1876368" cy="1118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4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4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4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4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047" y="3968234"/>
                <a:ext cx="1876368" cy="1118768"/>
              </a:xfrm>
              <a:prstGeom prst="rect">
                <a:avLst/>
              </a:prstGeom>
              <a:blipFill>
                <a:blip r:embed="rId4"/>
                <a:stretch>
                  <a:fillRect b="-8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7061251" y="640272"/>
                <a:ext cx="4802198" cy="3512628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准确率（正确率）：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Accuracy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sz="1600" b="1" i="1" dirty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准确率</m:t>
                    </m:r>
                    <m:r>
                      <a:rPr lang="en-US" altLang="zh-CN" sz="1600" b="1" i="1" dirty="0" smtClean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预测</m:t>
                        </m:r>
                        <m:r>
                          <a:rPr lang="zh-CN" altLang="en-US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正确</m:t>
                        </m:r>
                      </m:num>
                      <m:den>
                        <m:r>
                          <a:rPr lang="zh-CN" altLang="en-US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总样本</m:t>
                        </m:r>
                      </m:den>
                    </m:f>
                    <m:r>
                      <a:rPr lang="en-US" altLang="zh-CN" sz="1600" b="1" i="1" dirty="0" smtClean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𝑻𝑷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𝑻𝑵</m:t>
                        </m:r>
                      </m:num>
                      <m:den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𝑻𝑷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𝑭𝑵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𝑭𝑷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𝑻𝑵</m:t>
                        </m:r>
                      </m:den>
                    </m:f>
                  </m:oMath>
                </a14:m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 </a:t>
                </a: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精准率（查准率）：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Precision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 smtClean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精确</m:t>
                      </m:r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率</m:t>
                      </m:r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为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</m:num>
                        <m:den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</m:den>
                      </m:f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召回率（查全率）：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Recall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召回率</m:t>
                      </m:r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正类预测为正类</m:t>
                          </m:r>
                        </m:num>
                        <m:den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实际正类</m:t>
                          </m:r>
                        </m:den>
                      </m:f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F</a:t>
                </a: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值：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F-score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600" b="1" i="1" dirty="0" smtClean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600" b="1" i="1" dirty="0" smtClean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 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251" y="640272"/>
                <a:ext cx="4802198" cy="3512628"/>
              </a:xfrm>
              <a:prstGeom prst="rect">
                <a:avLst/>
              </a:prstGeom>
              <a:blipFill>
                <a:blip r:embed="rId5"/>
                <a:stretch>
                  <a:fillRect l="-252" t="-516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85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评价指标（多分类）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04850" y="1262591"/>
          <a:ext cx="10467974" cy="150918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03393">
                  <a:extLst>
                    <a:ext uri="{9D8B030D-6E8A-4147-A177-3AD203B41FA5}">
                      <a16:colId xmlns:a16="http://schemas.microsoft.com/office/drawing/2014/main" val="640756981"/>
                    </a:ext>
                  </a:extLst>
                </a:gridCol>
                <a:gridCol w="699875">
                  <a:extLst>
                    <a:ext uri="{9D8B030D-6E8A-4147-A177-3AD203B41FA5}">
                      <a16:colId xmlns:a16="http://schemas.microsoft.com/office/drawing/2014/main" val="1152201145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3561790748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1596313982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524406730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1685588766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193968164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978016557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3018403024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3761177680"/>
                    </a:ext>
                  </a:extLst>
                </a:gridCol>
                <a:gridCol w="951634">
                  <a:extLst>
                    <a:ext uri="{9D8B030D-6E8A-4147-A177-3AD203B41FA5}">
                      <a16:colId xmlns:a16="http://schemas.microsoft.com/office/drawing/2014/main" val="3992399775"/>
                    </a:ext>
                  </a:extLst>
                </a:gridCol>
              </a:tblGrid>
              <a:tr h="754592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理论值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925071"/>
                  </a:ext>
                </a:extLst>
              </a:tr>
              <a:tr h="754592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预测值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12154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66" y="2902164"/>
            <a:ext cx="5384071" cy="2571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058670" y="3062617"/>
                <a:ext cx="4802198" cy="3512628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准确率（正确率）：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Accuracy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准确率</m:t>
                      </m:r>
                      <m:r>
                        <a:rPr lang="en-US" altLang="zh-CN" sz="1600" b="1" i="1" dirty="0" smtClean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正确</m:t>
                          </m:r>
                        </m:num>
                        <m:den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总样本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精准率（查准率）：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Precision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 smtClean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精确</m:t>
                      </m:r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率</m:t>
                      </m:r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为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</m:num>
                        <m:den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</m:den>
                      </m:f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召回率（查全率）：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Recall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召回率</m:t>
                      </m:r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正类预测为正类</m:t>
                          </m:r>
                        </m:num>
                        <m:den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实际正类</m:t>
                          </m:r>
                        </m:den>
                      </m:f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F</a:t>
                </a: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值：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F-score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b="1" i="1" dirty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600" b="1" i="1" dirty="0">
                        <a:solidFill>
                          <a:srgbClr val="303338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600" b="1" i="1" dirty="0">
                            <a:solidFill>
                              <a:srgbClr val="303338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 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670" y="3062617"/>
                <a:ext cx="4802198" cy="3512628"/>
              </a:xfrm>
              <a:prstGeom prst="rect">
                <a:avLst/>
              </a:prstGeom>
              <a:blipFill>
                <a:blip r:embed="rId4"/>
                <a:stretch>
                  <a:fillRect l="-262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70E0980-9A23-E2C8-EEBE-AC244F513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773532"/>
              </p:ext>
            </p:extLst>
          </p:nvPr>
        </p:nvGraphicFramePr>
        <p:xfrm>
          <a:off x="3936890" y="4992311"/>
          <a:ext cx="300341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565">
                  <a:extLst>
                    <a:ext uri="{9D8B030D-6E8A-4147-A177-3AD203B41FA5}">
                      <a16:colId xmlns:a16="http://schemas.microsoft.com/office/drawing/2014/main" val="3347995260"/>
                    </a:ext>
                  </a:extLst>
                </a:gridCol>
                <a:gridCol w="980661">
                  <a:extLst>
                    <a:ext uri="{9D8B030D-6E8A-4147-A177-3AD203B41FA5}">
                      <a16:colId xmlns:a16="http://schemas.microsoft.com/office/drawing/2014/main" val="3937183881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02828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TP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  <a:p>
                      <a:r>
                        <a:rPr lang="en-US" altLang="zh-CN" dirty="0"/>
                        <a:t>(FN)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  <a:p>
                      <a:r>
                        <a:rPr lang="en-US" altLang="zh-CN" dirty="0"/>
                        <a:t>(FP)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</a:p>
                    <a:p>
                      <a:r>
                        <a:rPr lang="en-US" altLang="zh-CN" dirty="0"/>
                        <a:t>(TN)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3877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21BE28D-4E03-1278-F392-ECB31A7B0A90}"/>
              </a:ext>
            </a:extLst>
          </p:cNvPr>
          <p:cNvSpPr txBox="1"/>
          <p:nvPr/>
        </p:nvSpPr>
        <p:spPr>
          <a:xfrm>
            <a:off x="1445482" y="5133744"/>
            <a:ext cx="2491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正类：类</a:t>
            </a:r>
            <a:r>
              <a:rPr lang="en-US" altLang="zh-CN" dirty="0"/>
              <a:t>1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负类：类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构造混淆矩阵（类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042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2620756-9D3C-DADF-D14A-59950B964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794308"/>
              </p:ext>
            </p:extLst>
          </p:nvPr>
        </p:nvGraphicFramePr>
        <p:xfrm>
          <a:off x="4650347" y="474868"/>
          <a:ext cx="300341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565">
                  <a:extLst>
                    <a:ext uri="{9D8B030D-6E8A-4147-A177-3AD203B41FA5}">
                      <a16:colId xmlns:a16="http://schemas.microsoft.com/office/drawing/2014/main" val="3347995260"/>
                    </a:ext>
                  </a:extLst>
                </a:gridCol>
                <a:gridCol w="980661">
                  <a:extLst>
                    <a:ext uri="{9D8B030D-6E8A-4147-A177-3AD203B41FA5}">
                      <a16:colId xmlns:a16="http://schemas.microsoft.com/office/drawing/2014/main" val="3937183881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02828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TP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  <a:p>
                      <a:r>
                        <a:rPr lang="en-US" altLang="zh-CN" dirty="0"/>
                        <a:t>(FN)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  <a:p>
                      <a:r>
                        <a:rPr lang="en-US" altLang="zh-CN" dirty="0"/>
                        <a:t>(FP)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</a:p>
                    <a:p>
                      <a:r>
                        <a:rPr lang="en-US" altLang="zh-CN" dirty="0"/>
                        <a:t>(TN)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38777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CD61CCB-1DAF-F667-D261-CE6B007561FE}"/>
              </a:ext>
            </a:extLst>
          </p:cNvPr>
          <p:cNvSpPr txBox="1"/>
          <p:nvPr/>
        </p:nvSpPr>
        <p:spPr>
          <a:xfrm>
            <a:off x="2289568" y="474868"/>
            <a:ext cx="249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正类：类</a:t>
            </a:r>
            <a:r>
              <a:rPr lang="en-US" altLang="zh-CN" dirty="0"/>
              <a:t>1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负类：类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2FD788-4F50-A791-CBC7-3932E011FBBB}"/>
              </a:ext>
            </a:extLst>
          </p:cNvPr>
          <p:cNvSpPr txBox="1"/>
          <p:nvPr/>
        </p:nvSpPr>
        <p:spPr>
          <a:xfrm>
            <a:off x="8041436" y="474868"/>
            <a:ext cx="3725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针对类</a:t>
            </a:r>
            <a:r>
              <a:rPr lang="en-US" altLang="zh-CN" dirty="0"/>
              <a:t>1:</a:t>
            </a:r>
          </a:p>
          <a:p>
            <a:r>
              <a:rPr lang="en-US" altLang="zh-CN" dirty="0"/>
              <a:t>Precision= 2/3 =0.67</a:t>
            </a:r>
          </a:p>
          <a:p>
            <a:r>
              <a:rPr lang="en-US" altLang="zh-CN" dirty="0"/>
              <a:t>Recall = 2/3 =0.67</a:t>
            </a:r>
          </a:p>
          <a:p>
            <a:r>
              <a:rPr lang="en-US" altLang="zh-CN" dirty="0"/>
              <a:t>F1= 2/(3/2+3/2) = 2/3= 0.67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93AEBB-8024-8590-AD04-0F59790A64DF}"/>
              </a:ext>
            </a:extLst>
          </p:cNvPr>
          <p:cNvSpPr txBox="1"/>
          <p:nvPr/>
        </p:nvSpPr>
        <p:spPr>
          <a:xfrm>
            <a:off x="3764403" y="105536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构造混淆矩阵（类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9595BE4-B815-B9DA-BAB4-2D343808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94960"/>
              </p:ext>
            </p:extLst>
          </p:nvPr>
        </p:nvGraphicFramePr>
        <p:xfrm>
          <a:off x="4650347" y="2777030"/>
          <a:ext cx="300341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565">
                  <a:extLst>
                    <a:ext uri="{9D8B030D-6E8A-4147-A177-3AD203B41FA5}">
                      <a16:colId xmlns:a16="http://schemas.microsoft.com/office/drawing/2014/main" val="3347995260"/>
                    </a:ext>
                  </a:extLst>
                </a:gridCol>
                <a:gridCol w="980661">
                  <a:extLst>
                    <a:ext uri="{9D8B030D-6E8A-4147-A177-3AD203B41FA5}">
                      <a16:colId xmlns:a16="http://schemas.microsoft.com/office/drawing/2014/main" val="3937183881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02828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TP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  <a:p>
                      <a:r>
                        <a:rPr lang="en-US" altLang="zh-CN" dirty="0"/>
                        <a:t>(FN)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  <a:p>
                      <a:r>
                        <a:rPr lang="en-US" altLang="zh-CN" dirty="0"/>
                        <a:t>(FP)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</a:p>
                    <a:p>
                      <a:r>
                        <a:rPr lang="en-US" altLang="zh-CN" dirty="0"/>
                        <a:t>(TN)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38777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F9EF243-92EB-C280-16CF-02AC2E3D8DC7}"/>
              </a:ext>
            </a:extLst>
          </p:cNvPr>
          <p:cNvSpPr txBox="1"/>
          <p:nvPr/>
        </p:nvSpPr>
        <p:spPr>
          <a:xfrm>
            <a:off x="2289568" y="2777030"/>
            <a:ext cx="249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正类：类</a:t>
            </a:r>
            <a:r>
              <a:rPr lang="en-US" altLang="zh-CN" dirty="0"/>
              <a:t>2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负类：类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A0F1B6-C0C4-2D76-7B9E-1855825077B8}"/>
              </a:ext>
            </a:extLst>
          </p:cNvPr>
          <p:cNvSpPr txBox="1"/>
          <p:nvPr/>
        </p:nvSpPr>
        <p:spPr>
          <a:xfrm>
            <a:off x="8041436" y="2777030"/>
            <a:ext cx="3725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针对类</a:t>
            </a:r>
            <a:r>
              <a:rPr lang="en-US" altLang="zh-CN" dirty="0"/>
              <a:t>2:</a:t>
            </a:r>
          </a:p>
          <a:p>
            <a:r>
              <a:rPr lang="en-US" altLang="zh-CN" dirty="0"/>
              <a:t>Precision = 2/4 =0.5</a:t>
            </a:r>
          </a:p>
          <a:p>
            <a:r>
              <a:rPr lang="en-US" altLang="zh-CN" dirty="0"/>
              <a:t>Recall</a:t>
            </a:r>
            <a:r>
              <a:rPr lang="zh-CN" altLang="en-US" dirty="0"/>
              <a:t> </a:t>
            </a:r>
            <a:r>
              <a:rPr lang="en-US" altLang="zh-CN" dirty="0"/>
              <a:t>= 2/3 =0.67</a:t>
            </a:r>
          </a:p>
          <a:p>
            <a:r>
              <a:rPr lang="en-US" altLang="zh-CN" dirty="0"/>
              <a:t>F1= 2/(3/2+4/2) = 4/7= 0.57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207003-E405-BF02-892E-77F67909B910}"/>
              </a:ext>
            </a:extLst>
          </p:cNvPr>
          <p:cNvSpPr txBox="1"/>
          <p:nvPr/>
        </p:nvSpPr>
        <p:spPr>
          <a:xfrm>
            <a:off x="4780976" y="2451449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构造混淆矩阵（类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08773EF-9337-E19C-FD86-924342EC5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257829"/>
              </p:ext>
            </p:extLst>
          </p:nvPr>
        </p:nvGraphicFramePr>
        <p:xfrm>
          <a:off x="4650347" y="4894526"/>
          <a:ext cx="300341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565">
                  <a:extLst>
                    <a:ext uri="{9D8B030D-6E8A-4147-A177-3AD203B41FA5}">
                      <a16:colId xmlns:a16="http://schemas.microsoft.com/office/drawing/2014/main" val="3347995260"/>
                    </a:ext>
                  </a:extLst>
                </a:gridCol>
                <a:gridCol w="980661">
                  <a:extLst>
                    <a:ext uri="{9D8B030D-6E8A-4147-A177-3AD203B41FA5}">
                      <a16:colId xmlns:a16="http://schemas.microsoft.com/office/drawing/2014/main" val="3937183881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02828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TP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  <a:p>
                      <a:r>
                        <a:rPr lang="en-US" altLang="zh-CN" dirty="0"/>
                        <a:t>(FN)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  <a:p>
                      <a:r>
                        <a:rPr lang="en-US" altLang="zh-CN" dirty="0"/>
                        <a:t>(FP)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</a:p>
                    <a:p>
                      <a:r>
                        <a:rPr lang="en-US" altLang="zh-CN" dirty="0"/>
                        <a:t>(TN)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38777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FCCB4C2-FA08-FFB1-4050-6723630933D1}"/>
              </a:ext>
            </a:extLst>
          </p:cNvPr>
          <p:cNvSpPr txBox="1"/>
          <p:nvPr/>
        </p:nvSpPr>
        <p:spPr>
          <a:xfrm>
            <a:off x="2289568" y="4894526"/>
            <a:ext cx="249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正类：类</a:t>
            </a:r>
            <a:r>
              <a:rPr lang="en-US" altLang="zh-CN" dirty="0"/>
              <a:t>3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负类：类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B1CB85-1AB9-53FF-8DF4-7341CB4B11E0}"/>
              </a:ext>
            </a:extLst>
          </p:cNvPr>
          <p:cNvSpPr txBox="1"/>
          <p:nvPr/>
        </p:nvSpPr>
        <p:spPr>
          <a:xfrm>
            <a:off x="8041436" y="4894526"/>
            <a:ext cx="3725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针对类</a:t>
            </a:r>
            <a:r>
              <a:rPr lang="en-US" altLang="zh-CN" dirty="0"/>
              <a:t>3:</a:t>
            </a:r>
          </a:p>
          <a:p>
            <a:r>
              <a:rPr lang="en-US" altLang="zh-CN" dirty="0"/>
              <a:t>Precision = 2/3 =0.67 </a:t>
            </a:r>
          </a:p>
          <a:p>
            <a:r>
              <a:rPr lang="en-US" altLang="zh-CN" dirty="0"/>
              <a:t>Recall</a:t>
            </a:r>
            <a:r>
              <a:rPr lang="zh-CN" altLang="en-US"/>
              <a:t> </a:t>
            </a:r>
            <a:r>
              <a:rPr lang="en-US" altLang="zh-CN"/>
              <a:t>= 2/4 =0.5</a:t>
            </a:r>
            <a:endParaRPr lang="en-US" altLang="zh-CN" dirty="0"/>
          </a:p>
          <a:p>
            <a:r>
              <a:rPr lang="en-US" altLang="zh-CN" dirty="0"/>
              <a:t>F1= 2/(3/2+4/2) = 4/7= 0.57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0C3408-494C-26ED-947C-0C10897590C9}"/>
              </a:ext>
            </a:extLst>
          </p:cNvPr>
          <p:cNvSpPr txBox="1"/>
          <p:nvPr/>
        </p:nvSpPr>
        <p:spPr>
          <a:xfrm>
            <a:off x="4780976" y="4568945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构造混淆矩阵（类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773957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8EF78-AAE4-717F-BEC9-6EB35098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截断</a:t>
            </a:r>
            <a:r>
              <a:rPr kumimoji="1" lang="en-US" altLang="zh-CN" dirty="0"/>
              <a:t>/</a:t>
            </a:r>
            <a:r>
              <a:rPr kumimoji="1" lang="zh-CN" altLang="en-US" dirty="0"/>
              <a:t>阀值概率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9FC358-DE8E-629D-C5BD-9ADEB7F28B7B}"/>
                  </a:ext>
                </a:extLst>
              </p:cNvPr>
              <p:cNvSpPr txBox="1"/>
              <p:nvPr/>
            </p:nvSpPr>
            <p:spPr>
              <a:xfrm>
                <a:off x="838200" y="1564620"/>
                <a:ext cx="10515600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/>
                  <a:t>逻辑回归模型输出是概率分布，预测概率的截断</a:t>
                </a:r>
                <a:r>
                  <a:rPr lang="en-US" altLang="zh-CN" sz="2000" dirty="0"/>
                  <a:t>/</a:t>
                </a:r>
                <a:r>
                  <a:rPr lang="zh-CN" altLang="en-US" sz="2000" dirty="0"/>
                  <a:t>阀值的设定很重要的。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通常被设置为</a:t>
                </a:r>
                <a:r>
                  <a:rPr lang="en-US" altLang="zh-CN" sz="2000" dirty="0"/>
                  <a:t>50%</a:t>
                </a:r>
                <a:r>
                  <a:rPr lang="zh-CN" altLang="en-US" sz="2000" dirty="0"/>
                  <a:t>：</a:t>
                </a:r>
                <a:endParaRPr lang="en-US" altLang="zh-CN" sz="2000" dirty="0"/>
              </a:p>
              <a:p>
                <a:r>
                  <a:rPr lang="zh-CN" altLang="en-US" sz="2000" b="1" dirty="0"/>
                  <a:t>    </a:t>
                </a:r>
                <a:r>
                  <a:rPr lang="en-US" altLang="zh-CN" sz="20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&gt;50%</m:t>
                    </m:r>
                  </m:oMath>
                </a14:m>
                <a:r>
                  <a:rPr lang="zh-CN" altLang="en-US" sz="2000" dirty="0"/>
                  <a:t>时，结果预测为正类别（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r>
                  <a:rPr lang="zh-CN" altLang="en-US" sz="2000" b="1" dirty="0"/>
                  <a:t>    </a:t>
                </a:r>
                <a:r>
                  <a:rPr lang="en-US" altLang="zh-CN" sz="20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&lt;50%</m:t>
                    </m:r>
                  </m:oMath>
                </a14:m>
                <a:r>
                  <a:rPr lang="zh-CN" altLang="en-US" sz="2000" dirty="0"/>
                  <a:t>时，结果预测为负类别（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如果阀值很低，模型将预测较多正类别，召回率较高</a:t>
                </a:r>
                <a:endParaRPr lang="en-US" altLang="zh-CN" sz="2000" dirty="0"/>
              </a:p>
              <a:p>
                <a:r>
                  <a:rPr lang="zh-CN" altLang="en-US" sz="2000" dirty="0"/>
                  <a:t>如果阀值很高，模型将预测较少正类别（可能漏掉正样本），召回率较低，但精度会较高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ROC</a:t>
                </a:r>
                <a:r>
                  <a:rPr lang="zh-CN" altLang="en-US" sz="2000" dirty="0"/>
                  <a:t>曲线有助于确定适合的阀值。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9FC358-DE8E-629D-C5BD-9ADEB7F28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64620"/>
                <a:ext cx="10515600" cy="3170099"/>
              </a:xfrm>
              <a:prstGeom prst="rect">
                <a:avLst/>
              </a:prstGeom>
              <a:blipFill>
                <a:blip r:embed="rId2"/>
                <a:stretch>
                  <a:fillRect l="-724" t="-1200" b="-2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26DE6D9-56D1-0B08-9353-253DB1E55471}"/>
                  </a:ext>
                </a:extLst>
              </p:cNvPr>
              <p:cNvSpPr txBox="1"/>
              <p:nvPr/>
            </p:nvSpPr>
            <p:spPr>
              <a:xfrm>
                <a:off x="5218044" y="4508392"/>
                <a:ext cx="6135756" cy="1770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精准率（查准率）：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Precision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 smtClean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精确</m:t>
                      </m:r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率</m:t>
                      </m:r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为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</m:num>
                        <m:den>
                          <m:r>
                            <a:rPr lang="zh-CN" altLang="en-US" sz="1600" b="1" i="1" dirty="0" smtClean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预测</m:t>
                          </m:r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</m:t>
                          </m:r>
                        </m:den>
                      </m:f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u"/>
                </a:pPr>
                <a:r>
                  <a:rPr lang="zh-CN" altLang="en-US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召回率（查全率）：</a:t>
                </a:r>
                <a:r>
                  <a:rPr lang="en-US" altLang="zh-CN" sz="1600" b="1" dirty="0">
                    <a:solidFill>
                      <a:srgbClr val="303338"/>
                    </a:solidFill>
                    <a:latin typeface="Open Sans" panose="020B0606030504020204" pitchFamily="34" charset="0"/>
                  </a:rPr>
                  <a:t>Recall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召回率</m:t>
                      </m:r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正类预测为正类</m:t>
                          </m:r>
                        </m:num>
                        <m:den>
                          <m:r>
                            <a:rPr lang="zh-CN" altLang="en-US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实际正类</m:t>
                          </m:r>
                        </m:den>
                      </m:f>
                      <m:r>
                        <a:rPr lang="en-US" altLang="zh-CN" sz="1600" b="1" i="1" dirty="0">
                          <a:solidFill>
                            <a:srgbClr val="3033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solidFill>
                                <a:srgbClr val="303338"/>
                              </a:solidFill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</m:oMath>
                  </m:oMathPara>
                </a14:m>
                <a:endParaRPr lang="en-US" altLang="zh-CN" sz="1600" b="1" dirty="0">
                  <a:solidFill>
                    <a:srgbClr val="303338"/>
                  </a:solidFill>
                  <a:latin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26DE6D9-56D1-0B08-9353-253DB1E55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044" y="4508392"/>
                <a:ext cx="6135756" cy="1770485"/>
              </a:xfrm>
              <a:prstGeom prst="rect">
                <a:avLst/>
              </a:prstGeom>
              <a:blipFill>
                <a:blip r:embed="rId3"/>
                <a:stretch>
                  <a:fillRect l="-412" t="-1429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5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206F7-0CAF-FFFF-155D-C576F6D4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RUC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2C5A5C-ED51-2787-007F-363D45CCB95C}"/>
              </a:ext>
            </a:extLst>
          </p:cNvPr>
          <p:cNvSpPr txBox="1"/>
          <p:nvPr/>
        </p:nvSpPr>
        <p:spPr>
          <a:xfrm>
            <a:off x="424525" y="1617630"/>
            <a:ext cx="10945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ROC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曲线</a:t>
            </a: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：</a:t>
            </a:r>
            <a:r>
              <a:rPr lang="en-US" altLang="zh-CN" sz="2400" dirty="0"/>
              <a:t>ROC</a:t>
            </a:r>
            <a:r>
              <a:rPr lang="zh-CN" altLang="en-US" sz="2400" dirty="0"/>
              <a:t>（</a:t>
            </a:r>
            <a:r>
              <a:rPr lang="en-US" altLang="zh-CN" sz="2400" dirty="0"/>
              <a:t>Receiver Operating Characteristic</a:t>
            </a:r>
            <a:r>
              <a:rPr lang="zh-CN" altLang="en-US" sz="2400" dirty="0"/>
              <a:t>）</a:t>
            </a:r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曲线，是通过遍历所有阈值来绘制整条曲线的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8ECAA6-B501-B5F9-FFB7-2AC39FB19EB1}"/>
              </a:ext>
            </a:extLst>
          </p:cNvPr>
          <p:cNvSpPr txBox="1"/>
          <p:nvPr/>
        </p:nvSpPr>
        <p:spPr>
          <a:xfrm>
            <a:off x="6023089" y="2325786"/>
            <a:ext cx="58414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121212"/>
                </a:solidFill>
                <a:latin typeface="-apple-system"/>
              </a:rPr>
              <a:t>FPR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</a:rPr>
              <a:t>：负类样本中被判定为正类的比例（假阳率）</a:t>
            </a:r>
            <a:endParaRPr lang="en-US" altLang="zh-CN" sz="2000" b="1" dirty="0">
              <a:solidFill>
                <a:srgbClr val="121212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121212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121212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121212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121212"/>
                </a:solidFill>
                <a:latin typeface="-apple-system"/>
              </a:rPr>
              <a:t>TPR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</a:rPr>
              <a:t>：正类样本中被判定为正类的样本</a:t>
            </a:r>
            <a:r>
              <a:rPr lang="zh-CN" altLang="en-US" sz="1600" b="1" dirty="0">
                <a:solidFill>
                  <a:srgbClr val="121212"/>
                </a:solidFill>
                <a:latin typeface="-apple-system"/>
              </a:rPr>
              <a:t>（命中率）</a:t>
            </a:r>
            <a:endParaRPr lang="zh-CN" altLang="en-US" sz="1600" b="1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D684EF3-F632-5A4C-C469-0E1FAB4F9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487" y="2680862"/>
            <a:ext cx="1930400" cy="6477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4525E5C-D73D-95AC-43D2-5BB30BBB3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287" y="3957002"/>
            <a:ext cx="1828800" cy="622300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89D8074-FB7E-7C52-10CE-1FCDD466D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09933"/>
              </p:ext>
            </p:extLst>
          </p:nvPr>
        </p:nvGraphicFramePr>
        <p:xfrm>
          <a:off x="7098594" y="4770550"/>
          <a:ext cx="30034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565">
                  <a:extLst>
                    <a:ext uri="{9D8B030D-6E8A-4147-A177-3AD203B41FA5}">
                      <a16:colId xmlns:a16="http://schemas.microsoft.com/office/drawing/2014/main" val="3347995260"/>
                    </a:ext>
                  </a:extLst>
                </a:gridCol>
                <a:gridCol w="980661">
                  <a:extLst>
                    <a:ext uri="{9D8B030D-6E8A-4147-A177-3AD203B41FA5}">
                      <a16:colId xmlns:a16="http://schemas.microsoft.com/office/drawing/2014/main" val="3937183881"/>
                    </a:ext>
                  </a:extLst>
                </a:gridCol>
                <a:gridCol w="1166191">
                  <a:extLst>
                    <a:ext uri="{9D8B030D-6E8A-4147-A177-3AD203B41FA5}">
                      <a16:colId xmlns:a16="http://schemas.microsoft.com/office/drawing/2014/main" val="302828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FN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</a:t>
                      </a:r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38777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3DFA8155-E1B1-0A26-2B61-54CCD9189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25" y="2560672"/>
            <a:ext cx="5459440" cy="385487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4A9CE6A-BCC9-F437-BAC3-1B972B965164}"/>
              </a:ext>
            </a:extLst>
          </p:cNvPr>
          <p:cNvSpPr txBox="1"/>
          <p:nvPr/>
        </p:nvSpPr>
        <p:spPr>
          <a:xfrm>
            <a:off x="5234608" y="6175767"/>
            <a:ext cx="613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可以选择在召回率和精度之间处于平衡的阀值</a:t>
            </a:r>
          </a:p>
        </p:txBody>
      </p:sp>
    </p:spTree>
    <p:extLst>
      <p:ext uri="{BB962C8B-B14F-4D97-AF65-F5344CB8AC3E}">
        <p14:creationId xmlns:p14="http://schemas.microsoft.com/office/powerpoint/2010/main" val="271506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AUC</a:t>
            </a:r>
            <a:r>
              <a:rPr lang="zh-CN" altLang="en-US" dirty="0"/>
              <a:t>值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14" y="3429000"/>
            <a:ext cx="4716626" cy="31572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A4447F-C364-DC2E-144A-0230DACB3AD0}"/>
              </a:ext>
            </a:extLst>
          </p:cNvPr>
          <p:cNvSpPr txBox="1"/>
          <p:nvPr/>
        </p:nvSpPr>
        <p:spPr>
          <a:xfrm>
            <a:off x="233808" y="1240067"/>
            <a:ext cx="94748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AUC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-apple-system"/>
              </a:rPr>
              <a:t>：是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ROC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-apple-system"/>
              </a:rPr>
              <a:t>曲线与横坐标（即假阳性率）所夹的面积</a:t>
            </a:r>
            <a:endParaRPr lang="en-US" altLang="zh-CN" sz="2400" b="0" i="0" dirty="0">
              <a:solidFill>
                <a:srgbClr val="191B1F"/>
              </a:solidFill>
              <a:effectLst/>
              <a:latin typeface="-apple-system"/>
            </a:endParaRPr>
          </a:p>
          <a:p>
            <a:endParaRPr lang="en-US" altLang="zh-CN" sz="2400" dirty="0">
              <a:solidFill>
                <a:srgbClr val="191B1F"/>
              </a:solidFill>
              <a:latin typeface="-apple-system"/>
            </a:endParaRPr>
          </a:p>
          <a:p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通常，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AUC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的值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0.5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到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1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之间。</a:t>
            </a:r>
            <a:endParaRPr lang="en-US" altLang="zh-CN" sz="2400" b="0" i="0" dirty="0">
              <a:solidFill>
                <a:srgbClr val="191B1F"/>
              </a:solidFill>
              <a:effectLst/>
              <a:latin typeface="-apple-system"/>
            </a:endParaRPr>
          </a:p>
          <a:p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   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AUC=0.5: ROC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是对角线，表示正负样本都是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50%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，随机效果</a:t>
            </a:r>
            <a:endParaRPr lang="en-US" altLang="zh-CN" sz="2400" dirty="0">
              <a:solidFill>
                <a:srgbClr val="191B1F"/>
              </a:solidFill>
              <a:latin typeface="-apple-system"/>
            </a:endParaRPr>
          </a:p>
          <a:p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   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AUC=1: 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   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ROC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最陡峭，</a:t>
            </a:r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ROC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与横轴形成正方形</a:t>
            </a:r>
            <a:endParaRPr lang="en-US" altLang="zh-CN" sz="2400" dirty="0">
              <a:solidFill>
                <a:srgbClr val="191B1F"/>
              </a:solidFill>
              <a:latin typeface="-apple-system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5CE32D-E337-C27C-29E0-0726CD5E85C2}"/>
              </a:ext>
            </a:extLst>
          </p:cNvPr>
          <p:cNvSpPr txBox="1"/>
          <p:nvPr/>
        </p:nvSpPr>
        <p:spPr>
          <a:xfrm>
            <a:off x="5391741" y="3844105"/>
            <a:ext cx="6029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AUC的一般判断标准：</a:t>
            </a:r>
          </a:p>
          <a:p>
            <a:endParaRPr lang="zh-CN" altLang="en-US" sz="2000" dirty="0"/>
          </a:p>
          <a:p>
            <a:r>
              <a:rPr lang="zh-CN" altLang="en-US" sz="2000" dirty="0"/>
              <a:t>0.5 - 0.7：效果较低，但用于预测股票已经很不错了</a:t>
            </a:r>
          </a:p>
          <a:p>
            <a:r>
              <a:rPr lang="zh-CN" altLang="en-US" sz="2000" dirty="0"/>
              <a:t>0.7 - 0.85：效果一般</a:t>
            </a:r>
          </a:p>
          <a:p>
            <a:r>
              <a:rPr lang="zh-CN" altLang="en-US" sz="2000" dirty="0"/>
              <a:t>0.85 - 0.95：效果很好</a:t>
            </a:r>
          </a:p>
          <a:p>
            <a:r>
              <a:rPr lang="zh-CN" altLang="en-US" sz="2000" dirty="0"/>
              <a:t>0.95 - 1：效果非常好，但一般不太可能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13088F-1397-0E81-275B-431EC0CF0199}"/>
              </a:ext>
            </a:extLst>
          </p:cNvPr>
          <p:cNvSpPr txBox="1"/>
          <p:nvPr/>
        </p:nvSpPr>
        <p:spPr>
          <a:xfrm>
            <a:off x="8406610" y="992731"/>
            <a:ext cx="35515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21212"/>
                </a:solidFill>
                <a:latin typeface="-apple-system"/>
              </a:rPr>
              <a:t>我们希望假阳率</a:t>
            </a:r>
            <a:r>
              <a:rPr lang="en-US" altLang="zh-CN" sz="2000" b="1" dirty="0">
                <a:solidFill>
                  <a:srgbClr val="121212"/>
                </a:solidFill>
                <a:latin typeface="-apple-system"/>
              </a:rPr>
              <a:t>FPR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</a:rPr>
              <a:t>越低越好，命中率</a:t>
            </a:r>
            <a:r>
              <a:rPr lang="en-US" altLang="zh-CN" sz="2000" b="1" dirty="0">
                <a:solidFill>
                  <a:srgbClr val="121212"/>
                </a:solidFill>
                <a:latin typeface="-apple-system"/>
              </a:rPr>
              <a:t>TPR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</a:rPr>
              <a:t>越高越好</a:t>
            </a:r>
            <a:endParaRPr lang="en-US" altLang="zh-CN" sz="2000" b="1" dirty="0">
              <a:solidFill>
                <a:srgbClr val="121212"/>
              </a:solidFill>
              <a:latin typeface="-apple-system"/>
            </a:endParaRPr>
          </a:p>
          <a:p>
            <a:r>
              <a:rPr lang="zh-CN" altLang="en-US" sz="2000" b="1" dirty="0">
                <a:solidFill>
                  <a:srgbClr val="121212"/>
                </a:solidFill>
                <a:latin typeface="-apple-system"/>
              </a:rPr>
              <a:t>即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真正率越高，同时假正率越低（即</a:t>
            </a:r>
            <a:r>
              <a:rPr lang="en-US" altLang="zh-CN" sz="2000" dirty="0"/>
              <a:t>ROC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曲线越陡）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7284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6656</TotalTime>
  <Words>1050</Words>
  <Application>Microsoft Macintosh PowerPoint</Application>
  <PresentationFormat>宽屏</PresentationFormat>
  <Paragraphs>243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-apple-system</vt:lpstr>
      <vt:lpstr>等线</vt:lpstr>
      <vt:lpstr>等线 Light</vt:lpstr>
      <vt:lpstr>Arial</vt:lpstr>
      <vt:lpstr>Cambria Math</vt:lpstr>
      <vt:lpstr>Open Sans</vt:lpstr>
      <vt:lpstr>Wingdings</vt:lpstr>
      <vt:lpstr>Office 主题​​</vt:lpstr>
      <vt:lpstr>Part Three 模型评价指标</vt:lpstr>
      <vt:lpstr>评价指标</vt:lpstr>
      <vt:lpstr>评价指标（多分类）</vt:lpstr>
      <vt:lpstr>PowerPoint 演示文稿</vt:lpstr>
      <vt:lpstr>截断/阀值概率</vt:lpstr>
      <vt:lpstr>RUC</vt:lpstr>
      <vt:lpstr>AUC值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744</cp:revision>
  <dcterms:created xsi:type="dcterms:W3CDTF">2021-11-17T13:21:01Z</dcterms:created>
  <dcterms:modified xsi:type="dcterms:W3CDTF">2025-07-26T13:59:14Z</dcterms:modified>
</cp:coreProperties>
</file>
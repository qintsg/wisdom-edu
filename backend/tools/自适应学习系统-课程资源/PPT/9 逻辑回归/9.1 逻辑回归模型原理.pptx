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91" r:id="rId3"/>
    <p:sldId id="296" r:id="rId4"/>
    <p:sldId id="311" r:id="rId5"/>
    <p:sldId id="272" r:id="rId6"/>
    <p:sldId id="275" r:id="rId7"/>
    <p:sldId id="292" r:id="rId8"/>
    <p:sldId id="312" r:id="rId9"/>
    <p:sldId id="313" r:id="rId10"/>
    <p:sldId id="290" r:id="rId11"/>
    <p:sldId id="289"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419B"/>
    <a:srgbClr val="116A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93" autoAdjust="0"/>
    <p:restoredTop sz="84780"/>
  </p:normalViewPr>
  <p:slideViewPr>
    <p:cSldViewPr snapToGrid="0" showGuides="1">
      <p:cViewPr varScale="1">
        <p:scale>
          <a:sx n="106" d="100"/>
          <a:sy n="106" d="100"/>
        </p:scale>
        <p:origin x="200" y="176"/>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34611B-D63D-4827-9508-62293A02981D}" type="datetimeFigureOut">
              <a:rPr lang="zh-CN" altLang="en-US" smtClean="0"/>
              <a:t>2025/7/26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FB7F5E-4F88-4111-B208-2F260B30BFD4}" type="slidenum">
              <a:rPr lang="zh-CN" altLang="en-US" smtClean="0"/>
              <a:t>‹#›</a:t>
            </a:fld>
            <a:endParaRPr lang="zh-CN" altLang="en-US"/>
          </a:p>
        </p:txBody>
      </p:sp>
    </p:spTree>
    <p:extLst>
      <p:ext uri="{BB962C8B-B14F-4D97-AF65-F5344CB8AC3E}">
        <p14:creationId xmlns:p14="http://schemas.microsoft.com/office/powerpoint/2010/main" val="2588663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4FB7F5E-4F88-4111-B208-2F260B30BFD4}" type="slidenum">
              <a:rPr lang="zh-CN" altLang="en-US" smtClean="0"/>
              <a:t>4</a:t>
            </a:fld>
            <a:endParaRPr lang="zh-CN" altLang="en-US"/>
          </a:p>
        </p:txBody>
      </p:sp>
    </p:spTree>
    <p:extLst>
      <p:ext uri="{BB962C8B-B14F-4D97-AF65-F5344CB8AC3E}">
        <p14:creationId xmlns:p14="http://schemas.microsoft.com/office/powerpoint/2010/main" val="2141777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5073B"/>
                </a:solidFill>
                <a:effectLst/>
                <a:latin typeface="-apple-system"/>
              </a:rPr>
              <a:t>线性回归：是利用数理统计中的回归分析，来确定两种或两种以上变量间相互依赖的定量关系的一种统计分析方法。</a:t>
            </a:r>
            <a:endParaRPr lang="en-US" altLang="zh-CN" b="0" i="0" dirty="0">
              <a:solidFill>
                <a:srgbClr val="05073B"/>
              </a:solidFill>
              <a:effectLst/>
              <a:latin typeface="-apple-system"/>
            </a:endParaRPr>
          </a:p>
          <a:p>
            <a:pPr algn="l">
              <a:buFont typeface="Arial" panose="020B0604020202020204" pitchFamily="34" charset="0"/>
              <a:buChar char="•"/>
            </a:pPr>
            <a:r>
              <a:rPr lang="zh-CN" altLang="en-US" b="0" i="0" dirty="0">
                <a:solidFill>
                  <a:srgbClr val="05073B"/>
                </a:solidFill>
                <a:effectLst/>
                <a:latin typeface="PingFang-SC-Regular" panose="020B0400000000000000" pitchFamily="34" charset="-122"/>
                <a:ea typeface="PingFang-SC-Regular" panose="020B0400000000000000" pitchFamily="34" charset="-122"/>
              </a:rPr>
              <a:t>逻辑回归：是一种广义的线性回归分析模型，但不同于传统的线性回归模型，它主要用于解决二分类问题。逻辑回归通过逻辑函数（通常是</a:t>
            </a:r>
            <a:r>
              <a:rPr lang="en-US" altLang="zh-CN" b="0" i="0" dirty="0">
                <a:solidFill>
                  <a:srgbClr val="05073B"/>
                </a:solidFill>
                <a:effectLst/>
                <a:latin typeface="PingFang-SC-Regular" panose="020B0400000000000000" pitchFamily="34" charset="-122"/>
                <a:ea typeface="PingFang-SC-Regular" panose="020B0400000000000000" pitchFamily="34" charset="-122"/>
              </a:rPr>
              <a:t>sigmoid</a:t>
            </a:r>
            <a:r>
              <a:rPr lang="zh-CN" altLang="en-US" b="0" i="0" dirty="0">
                <a:solidFill>
                  <a:srgbClr val="05073B"/>
                </a:solidFill>
                <a:effectLst/>
                <a:latin typeface="PingFang-SC-Regular" panose="020B0400000000000000" pitchFamily="34" charset="-122"/>
                <a:ea typeface="PingFang-SC-Regular" panose="020B0400000000000000" pitchFamily="34" charset="-122"/>
              </a:rPr>
              <a:t>函数）将线性回归的输出映射到</a:t>
            </a:r>
            <a:r>
              <a:rPr lang="en-US" altLang="zh-CN" b="0" i="0" dirty="0">
                <a:solidFill>
                  <a:srgbClr val="05073B"/>
                </a:solidFill>
                <a:effectLst/>
                <a:latin typeface="PingFang-SC-Regular" panose="020B0400000000000000" pitchFamily="34" charset="-122"/>
                <a:ea typeface="PingFang-SC-Regular" panose="020B0400000000000000" pitchFamily="34" charset="-122"/>
              </a:rPr>
              <a:t>[0,1]</a:t>
            </a:r>
            <a:r>
              <a:rPr lang="zh-CN" altLang="en-US" b="0" i="0" dirty="0">
                <a:solidFill>
                  <a:srgbClr val="05073B"/>
                </a:solidFill>
                <a:effectLst/>
                <a:latin typeface="PingFang-SC-Regular" panose="020B0400000000000000" pitchFamily="34" charset="-122"/>
                <a:ea typeface="PingFang-SC-Regular" panose="020B0400000000000000" pitchFamily="34" charset="-122"/>
              </a:rPr>
              <a:t>之间，表示某个事件发生的概率。</a:t>
            </a:r>
          </a:p>
          <a:p>
            <a:pPr algn="l"/>
            <a:r>
              <a:rPr lang="zh-CN" altLang="en-US" b="0" i="0" dirty="0">
                <a:solidFill>
                  <a:srgbClr val="05073B"/>
                </a:solidFill>
                <a:effectLst/>
                <a:latin typeface="-apple-system"/>
              </a:rPr>
              <a:t>线性回归是回归分析的基础，而逻辑回归则是在线性回归的基础上，通过逻辑函数进行转换，以适用于二分类问题</a:t>
            </a:r>
          </a:p>
          <a:p>
            <a:endParaRPr kumimoji="1" lang="zh-CN" altLang="en-US" dirty="0"/>
          </a:p>
        </p:txBody>
      </p:sp>
      <p:sp>
        <p:nvSpPr>
          <p:cNvPr id="4" name="灯片编号占位符 3"/>
          <p:cNvSpPr>
            <a:spLocks noGrp="1"/>
          </p:cNvSpPr>
          <p:nvPr>
            <p:ph type="sldNum" sz="quarter" idx="5"/>
          </p:nvPr>
        </p:nvSpPr>
        <p:spPr/>
        <p:txBody>
          <a:bodyPr/>
          <a:lstStyle/>
          <a:p>
            <a:fld id="{64FB7F5E-4F88-4111-B208-2F260B30BFD4}" type="slidenum">
              <a:rPr lang="zh-CN" altLang="en-US" smtClean="0"/>
              <a:t>5</a:t>
            </a:fld>
            <a:endParaRPr lang="zh-CN" altLang="en-US"/>
          </a:p>
        </p:txBody>
      </p:sp>
    </p:spTree>
    <p:extLst>
      <p:ext uri="{BB962C8B-B14F-4D97-AF65-F5344CB8AC3E}">
        <p14:creationId xmlns:p14="http://schemas.microsoft.com/office/powerpoint/2010/main" val="9522590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4FB7F5E-4F88-4111-B208-2F260B30BFD4}" type="slidenum">
              <a:rPr lang="zh-CN" altLang="en-US" smtClean="0"/>
              <a:t>6</a:t>
            </a:fld>
            <a:endParaRPr lang="zh-CN" altLang="en-US"/>
          </a:p>
        </p:txBody>
      </p:sp>
    </p:spTree>
    <p:extLst>
      <p:ext uri="{BB962C8B-B14F-4D97-AF65-F5344CB8AC3E}">
        <p14:creationId xmlns:p14="http://schemas.microsoft.com/office/powerpoint/2010/main" val="824191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4FB7F5E-4F88-4111-B208-2F260B30BFD4}" type="slidenum">
              <a:rPr lang="zh-CN" altLang="en-US" smtClean="0"/>
              <a:t>8</a:t>
            </a:fld>
            <a:endParaRPr lang="zh-CN" altLang="en-US"/>
          </a:p>
        </p:txBody>
      </p:sp>
    </p:spTree>
    <p:extLst>
      <p:ext uri="{BB962C8B-B14F-4D97-AF65-F5344CB8AC3E}">
        <p14:creationId xmlns:p14="http://schemas.microsoft.com/office/powerpoint/2010/main" val="561265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4FB7F5E-4F88-4111-B208-2F260B30BFD4}" type="slidenum">
              <a:rPr lang="zh-CN" altLang="en-US" smtClean="0"/>
              <a:t>10</a:t>
            </a:fld>
            <a:endParaRPr lang="zh-CN" altLang="en-US"/>
          </a:p>
        </p:txBody>
      </p:sp>
    </p:spTree>
    <p:extLst>
      <p:ext uri="{BB962C8B-B14F-4D97-AF65-F5344CB8AC3E}">
        <p14:creationId xmlns:p14="http://schemas.microsoft.com/office/powerpoint/2010/main" val="14382551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9118720A-802B-4124-A8FE-D6F5FDE41EA1}"/>
              </a:ext>
            </a:extLst>
          </p:cNvPr>
          <p:cNvSpPr>
            <a:spLocks noGrp="1"/>
          </p:cNvSpPr>
          <p:nvPr>
            <p:ph type="sldNum" sz="quarter" idx="12"/>
          </p:nvPr>
        </p:nvSpPr>
        <p:spPr/>
        <p:txBody>
          <a:bodyPr/>
          <a:lstStyle/>
          <a:p>
            <a:fld id="{292A5E09-60C7-49E8-A9DF-8D1D9F6D10CD}" type="slidenum">
              <a:rPr lang="zh-CN" altLang="en-US" smtClean="0"/>
              <a:t>‹#›</a:t>
            </a:fld>
            <a:endParaRPr lang="zh-CN" altLang="en-US"/>
          </a:p>
        </p:txBody>
      </p:sp>
      <p:cxnSp>
        <p:nvCxnSpPr>
          <p:cNvPr id="5" name="直接连接符 4">
            <a:extLst>
              <a:ext uri="{FF2B5EF4-FFF2-40B4-BE49-F238E27FC236}">
                <a16:creationId xmlns:a16="http://schemas.microsoft.com/office/drawing/2014/main" id="{C1B39824-60B1-4087-9654-852D1F012284}"/>
              </a:ext>
            </a:extLst>
          </p:cNvPr>
          <p:cNvCxnSpPr>
            <a:cxnSpLocks/>
          </p:cNvCxnSpPr>
          <p:nvPr userDrawn="1"/>
        </p:nvCxnSpPr>
        <p:spPr>
          <a:xfrm>
            <a:off x="0" y="829334"/>
            <a:ext cx="9525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980355FC-FEB3-439F-8098-5C06013AAE42}"/>
              </a:ext>
            </a:extLst>
          </p:cNvPr>
          <p:cNvSpPr/>
          <p:nvPr userDrawn="1"/>
        </p:nvSpPr>
        <p:spPr>
          <a:xfrm>
            <a:off x="0" y="829334"/>
            <a:ext cx="1028700" cy="275566"/>
          </a:xfrm>
          <a:prstGeom prst="rect">
            <a:avLst/>
          </a:prstGeom>
          <a:solidFill>
            <a:srgbClr val="0B419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占位符 1">
            <a:extLst>
              <a:ext uri="{FF2B5EF4-FFF2-40B4-BE49-F238E27FC236}">
                <a16:creationId xmlns:a16="http://schemas.microsoft.com/office/drawing/2014/main" id="{E097D3BA-A3ED-4163-977C-3D2326AEAF0A}"/>
              </a:ext>
            </a:extLst>
          </p:cNvPr>
          <p:cNvSpPr>
            <a:spLocks noGrp="1"/>
          </p:cNvSpPr>
          <p:nvPr>
            <p:ph type="title"/>
          </p:nvPr>
        </p:nvSpPr>
        <p:spPr>
          <a:xfrm>
            <a:off x="133941" y="110649"/>
            <a:ext cx="10515600" cy="570979"/>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227705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A50960-1701-48AC-A59F-767B6056322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C5D7F4C-19FA-4DBB-8E0E-50D86708BE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3CEF640-BE20-4B67-A136-5F55CD33FFA3}"/>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5" name="页脚占位符 4">
            <a:extLst>
              <a:ext uri="{FF2B5EF4-FFF2-40B4-BE49-F238E27FC236}">
                <a16:creationId xmlns:a16="http://schemas.microsoft.com/office/drawing/2014/main" id="{93DE3503-87F1-4CF7-A256-C5FB9A222AB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49AA02-E14A-4B76-9C38-2F9B89BBF602}"/>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472034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0C072B-542B-4EB4-AE3E-3962BC96CA5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07FC81C-17BC-4E49-801A-5535D52E3DF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6EC2DB2-8954-4FAC-BDAC-A41CB9FD1E9C}"/>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5" name="页脚占位符 4">
            <a:extLst>
              <a:ext uri="{FF2B5EF4-FFF2-40B4-BE49-F238E27FC236}">
                <a16:creationId xmlns:a16="http://schemas.microsoft.com/office/drawing/2014/main" id="{FF45D9FA-8B05-43CE-A8C6-57D4B1B339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22FB343-9089-4A86-8CDC-D72C628B1D49}"/>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674520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6AC339-9979-439E-AD47-69A80F8343D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0B08C4E-EFCC-422B-A0CC-66BF074855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4044901-1417-472E-9D15-16ECC0743305}"/>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5" name="页脚占位符 4">
            <a:extLst>
              <a:ext uri="{FF2B5EF4-FFF2-40B4-BE49-F238E27FC236}">
                <a16:creationId xmlns:a16="http://schemas.microsoft.com/office/drawing/2014/main" id="{8D930AA9-002C-4348-9998-8027E3DF513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758E8C9-BD1B-4A76-A9CB-27277C579657}"/>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1727328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A2C584-3CAE-47D4-911B-4E66212208F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637A965-7AFF-413E-B0F9-9B383F4D7F7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72C38DE-AED2-4131-8C10-FF03B22F8B1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F95F5FA-8460-4FB5-BECF-082CB763FED1}"/>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6" name="页脚占位符 5">
            <a:extLst>
              <a:ext uri="{FF2B5EF4-FFF2-40B4-BE49-F238E27FC236}">
                <a16:creationId xmlns:a16="http://schemas.microsoft.com/office/drawing/2014/main" id="{00ECCEA3-CC62-4601-B76C-37ADB4AFA8A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ADFF4BD-83FA-48E8-9D3F-095F4C7C0D06}"/>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3081516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C6E1C5-ECAF-42BE-9623-BCADD634BCC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E1EBD31-3B49-47F1-94AD-B0C6385A0F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8F1D851-B286-458B-B0FF-37C11425C5C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EB0DAC4-251D-4CAB-AAC8-1816BA2EDE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B3CAE68-B059-48A9-8FEA-AE16FDCBB65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91B7C04-5F54-4995-8205-02AE75A6B65C}"/>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8" name="页脚占位符 7">
            <a:extLst>
              <a:ext uri="{FF2B5EF4-FFF2-40B4-BE49-F238E27FC236}">
                <a16:creationId xmlns:a16="http://schemas.microsoft.com/office/drawing/2014/main" id="{243733C5-CACD-4D73-88DF-0FE47AEB4C0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3CC8BD8-3103-46D8-B238-FEE49AA89B3C}"/>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1065697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381B53-CFBA-4ED9-A856-C7F31BDC6B6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F65807F-966E-4869-8987-657949B8D6F2}"/>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4" name="页脚占位符 3">
            <a:extLst>
              <a:ext uri="{FF2B5EF4-FFF2-40B4-BE49-F238E27FC236}">
                <a16:creationId xmlns:a16="http://schemas.microsoft.com/office/drawing/2014/main" id="{0610A72C-1EA5-4B8F-99BE-2B5DF012BE2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90E1FBD-CDF9-4E91-99E5-A833BABA4AD6}"/>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3180404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E3F8982-6037-4234-AD00-3123D01C4A35}"/>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3" name="页脚占位符 2">
            <a:extLst>
              <a:ext uri="{FF2B5EF4-FFF2-40B4-BE49-F238E27FC236}">
                <a16:creationId xmlns:a16="http://schemas.microsoft.com/office/drawing/2014/main" id="{E94F0542-C8F2-4C1F-BB00-D0D13270757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B6AEC53-34BE-4C4A-856B-8411CD692B7A}"/>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3623614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CAC9EE-3E5D-4DAD-862D-E4971473ADF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9160C9A-3E3A-47B4-A1B2-682A69B925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7AB7B40-FEFE-403A-A042-FE872B9EF9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71366DE-EBE6-4AFE-B2AF-4C25890EC85A}"/>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6" name="页脚占位符 5">
            <a:extLst>
              <a:ext uri="{FF2B5EF4-FFF2-40B4-BE49-F238E27FC236}">
                <a16:creationId xmlns:a16="http://schemas.microsoft.com/office/drawing/2014/main" id="{5E2082D5-0599-48B5-8819-634575D362B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6555D9C-1A7C-4534-A584-4472E3B816D5}"/>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2538075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087C38-82A2-4C25-AC3F-F06B1F23898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D8ADE65-B3BE-4A96-890D-E7A188D83D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C79A9D3-7F46-42D0-B4ED-1773CC9262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4080096-90BF-4736-A77E-82348CC61653}"/>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6" name="页脚占位符 5">
            <a:extLst>
              <a:ext uri="{FF2B5EF4-FFF2-40B4-BE49-F238E27FC236}">
                <a16:creationId xmlns:a16="http://schemas.microsoft.com/office/drawing/2014/main" id="{D9485590-E6CB-4FD1-A1EC-A9509A34652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DDA4A82-6CE2-4CA5-BD5B-08DCB7A0D776}"/>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3094983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CCFA93-FCE2-44E4-878C-8FEFA6018A7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06DA7C2-F2E1-4F67-8B34-F05CBFC08CE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5C967AE-CDF3-4D67-A190-E46F86D01174}"/>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5" name="页脚占位符 4">
            <a:extLst>
              <a:ext uri="{FF2B5EF4-FFF2-40B4-BE49-F238E27FC236}">
                <a16:creationId xmlns:a16="http://schemas.microsoft.com/office/drawing/2014/main" id="{129B9F83-0BEE-42D3-99B3-055F58EB0FD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516528D-DEBF-45D5-AA5C-2081D9B29428}"/>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2224693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DBCEB34-32B0-4BD7-B39A-0AC8E1769C9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0086A30-6588-4D1F-833A-33C5E70663C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EEA0ED4-AAED-4792-99F8-043A8A82BA14}"/>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5" name="页脚占位符 4">
            <a:extLst>
              <a:ext uri="{FF2B5EF4-FFF2-40B4-BE49-F238E27FC236}">
                <a16:creationId xmlns:a16="http://schemas.microsoft.com/office/drawing/2014/main" id="{B247DCE7-E18C-4FD7-A653-9FE1C3A98E0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A9F1929-4F93-4E60-A024-16E632D7A1A0}"/>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8583676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C9CE943-B56E-DB49-B8C4-6529A45E560F}"/>
              </a:ext>
            </a:extLst>
          </p:cNvPr>
          <p:cNvSpPr/>
          <p:nvPr userDrawn="1"/>
        </p:nvSpPr>
        <p:spPr>
          <a:xfrm>
            <a:off x="0" y="6378576"/>
            <a:ext cx="12192000" cy="4794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4" name="矩形 3">
            <a:extLst>
              <a:ext uri="{FF2B5EF4-FFF2-40B4-BE49-F238E27FC236}">
                <a16:creationId xmlns:a16="http://schemas.microsoft.com/office/drawing/2014/main" id="{81B1CC48-0F36-E84A-AD3C-0A71484EADA6}"/>
              </a:ext>
            </a:extLst>
          </p:cNvPr>
          <p:cNvSpPr/>
          <p:nvPr userDrawn="1"/>
        </p:nvSpPr>
        <p:spPr>
          <a:xfrm>
            <a:off x="0" y="1"/>
            <a:ext cx="12192000" cy="479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5" name="六边形 4">
            <a:extLst>
              <a:ext uri="{FF2B5EF4-FFF2-40B4-BE49-F238E27FC236}">
                <a16:creationId xmlns:a16="http://schemas.microsoft.com/office/drawing/2014/main" id="{3C5888FC-F9A7-644B-A5F0-A432723D85D7}"/>
              </a:ext>
            </a:extLst>
          </p:cNvPr>
          <p:cNvSpPr/>
          <p:nvPr userDrawn="1"/>
        </p:nvSpPr>
        <p:spPr>
          <a:xfrm rot="5400000">
            <a:off x="11246645" y="6290469"/>
            <a:ext cx="531812" cy="457200"/>
          </a:xfrm>
          <a:prstGeom prst="hexagon">
            <a:avLst/>
          </a:prstGeom>
          <a:solidFill>
            <a:schemeClr val="accent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6" name="六边形 5">
            <a:extLst>
              <a:ext uri="{FF2B5EF4-FFF2-40B4-BE49-F238E27FC236}">
                <a16:creationId xmlns:a16="http://schemas.microsoft.com/office/drawing/2014/main" id="{CF94DF91-7767-F74D-8028-A9B801123164}"/>
              </a:ext>
            </a:extLst>
          </p:cNvPr>
          <p:cNvSpPr/>
          <p:nvPr userDrawn="1"/>
        </p:nvSpPr>
        <p:spPr>
          <a:xfrm rot="5400000">
            <a:off x="406136" y="809361"/>
            <a:ext cx="627062" cy="541867"/>
          </a:xfrm>
          <a:prstGeom prst="hexagon">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24" name="文本占位符 23"/>
          <p:cNvSpPr>
            <a:spLocks noGrp="1"/>
          </p:cNvSpPr>
          <p:nvPr>
            <p:ph type="body" sz="quarter" idx="13"/>
          </p:nvPr>
        </p:nvSpPr>
        <p:spPr>
          <a:xfrm>
            <a:off x="1154224" y="861944"/>
            <a:ext cx="7416800" cy="584200"/>
          </a:xfrm>
        </p:spPr>
        <p:txBody>
          <a:bodyPr/>
          <a:lstStyle>
            <a:lvl1pPr marL="0" indent="0">
              <a:buNone/>
              <a:defRPr>
                <a:solidFill>
                  <a:schemeClr val="tx1">
                    <a:lumMod val="85000"/>
                    <a:lumOff val="15000"/>
                  </a:schemeClr>
                </a:solidFill>
                <a:latin typeface="+mj-ea"/>
                <a:ea typeface="+mj-ea"/>
              </a:defRPr>
            </a:lvl1pPr>
          </a:lstStyle>
          <a:p>
            <a:pPr lvl="0"/>
            <a:r>
              <a:rPr lang="zh-CN" altLang="en-US" dirty="0"/>
              <a:t>单击此处编辑母版文本样式</a:t>
            </a:r>
          </a:p>
        </p:txBody>
      </p:sp>
      <p:sp>
        <p:nvSpPr>
          <p:cNvPr id="7" name="日期占位符 1">
            <a:extLst>
              <a:ext uri="{FF2B5EF4-FFF2-40B4-BE49-F238E27FC236}">
                <a16:creationId xmlns:a16="http://schemas.microsoft.com/office/drawing/2014/main" id="{9B9D3675-0C0C-3B45-A517-171AAC008382}"/>
              </a:ext>
            </a:extLst>
          </p:cNvPr>
          <p:cNvSpPr>
            <a:spLocks noGrp="1"/>
          </p:cNvSpPr>
          <p:nvPr>
            <p:ph type="dt" sz="half" idx="14"/>
          </p:nvPr>
        </p:nvSpPr>
        <p:spPr/>
        <p:txBody>
          <a:bodyPr/>
          <a:lstStyle>
            <a:lvl1pPr>
              <a:defRPr/>
            </a:lvl1pPr>
          </a:lstStyle>
          <a:p>
            <a:pPr>
              <a:defRPr/>
            </a:pPr>
            <a:fld id="{51844997-DFC2-47A5-92F6-95BB1802E9B5}" type="datetime1">
              <a:rPr lang="zh-CN" altLang="en-US"/>
              <a:pPr>
                <a:defRPr/>
              </a:pPr>
              <a:t>2025/7/26</a:t>
            </a:fld>
            <a:endParaRPr lang="zh-CN" altLang="en-US"/>
          </a:p>
        </p:txBody>
      </p:sp>
      <p:sp>
        <p:nvSpPr>
          <p:cNvPr id="8" name="页脚占位符 2">
            <a:extLst>
              <a:ext uri="{FF2B5EF4-FFF2-40B4-BE49-F238E27FC236}">
                <a16:creationId xmlns:a16="http://schemas.microsoft.com/office/drawing/2014/main" id="{9F0F7022-D17C-0048-920D-05CC8A5983B4}"/>
              </a:ext>
            </a:extLst>
          </p:cNvPr>
          <p:cNvSpPr>
            <a:spLocks noGrp="1"/>
          </p:cNvSpPr>
          <p:nvPr>
            <p:ph type="ftr" sz="quarter" idx="15"/>
          </p:nvPr>
        </p:nvSpPr>
        <p:spPr/>
        <p:txBody>
          <a:bodyPr/>
          <a:lstStyle>
            <a:lvl1pPr>
              <a:defRPr/>
            </a:lvl1pPr>
          </a:lstStyle>
          <a:p>
            <a:pPr>
              <a:defRPr/>
            </a:pPr>
            <a:endParaRPr lang="zh-CN" altLang="en-US"/>
          </a:p>
        </p:txBody>
      </p:sp>
      <p:sp>
        <p:nvSpPr>
          <p:cNvPr id="9" name="灯片编号占位符 3">
            <a:extLst>
              <a:ext uri="{FF2B5EF4-FFF2-40B4-BE49-F238E27FC236}">
                <a16:creationId xmlns:a16="http://schemas.microsoft.com/office/drawing/2014/main" id="{301DA0A7-B2A6-C849-A3BD-62D2980A0C35}"/>
              </a:ext>
            </a:extLst>
          </p:cNvPr>
          <p:cNvSpPr>
            <a:spLocks noGrp="1"/>
          </p:cNvSpPr>
          <p:nvPr>
            <p:ph type="sldNum" sz="quarter" idx="16"/>
          </p:nvPr>
        </p:nvSpPr>
        <p:spPr>
          <a:xfrm>
            <a:off x="11137901" y="6343651"/>
            <a:ext cx="723900" cy="365125"/>
          </a:xfrm>
        </p:spPr>
        <p:txBody>
          <a:bodyPr/>
          <a:lstStyle>
            <a:lvl1pPr algn="ctr">
              <a:defRPr sz="1200">
                <a:solidFill>
                  <a:schemeClr val="bg1"/>
                </a:solidFill>
              </a:defRPr>
            </a:lvl1pPr>
          </a:lstStyle>
          <a:p>
            <a:pPr>
              <a:defRPr/>
            </a:pPr>
            <a:fld id="{6BD340BD-0C8F-4029-BC04-92E607371FC4}" type="slidenum">
              <a:rPr lang="zh-CN" altLang="en-US"/>
              <a:pPr>
                <a:defRPr/>
              </a:pPr>
              <a:t>‹#›</a:t>
            </a:fld>
            <a:endParaRPr lang="zh-CN" altLang="en-US" dirty="0"/>
          </a:p>
        </p:txBody>
      </p:sp>
    </p:spTree>
    <p:extLst>
      <p:ext uri="{BB962C8B-B14F-4D97-AF65-F5344CB8AC3E}">
        <p14:creationId xmlns:p14="http://schemas.microsoft.com/office/powerpoint/2010/main" val="2568988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4" accel="50000" decel="5000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ppt_x"/>
                                          </p:val>
                                        </p:tav>
                                        <p:tav tm="100000">
                                          <p:val>
                                            <p:strVal val="#ppt_x"/>
                                          </p:val>
                                        </p:tav>
                                      </p:tavLst>
                                    </p:anim>
                                    <p:anim calcmode="lin" valueType="num">
                                      <p:cBhvr additive="base">
                                        <p:cTn id="12" dur="10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8" accel="50000" decel="50000" fill="hold" grpId="0" nodeType="withEffect">
                                  <p:stCondLst>
                                    <p:cond delay="75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750" fill="hold"/>
                                        <p:tgtEl>
                                          <p:spTgt spid="6"/>
                                        </p:tgtEl>
                                        <p:attrNameLst>
                                          <p:attrName>ppt_x</p:attrName>
                                        </p:attrNameLst>
                                      </p:cBhvr>
                                      <p:tavLst>
                                        <p:tav tm="0">
                                          <p:val>
                                            <p:strVal val="0-#ppt_w/2"/>
                                          </p:val>
                                        </p:tav>
                                        <p:tav tm="100000">
                                          <p:val>
                                            <p:strVal val="#ppt_x"/>
                                          </p:val>
                                        </p:tav>
                                      </p:tavLst>
                                    </p:anim>
                                    <p:anim calcmode="lin" valueType="num">
                                      <p:cBhvr additive="base">
                                        <p:cTn id="16" dur="75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4" accel="50000" decel="50000" fill="hold" grpId="0" nodeType="withEffect">
                                  <p:stCondLst>
                                    <p:cond delay="150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750" fill="hold"/>
                                        <p:tgtEl>
                                          <p:spTgt spid="5"/>
                                        </p:tgtEl>
                                        <p:attrNameLst>
                                          <p:attrName>ppt_x</p:attrName>
                                        </p:attrNameLst>
                                      </p:cBhvr>
                                      <p:tavLst>
                                        <p:tav tm="0">
                                          <p:val>
                                            <p:strVal val="#ppt_x"/>
                                          </p:val>
                                        </p:tav>
                                        <p:tav tm="100000">
                                          <p:val>
                                            <p:strVal val="#ppt_x"/>
                                          </p:val>
                                        </p:tav>
                                      </p:tavLst>
                                    </p:anim>
                                    <p:anim calcmode="lin" valueType="num">
                                      <p:cBhvr additive="base">
                                        <p:cTn id="20" dur="75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P spid="6" grpId="0" bldLvl="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097D3BA-A3ED-4163-977C-3D2326AEAF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68A68784-9CD4-4F13-B6FF-DAFB8F5FA9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D20A121-C4E0-491B-B35A-1ABE4E2B76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4008CB-7359-4598-88B6-8073612796AA}" type="datetimeFigureOut">
              <a:rPr lang="zh-CN" altLang="en-US" smtClean="0"/>
              <a:t>2025/7/26</a:t>
            </a:fld>
            <a:endParaRPr lang="zh-CN" altLang="en-US"/>
          </a:p>
        </p:txBody>
      </p:sp>
      <p:sp>
        <p:nvSpPr>
          <p:cNvPr id="5" name="页脚占位符 4">
            <a:extLst>
              <a:ext uri="{FF2B5EF4-FFF2-40B4-BE49-F238E27FC236}">
                <a16:creationId xmlns:a16="http://schemas.microsoft.com/office/drawing/2014/main" id="{714455DE-3A94-44C9-BD40-E9A302C186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52AF917-03E6-4637-A084-DE343516BE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819589618"/>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wmf"/><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oleObject" Target="../embeddings/oleObject1.bin"/><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0E3C0872-64D7-4B76-9B19-E1DAFDFDD242}"/>
              </a:ext>
            </a:extLst>
          </p:cNvPr>
          <p:cNvCxnSpPr>
            <a:cxnSpLocks/>
          </p:cNvCxnSpPr>
          <p:nvPr/>
        </p:nvCxnSpPr>
        <p:spPr>
          <a:xfrm>
            <a:off x="1422400" y="6113732"/>
            <a:ext cx="90932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C1B39824-60B1-4087-9654-852D1F012284}"/>
              </a:ext>
            </a:extLst>
          </p:cNvPr>
          <p:cNvCxnSpPr>
            <a:cxnSpLocks/>
          </p:cNvCxnSpPr>
          <p:nvPr/>
        </p:nvCxnSpPr>
        <p:spPr>
          <a:xfrm>
            <a:off x="0" y="829334"/>
            <a:ext cx="9525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980355FC-FEB3-439F-8098-5C06013AAE42}"/>
              </a:ext>
            </a:extLst>
          </p:cNvPr>
          <p:cNvSpPr/>
          <p:nvPr/>
        </p:nvSpPr>
        <p:spPr>
          <a:xfrm>
            <a:off x="0" y="829334"/>
            <a:ext cx="1028700" cy="275566"/>
          </a:xfrm>
          <a:prstGeom prst="rect">
            <a:avLst/>
          </a:prstGeom>
          <a:solidFill>
            <a:srgbClr val="0B419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61D4805B-0FE8-4E82-B102-EE270173D087}"/>
              </a:ext>
            </a:extLst>
          </p:cNvPr>
          <p:cNvSpPr txBox="1"/>
          <p:nvPr/>
        </p:nvSpPr>
        <p:spPr>
          <a:xfrm>
            <a:off x="4793312" y="2552789"/>
            <a:ext cx="2441694" cy="769441"/>
          </a:xfrm>
          <a:prstGeom prst="rect">
            <a:avLst/>
          </a:prstGeom>
          <a:noFill/>
        </p:spPr>
        <p:txBody>
          <a:bodyPr wrap="none" rtlCol="0">
            <a:spAutoFit/>
          </a:bodyPr>
          <a:lstStyle/>
          <a:p>
            <a:pPr algn="ctr"/>
            <a:r>
              <a:rPr lang="zh-CN" altLang="en-US" sz="4400" b="1" dirty="0">
                <a:solidFill>
                  <a:schemeClr val="accent1">
                    <a:lumMod val="75000"/>
                  </a:schemeClr>
                </a:solidFill>
              </a:rPr>
              <a:t>逻辑回归</a:t>
            </a:r>
          </a:p>
        </p:txBody>
      </p:sp>
    </p:spTree>
    <p:extLst>
      <p:ext uri="{BB962C8B-B14F-4D97-AF65-F5344CB8AC3E}">
        <p14:creationId xmlns:p14="http://schemas.microsoft.com/office/powerpoint/2010/main" val="3994329357"/>
      </p:ext>
    </p:extLst>
  </p:cSld>
  <p:clrMapOvr>
    <a:masterClrMapping/>
  </p:clrMapOvr>
  <mc:AlternateContent xmlns:mc="http://schemas.openxmlformats.org/markup-compatibility/2006" xmlns:p14="http://schemas.microsoft.com/office/powerpoint/2010/main">
    <mc:Choice Requires="p14">
      <p:transition spd="slow" p14:dur="2000" advTm="10176"/>
    </mc:Choice>
    <mc:Fallback xmlns="">
      <p:transition spd="slow" advTm="1017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solidFill>
                  <a:schemeClr val="accent1">
                    <a:lumMod val="50000"/>
                  </a:schemeClr>
                </a:solidFill>
              </a:rPr>
              <a:t>Part One</a:t>
            </a:r>
            <a:br>
              <a:rPr lang="en-US" altLang="zh-CN" b="1" dirty="0">
                <a:solidFill>
                  <a:schemeClr val="accent1">
                    <a:lumMod val="50000"/>
                  </a:schemeClr>
                </a:solidFill>
              </a:rPr>
            </a:br>
            <a:r>
              <a:rPr lang="zh-CN" altLang="en-US" b="1" dirty="0">
                <a:solidFill>
                  <a:schemeClr val="accent1">
                    <a:lumMod val="50000"/>
                  </a:schemeClr>
                </a:solidFill>
              </a:rPr>
              <a:t>模型设计</a:t>
            </a:r>
          </a:p>
        </p:txBody>
      </p:sp>
      <p:sp>
        <p:nvSpPr>
          <p:cNvPr id="4" name="文本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2693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7F9C4B-A6A0-E512-DEFF-3540CD315E1A}"/>
              </a:ext>
            </a:extLst>
          </p:cNvPr>
          <p:cNvSpPr>
            <a:spLocks noGrp="1"/>
          </p:cNvSpPr>
          <p:nvPr>
            <p:ph type="title"/>
          </p:nvPr>
        </p:nvSpPr>
        <p:spPr/>
        <p:txBody>
          <a:bodyPr>
            <a:normAutofit fontScale="90000"/>
          </a:bodyPr>
          <a:lstStyle/>
          <a:p>
            <a:r>
              <a:rPr kumimoji="1" lang="zh-CN" altLang="en-US" dirty="0"/>
              <a:t>案例引入</a:t>
            </a:r>
          </a:p>
        </p:txBody>
      </p:sp>
      <p:pic>
        <p:nvPicPr>
          <p:cNvPr id="4" name="图片 3">
            <a:extLst>
              <a:ext uri="{FF2B5EF4-FFF2-40B4-BE49-F238E27FC236}">
                <a16:creationId xmlns:a16="http://schemas.microsoft.com/office/drawing/2014/main" id="{D9B68BB0-D061-B61B-02B7-FB42E2268C1B}"/>
              </a:ext>
            </a:extLst>
          </p:cNvPr>
          <p:cNvPicPr>
            <a:picLocks noChangeAspect="1"/>
          </p:cNvPicPr>
          <p:nvPr/>
        </p:nvPicPr>
        <p:blipFill>
          <a:blip r:embed="rId2"/>
          <a:stretch>
            <a:fillRect/>
          </a:stretch>
        </p:blipFill>
        <p:spPr>
          <a:xfrm>
            <a:off x="213231" y="1252607"/>
            <a:ext cx="6979508" cy="5390328"/>
          </a:xfrm>
          <a:prstGeom prst="rect">
            <a:avLst/>
          </a:prstGeom>
        </p:spPr>
      </p:pic>
      <p:pic>
        <p:nvPicPr>
          <p:cNvPr id="5" name="图片 4">
            <a:extLst>
              <a:ext uri="{FF2B5EF4-FFF2-40B4-BE49-F238E27FC236}">
                <a16:creationId xmlns:a16="http://schemas.microsoft.com/office/drawing/2014/main" id="{310E2A09-913B-8ED8-74BA-9DB19461F6E7}"/>
              </a:ext>
            </a:extLst>
          </p:cNvPr>
          <p:cNvPicPr>
            <a:picLocks noChangeAspect="1"/>
          </p:cNvPicPr>
          <p:nvPr/>
        </p:nvPicPr>
        <p:blipFill>
          <a:blip r:embed="rId3"/>
          <a:stretch>
            <a:fillRect/>
          </a:stretch>
        </p:blipFill>
        <p:spPr>
          <a:xfrm>
            <a:off x="7046965" y="1578360"/>
            <a:ext cx="3724609" cy="2369411"/>
          </a:xfrm>
          <a:prstGeom prst="rect">
            <a:avLst/>
          </a:prstGeom>
        </p:spPr>
      </p:pic>
    </p:spTree>
    <p:extLst>
      <p:ext uri="{BB962C8B-B14F-4D97-AF65-F5344CB8AC3E}">
        <p14:creationId xmlns:p14="http://schemas.microsoft.com/office/powerpoint/2010/main" val="3909209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b="1" dirty="0"/>
              <a:t>线性回归</a:t>
            </a:r>
            <a:r>
              <a:rPr lang="en-US" altLang="zh-CN" b="1" dirty="0"/>
              <a:t>-</a:t>
            </a:r>
            <a:r>
              <a:rPr lang="zh-CN" altLang="en-US" b="1" dirty="0"/>
              <a:t>分类</a:t>
            </a:r>
            <a:endParaRPr lang="zh-CN" altLang="en-US" dirty="0"/>
          </a:p>
        </p:txBody>
      </p:sp>
      <p:graphicFrame>
        <p:nvGraphicFramePr>
          <p:cNvPr id="10" name="表格 9"/>
          <p:cNvGraphicFramePr>
            <a:graphicFrameLocks noGrp="1"/>
          </p:cNvGraphicFramePr>
          <p:nvPr>
            <p:extLst>
              <p:ext uri="{D42A27DB-BD31-4B8C-83A1-F6EECF244321}">
                <p14:modId xmlns:p14="http://schemas.microsoft.com/office/powerpoint/2010/main" val="913902919"/>
              </p:ext>
            </p:extLst>
          </p:nvPr>
        </p:nvGraphicFramePr>
        <p:xfrm>
          <a:off x="516269" y="1213427"/>
          <a:ext cx="5198858" cy="2649872"/>
        </p:xfrm>
        <a:graphic>
          <a:graphicData uri="http://schemas.openxmlformats.org/drawingml/2006/table">
            <a:tbl>
              <a:tblPr>
                <a:tableStyleId>{5C22544A-7EE6-4342-B048-85BDC9FD1C3A}</a:tableStyleId>
              </a:tblPr>
              <a:tblGrid>
                <a:gridCol w="1119555">
                  <a:extLst>
                    <a:ext uri="{9D8B030D-6E8A-4147-A177-3AD203B41FA5}">
                      <a16:colId xmlns:a16="http://schemas.microsoft.com/office/drawing/2014/main" val="3044455116"/>
                    </a:ext>
                  </a:extLst>
                </a:gridCol>
                <a:gridCol w="931985">
                  <a:extLst>
                    <a:ext uri="{9D8B030D-6E8A-4147-A177-3AD203B41FA5}">
                      <a16:colId xmlns:a16="http://schemas.microsoft.com/office/drawing/2014/main" val="71690534"/>
                    </a:ext>
                  </a:extLst>
                </a:gridCol>
                <a:gridCol w="914400">
                  <a:extLst>
                    <a:ext uri="{9D8B030D-6E8A-4147-A177-3AD203B41FA5}">
                      <a16:colId xmlns:a16="http://schemas.microsoft.com/office/drawing/2014/main" val="4293077210"/>
                    </a:ext>
                  </a:extLst>
                </a:gridCol>
                <a:gridCol w="914400">
                  <a:extLst>
                    <a:ext uri="{9D8B030D-6E8A-4147-A177-3AD203B41FA5}">
                      <a16:colId xmlns:a16="http://schemas.microsoft.com/office/drawing/2014/main" val="1785380721"/>
                    </a:ext>
                  </a:extLst>
                </a:gridCol>
                <a:gridCol w="1318518">
                  <a:extLst>
                    <a:ext uri="{9D8B030D-6E8A-4147-A177-3AD203B41FA5}">
                      <a16:colId xmlns:a16="http://schemas.microsoft.com/office/drawing/2014/main" val="3796282373"/>
                    </a:ext>
                  </a:extLst>
                </a:gridCol>
              </a:tblGrid>
              <a:tr h="331234">
                <a:tc>
                  <a:txBody>
                    <a:bodyPr/>
                    <a:lstStyle/>
                    <a:p>
                      <a:pPr algn="ctr" fontAlgn="ctr"/>
                      <a:r>
                        <a:rPr lang="zh-CN" altLang="en-US" sz="1800" b="1" u="none" strike="noStrike">
                          <a:effectLst/>
                        </a:rPr>
                        <a:t>英雄</a:t>
                      </a:r>
                      <a:endParaRPr lang="zh-CN" altLang="en-US" sz="18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zh-CN" altLang="en-US" sz="1800" b="1" u="none" strike="noStrike" dirty="0">
                          <a:effectLst/>
                        </a:rPr>
                        <a:t>生命</a:t>
                      </a:r>
                      <a:r>
                        <a:rPr lang="en-US" altLang="zh-CN" sz="1800" b="1" u="none" strike="noStrike" dirty="0">
                          <a:effectLst/>
                        </a:rPr>
                        <a:t>x1</a:t>
                      </a:r>
                      <a:endParaRPr lang="zh-CN" altLang="en-US" sz="18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zh-CN" altLang="en-US" sz="1800" b="1" u="none" strike="noStrike" dirty="0">
                          <a:effectLst/>
                        </a:rPr>
                        <a:t>攻击</a:t>
                      </a:r>
                      <a:r>
                        <a:rPr lang="en-US" altLang="zh-CN" sz="1800" b="1" u="none" strike="noStrike" dirty="0">
                          <a:effectLst/>
                        </a:rPr>
                        <a:t>x2</a:t>
                      </a:r>
                      <a:endParaRPr lang="zh-CN" altLang="en-US" sz="18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zh-CN" altLang="en-US" sz="1800" b="1" u="none" strike="noStrike" dirty="0">
                          <a:effectLst/>
                        </a:rPr>
                        <a:t>法强</a:t>
                      </a:r>
                      <a:r>
                        <a:rPr lang="en-US" altLang="zh-CN" sz="1800" b="1" u="none" strike="noStrike" dirty="0">
                          <a:effectLst/>
                        </a:rPr>
                        <a:t>x3</a:t>
                      </a:r>
                      <a:endParaRPr lang="zh-CN" altLang="en-US" sz="18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zh-CN" altLang="en-US" sz="1800" b="1" u="none" strike="noStrike" dirty="0">
                          <a:effectLst/>
                        </a:rPr>
                        <a:t>前排</a:t>
                      </a:r>
                      <a:r>
                        <a:rPr lang="en-US" altLang="zh-CN" sz="1800" b="1" u="none" strike="noStrike" dirty="0">
                          <a:effectLst/>
                        </a:rPr>
                        <a:t>/</a:t>
                      </a:r>
                      <a:r>
                        <a:rPr lang="zh-CN" altLang="en-US" sz="1800" b="1" u="none" strike="noStrike" dirty="0">
                          <a:effectLst/>
                        </a:rPr>
                        <a:t>后排</a:t>
                      </a:r>
                      <a:r>
                        <a:rPr lang="en-US" altLang="zh-CN" sz="1800" b="1" u="none" strike="noStrike" dirty="0">
                          <a:effectLst/>
                        </a:rPr>
                        <a:t>y</a:t>
                      </a:r>
                      <a:endParaRPr lang="zh-CN" altLang="en-US" sz="18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extLst>
                  <a:ext uri="{0D108BD9-81ED-4DB2-BD59-A6C34878D82A}">
                    <a16:rowId xmlns:a16="http://schemas.microsoft.com/office/drawing/2014/main" val="3821463899"/>
                  </a:ext>
                </a:extLst>
              </a:tr>
              <a:tr h="331234">
                <a:tc>
                  <a:txBody>
                    <a:bodyPr/>
                    <a:lstStyle/>
                    <a:p>
                      <a:pPr algn="ctr" fontAlgn="ctr"/>
                      <a:r>
                        <a:rPr lang="zh-CN" altLang="en-US" sz="1800" b="1" u="none" strike="noStrike" dirty="0">
                          <a:effectLst/>
                        </a:rPr>
                        <a:t>赫卡里姆</a:t>
                      </a:r>
                      <a:endParaRPr lang="zh-CN" altLang="en-US" sz="18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en-US" altLang="zh-CN" sz="1800" b="0" u="none" strike="noStrike" dirty="0">
                          <a:effectLst/>
                        </a:rPr>
                        <a:t>900</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800" b="0" u="none" strike="noStrike">
                          <a:effectLst/>
                        </a:rPr>
                        <a:t>50</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800" b="0" u="none" strike="noStrike" dirty="0">
                          <a:effectLst/>
                        </a:rPr>
                        <a:t>90</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800" b="0" i="0" u="none" strike="noStrike" dirty="0">
                          <a:solidFill>
                            <a:schemeClr val="dk1"/>
                          </a:solidFill>
                          <a:effectLst/>
                          <a:latin typeface="+mn-lt"/>
                          <a:ea typeface="+mn-ea"/>
                        </a:rPr>
                        <a:t>-1</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2126110682"/>
                  </a:ext>
                </a:extLst>
              </a:tr>
              <a:tr h="331234">
                <a:tc>
                  <a:txBody>
                    <a:bodyPr/>
                    <a:lstStyle/>
                    <a:p>
                      <a:pPr algn="ctr" fontAlgn="ctr"/>
                      <a:r>
                        <a:rPr lang="zh-CN" altLang="en-US" sz="1800" b="1" u="none" strike="noStrike">
                          <a:effectLst/>
                        </a:rPr>
                        <a:t>李青</a:t>
                      </a:r>
                      <a:endParaRPr lang="zh-CN" altLang="en-US" sz="18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en-US" altLang="zh-CN" sz="1800" b="0" u="none" strike="noStrike" dirty="0">
                          <a:effectLst/>
                        </a:rPr>
                        <a:t>800</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800" b="0" u="none" strike="noStrike">
                          <a:effectLst/>
                        </a:rPr>
                        <a:t>50</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800" b="0" u="none" strike="noStrike">
                          <a:effectLst/>
                        </a:rPr>
                        <a:t>90</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800" b="0" i="0" u="none" strike="noStrike" dirty="0">
                          <a:solidFill>
                            <a:schemeClr val="dk1"/>
                          </a:solidFill>
                          <a:effectLst/>
                          <a:latin typeface="+mn-lt"/>
                          <a:ea typeface="+mn-ea"/>
                        </a:rPr>
                        <a:t>-1</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1298378845"/>
                  </a:ext>
                </a:extLst>
              </a:tr>
              <a:tr h="331234">
                <a:tc>
                  <a:txBody>
                    <a:bodyPr/>
                    <a:lstStyle/>
                    <a:p>
                      <a:pPr algn="ctr" fontAlgn="ctr"/>
                      <a:r>
                        <a:rPr lang="zh-CN" altLang="en-US" sz="1800" b="1" u="none" strike="noStrike">
                          <a:effectLst/>
                        </a:rPr>
                        <a:t>锤石</a:t>
                      </a:r>
                      <a:endParaRPr lang="zh-CN" altLang="en-US" sz="18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en-US" altLang="zh-CN" sz="1800" b="0" u="none" strike="noStrike">
                          <a:effectLst/>
                        </a:rPr>
                        <a:t>750</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800" b="0" u="none" strike="noStrike" dirty="0">
                          <a:effectLst/>
                        </a:rPr>
                        <a:t>60</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800" b="0" u="none" strike="noStrike" dirty="0">
                          <a:effectLst/>
                        </a:rPr>
                        <a:t>150</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zh-CN" altLang="en-US" sz="1800" b="0" u="none" strike="noStrike" dirty="0">
                          <a:solidFill>
                            <a:srgbClr val="FF0000"/>
                          </a:solidFill>
                          <a:effectLst/>
                        </a:rPr>
                        <a:t>？</a:t>
                      </a:r>
                      <a:endParaRPr lang="zh-CN" altLang="en-US" sz="1800" b="0" i="0" u="none" strike="noStrike" dirty="0">
                        <a:solidFill>
                          <a:srgbClr val="FF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3284018243"/>
                  </a:ext>
                </a:extLst>
              </a:tr>
              <a:tr h="331234">
                <a:tc>
                  <a:txBody>
                    <a:bodyPr/>
                    <a:lstStyle/>
                    <a:p>
                      <a:pPr algn="ctr" fontAlgn="ctr"/>
                      <a:r>
                        <a:rPr lang="zh-CN" altLang="en-US" sz="1800" b="1" u="none" strike="noStrike">
                          <a:effectLst/>
                        </a:rPr>
                        <a:t>瑟庄妮</a:t>
                      </a:r>
                      <a:endParaRPr lang="zh-CN" altLang="en-US" sz="18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en-US" altLang="zh-CN" sz="1800" b="0" u="none" strike="noStrike">
                          <a:effectLst/>
                        </a:rPr>
                        <a:t>650</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800" b="0" u="none" strike="noStrike" dirty="0">
                          <a:effectLst/>
                        </a:rPr>
                        <a:t>60</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800" b="0" u="none" strike="noStrike">
                          <a:effectLst/>
                        </a:rPr>
                        <a:t>90</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zh-CN" altLang="en-US" sz="1800" b="0" u="none" strike="noStrike" dirty="0">
                          <a:solidFill>
                            <a:srgbClr val="FF0000"/>
                          </a:solidFill>
                          <a:effectLst/>
                        </a:rPr>
                        <a:t>？</a:t>
                      </a:r>
                      <a:endParaRPr lang="zh-CN" altLang="en-US" sz="1800" b="0" i="0" u="none" strike="noStrike" dirty="0">
                        <a:solidFill>
                          <a:srgbClr val="FF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2768064550"/>
                  </a:ext>
                </a:extLst>
              </a:tr>
              <a:tr h="331234">
                <a:tc>
                  <a:txBody>
                    <a:bodyPr/>
                    <a:lstStyle/>
                    <a:p>
                      <a:pPr algn="ctr" fontAlgn="ctr"/>
                      <a:r>
                        <a:rPr lang="zh-CN" altLang="en-US" sz="1800" b="1" u="none" strike="noStrike">
                          <a:effectLst/>
                        </a:rPr>
                        <a:t>娜美</a:t>
                      </a:r>
                      <a:endParaRPr lang="zh-CN" altLang="en-US" sz="18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en-US" altLang="zh-CN" sz="1800" b="0" u="none" strike="noStrike">
                          <a:effectLst/>
                        </a:rPr>
                        <a:t>600</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800" b="0" u="none" strike="noStrike">
                          <a:effectLst/>
                        </a:rPr>
                        <a:t>40</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800" b="0" u="none" strike="noStrike" dirty="0">
                          <a:effectLst/>
                        </a:rPr>
                        <a:t>90</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zh-CN" altLang="en-US" sz="1800" b="0" u="none" strike="noStrike" dirty="0">
                          <a:solidFill>
                            <a:srgbClr val="FF0000"/>
                          </a:solidFill>
                          <a:effectLst/>
                        </a:rPr>
                        <a:t>？</a:t>
                      </a:r>
                      <a:endParaRPr lang="zh-CN" altLang="en-US" sz="1800" b="0" i="0" u="none" strike="noStrike" dirty="0">
                        <a:solidFill>
                          <a:srgbClr val="FF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54597870"/>
                  </a:ext>
                </a:extLst>
              </a:tr>
              <a:tr h="331234">
                <a:tc>
                  <a:txBody>
                    <a:bodyPr/>
                    <a:lstStyle/>
                    <a:p>
                      <a:pPr algn="ctr" fontAlgn="ctr"/>
                      <a:r>
                        <a:rPr lang="zh-CN" altLang="en-US" sz="1800" b="1" u="none" strike="noStrike">
                          <a:effectLst/>
                        </a:rPr>
                        <a:t>婕拉</a:t>
                      </a:r>
                      <a:endParaRPr lang="zh-CN" altLang="en-US" sz="18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en-US" altLang="zh-CN" sz="1800" b="0" u="none" strike="noStrike">
                          <a:effectLst/>
                        </a:rPr>
                        <a:t>600</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800" b="0" u="none" strike="noStrike" dirty="0">
                          <a:effectLst/>
                        </a:rPr>
                        <a:t>50</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800" b="0" u="none" strike="noStrike" dirty="0">
                          <a:effectLst/>
                        </a:rPr>
                        <a:t>120</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800" b="0" u="none" strike="noStrike">
                          <a:effectLst/>
                        </a:rPr>
                        <a:t>1</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3152813393"/>
                  </a:ext>
                </a:extLst>
              </a:tr>
              <a:tr h="331234">
                <a:tc>
                  <a:txBody>
                    <a:bodyPr/>
                    <a:lstStyle/>
                    <a:p>
                      <a:pPr algn="ctr" fontAlgn="ctr"/>
                      <a:r>
                        <a:rPr lang="zh-CN" altLang="en-US" sz="1800" b="1" u="none" strike="noStrike" dirty="0">
                          <a:effectLst/>
                        </a:rPr>
                        <a:t>黑默丁格</a:t>
                      </a:r>
                      <a:endParaRPr lang="zh-CN" altLang="en-US" sz="180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solidFill>
                      <a:schemeClr val="accent6">
                        <a:lumMod val="20000"/>
                        <a:lumOff val="80000"/>
                      </a:schemeClr>
                    </a:solidFill>
                  </a:tcPr>
                </a:tc>
                <a:tc>
                  <a:txBody>
                    <a:bodyPr/>
                    <a:lstStyle/>
                    <a:p>
                      <a:pPr algn="ctr" fontAlgn="ctr"/>
                      <a:r>
                        <a:rPr lang="en-US" altLang="zh-CN" sz="1800" b="0" u="none" strike="noStrike">
                          <a:effectLst/>
                        </a:rPr>
                        <a:t>500</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800" b="0" u="none" strike="noStrike" dirty="0">
                          <a:effectLst/>
                        </a:rPr>
                        <a:t>40</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800" b="0" u="none" strike="noStrike" dirty="0">
                          <a:effectLst/>
                        </a:rPr>
                        <a:t>100</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ctr" fontAlgn="ctr"/>
                      <a:r>
                        <a:rPr lang="en-US" altLang="zh-CN" sz="1800" b="0" u="none" strike="noStrike" dirty="0">
                          <a:effectLst/>
                        </a:rPr>
                        <a:t>1</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3165860173"/>
                  </a:ext>
                </a:extLst>
              </a:tr>
            </a:tbl>
          </a:graphicData>
        </a:graphic>
      </p:graphicFrame>
      <mc:AlternateContent xmlns:mc="http://schemas.openxmlformats.org/markup-compatibility/2006" xmlns:a14="http://schemas.microsoft.com/office/drawing/2010/main">
        <mc:Choice Requires="a14">
          <p:sp>
            <p:nvSpPr>
              <p:cNvPr id="11" name="文本框 10"/>
              <p:cNvSpPr txBox="1"/>
              <p:nvPr/>
            </p:nvSpPr>
            <p:spPr>
              <a:xfrm>
                <a:off x="247133" y="3977811"/>
                <a:ext cx="9750943" cy="1815882"/>
              </a:xfrm>
              <a:prstGeom prst="rect">
                <a:avLst/>
              </a:prstGeom>
              <a:noFill/>
            </p:spPr>
            <p:txBody>
              <a:bodyPr wrap="square" rtlCol="0">
                <a:spAutoFit/>
              </a:bodyPr>
              <a:lstStyle/>
              <a:p>
                <a:r>
                  <a:rPr lang="zh-CN" altLang="en-US" sz="2800" b="0" dirty="0"/>
                  <a:t>预测值</a:t>
                </a:r>
                <a14:m>
                  <m:oMath xmlns:m="http://schemas.openxmlformats.org/officeDocument/2006/math">
                    <m:r>
                      <a:rPr lang="zh-CN" altLang="en-US" sz="2800" i="1">
                        <a:latin typeface="Cambria Math" panose="02040503050406030204" pitchFamily="18" charset="0"/>
                      </a:rPr>
                      <m:t>：</m:t>
                    </m:r>
                    <m:acc>
                      <m:accPr>
                        <m:chr m:val="̂"/>
                        <m:ctrlPr>
                          <a:rPr lang="en-US" altLang="zh-CN" sz="2800" b="0" i="1" dirty="0" smtClean="0">
                            <a:latin typeface="Cambria Math" panose="02040503050406030204" pitchFamily="18" charset="0"/>
                          </a:rPr>
                        </m:ctrlPr>
                      </m:accPr>
                      <m:e>
                        <m:r>
                          <a:rPr lang="en-US" altLang="zh-CN" sz="2800" b="1" i="1" dirty="0" smtClean="0">
                            <a:latin typeface="Cambria Math" panose="02040503050406030204" pitchFamily="18" charset="0"/>
                          </a:rPr>
                          <m:t>𝒚</m:t>
                        </m:r>
                      </m:e>
                    </m:acc>
                    <m:r>
                      <a:rPr lang="en-US" altLang="zh-CN" sz="2800" i="1">
                        <a:latin typeface="Cambria Math"/>
                      </a:rPr>
                      <m:t>=</m:t>
                    </m:r>
                    <m:sSub>
                      <m:sSubPr>
                        <m:ctrlPr>
                          <a:rPr lang="en-US" altLang="zh-CN" sz="2800" i="1">
                            <a:latin typeface="Cambria Math" panose="02040503050406030204" pitchFamily="18" charset="0"/>
                          </a:rPr>
                        </m:ctrlPr>
                      </m:sSubPr>
                      <m:e>
                        <m:r>
                          <a:rPr lang="en-US" altLang="zh-CN" sz="2800" i="1">
                            <a:latin typeface="Cambria Math"/>
                          </a:rPr>
                          <m:t>𝑤</m:t>
                        </m:r>
                      </m:e>
                      <m:sub>
                        <m:r>
                          <a:rPr lang="en-US" altLang="zh-CN" sz="2800" i="1">
                            <a:latin typeface="Cambria Math"/>
                          </a:rPr>
                          <m:t>1</m:t>
                        </m:r>
                      </m:sub>
                    </m:sSub>
                    <m:sSub>
                      <m:sSubPr>
                        <m:ctrlPr>
                          <a:rPr lang="en-US" altLang="zh-CN" sz="2800" i="1">
                            <a:latin typeface="Cambria Math" panose="02040503050406030204" pitchFamily="18" charset="0"/>
                          </a:rPr>
                        </m:ctrlPr>
                      </m:sSubPr>
                      <m:e>
                        <m:r>
                          <a:rPr lang="en-US" altLang="zh-CN" sz="2800" i="1">
                            <a:latin typeface="Cambria Math"/>
                          </a:rPr>
                          <m:t>𝑥</m:t>
                        </m:r>
                      </m:e>
                      <m:sub>
                        <m:r>
                          <a:rPr lang="en-US" altLang="zh-CN" sz="2800" i="1">
                            <a:latin typeface="Cambria Math"/>
                          </a:rPr>
                          <m:t>1</m:t>
                        </m:r>
                      </m:sub>
                    </m:sSub>
                    <m:r>
                      <a:rPr lang="en-US" altLang="zh-CN" sz="2800" i="1">
                        <a:latin typeface="Cambria Math"/>
                      </a:rPr>
                      <m:t>+</m:t>
                    </m:r>
                    <m:sSub>
                      <m:sSubPr>
                        <m:ctrlPr>
                          <a:rPr lang="en-US" altLang="zh-CN" sz="2800" i="1">
                            <a:latin typeface="Cambria Math" panose="02040503050406030204" pitchFamily="18" charset="0"/>
                          </a:rPr>
                        </m:ctrlPr>
                      </m:sSubPr>
                      <m:e>
                        <m:r>
                          <a:rPr lang="en-US" altLang="zh-CN" sz="2800" i="1">
                            <a:latin typeface="Cambria Math"/>
                          </a:rPr>
                          <m:t>𝑤</m:t>
                        </m:r>
                      </m:e>
                      <m:sub>
                        <m:r>
                          <a:rPr lang="en-US" altLang="zh-CN" sz="2800" i="1">
                            <a:latin typeface="Cambria Math"/>
                          </a:rPr>
                          <m:t>2</m:t>
                        </m:r>
                      </m:sub>
                    </m:sSub>
                    <m:sSub>
                      <m:sSubPr>
                        <m:ctrlPr>
                          <a:rPr lang="en-US" altLang="zh-CN" sz="2800" i="1">
                            <a:latin typeface="Cambria Math" panose="02040503050406030204" pitchFamily="18" charset="0"/>
                          </a:rPr>
                        </m:ctrlPr>
                      </m:sSubPr>
                      <m:e>
                        <m:r>
                          <a:rPr lang="en-US" altLang="zh-CN" sz="2800" i="1">
                            <a:latin typeface="Cambria Math"/>
                          </a:rPr>
                          <m:t>𝑥</m:t>
                        </m:r>
                      </m:e>
                      <m:sub>
                        <m:r>
                          <a:rPr lang="en-US" altLang="zh-CN" sz="2800" i="1">
                            <a:latin typeface="Cambria Math"/>
                          </a:rPr>
                          <m:t>2</m:t>
                        </m:r>
                      </m:sub>
                    </m:sSub>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a:rPr>
                          <m:t>𝑤</m:t>
                        </m:r>
                      </m:e>
                      <m:sub>
                        <m:r>
                          <a:rPr lang="en-US" altLang="zh-CN" sz="2800" b="0" i="1" smtClean="0">
                            <a:latin typeface="Cambria Math" panose="02040503050406030204" pitchFamily="18" charset="0"/>
                          </a:rPr>
                          <m:t>3</m:t>
                        </m:r>
                      </m:sub>
                    </m:sSub>
                    <m:sSub>
                      <m:sSubPr>
                        <m:ctrlPr>
                          <a:rPr lang="en-US" altLang="zh-CN" sz="2800" i="1">
                            <a:latin typeface="Cambria Math" panose="02040503050406030204" pitchFamily="18" charset="0"/>
                          </a:rPr>
                        </m:ctrlPr>
                      </m:sSubPr>
                      <m:e>
                        <m:r>
                          <a:rPr lang="en-US" altLang="zh-CN" sz="2800" i="1">
                            <a:latin typeface="Cambria Math"/>
                          </a:rPr>
                          <m:t>𝑥</m:t>
                        </m:r>
                      </m:e>
                      <m:sub>
                        <m:r>
                          <a:rPr lang="en-US" altLang="zh-CN" sz="2800" b="0" i="1" smtClean="0">
                            <a:latin typeface="Cambria Math" panose="02040503050406030204" pitchFamily="18" charset="0"/>
                          </a:rPr>
                          <m:t>3</m:t>
                        </m:r>
                      </m:sub>
                    </m:sSub>
                    <m:r>
                      <a:rPr lang="en-US" altLang="zh-CN" sz="2800" i="1">
                        <a:latin typeface="Cambria Math"/>
                      </a:rPr>
                      <m:t>+</m:t>
                    </m:r>
                    <m:sSub>
                      <m:sSubPr>
                        <m:ctrlPr>
                          <a:rPr lang="en-US" altLang="zh-CN" sz="2800" i="1">
                            <a:latin typeface="Cambria Math" panose="02040503050406030204" pitchFamily="18" charset="0"/>
                          </a:rPr>
                        </m:ctrlPr>
                      </m:sSubPr>
                      <m:e>
                        <m:r>
                          <a:rPr lang="en-US" altLang="zh-CN" sz="2800" i="1">
                            <a:latin typeface="Cambria Math"/>
                          </a:rPr>
                          <m:t>𝑤</m:t>
                        </m:r>
                      </m:e>
                      <m:sub>
                        <m:r>
                          <a:rPr lang="en-US" altLang="zh-CN" sz="2800" i="1">
                            <a:latin typeface="Cambria Math"/>
                          </a:rPr>
                          <m:t>0</m:t>
                        </m:r>
                      </m:sub>
                    </m:sSub>
                  </m:oMath>
                </a14:m>
                <a:endParaRPr lang="en-US" altLang="zh-CN" sz="2800" b="0" dirty="0"/>
              </a:p>
              <a:p>
                <a:r>
                  <a:rPr lang="zh-CN" altLang="en-US" sz="2800" dirty="0"/>
                  <a:t>理论值：</a:t>
                </a:r>
                <a14:m>
                  <m:oMath xmlns:m="http://schemas.openxmlformats.org/officeDocument/2006/math">
                    <m:r>
                      <m:rPr>
                        <m:sty m:val="p"/>
                      </m:rPr>
                      <a:rPr lang="en-US" altLang="zh-CN" sz="2800" i="1" dirty="0">
                        <a:latin typeface="Cambria Math" panose="02040503050406030204" pitchFamily="18" charset="0"/>
                      </a:rPr>
                      <m:t>y</m:t>
                    </m:r>
                  </m:oMath>
                </a14:m>
                <a:endParaRPr lang="en-US" altLang="zh-CN" sz="2800" b="1" dirty="0"/>
              </a:p>
              <a:p>
                <a:r>
                  <a:rPr lang="zh-CN" altLang="en-US" sz="2800" b="1" dirty="0"/>
                  <a:t>目标函数：</a:t>
                </a:r>
                <a:endParaRPr lang="en-US" altLang="zh-CN" sz="2800" b="1" dirty="0"/>
              </a:p>
              <a:p>
                <a:endParaRPr lang="en-US" altLang="zh-CN" sz="2800" b="1" dirty="0"/>
              </a:p>
            </p:txBody>
          </p:sp>
        </mc:Choice>
        <mc:Fallback xmlns="">
          <p:sp>
            <p:nvSpPr>
              <p:cNvPr id="11" name="文本框 10"/>
              <p:cNvSpPr txBox="1">
                <a:spLocks noRot="1" noChangeAspect="1" noMove="1" noResize="1" noEditPoints="1" noAdjustHandles="1" noChangeArrowheads="1" noChangeShapeType="1" noTextEdit="1"/>
              </p:cNvSpPr>
              <p:nvPr/>
            </p:nvSpPr>
            <p:spPr>
              <a:xfrm>
                <a:off x="247133" y="3977811"/>
                <a:ext cx="9750943" cy="1815882"/>
              </a:xfrm>
              <a:prstGeom prst="rect">
                <a:avLst/>
              </a:prstGeom>
              <a:blipFill>
                <a:blip r:embed="rId3"/>
                <a:stretch>
                  <a:fillRect l="-1300" t="-34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1962768" y="4790066"/>
                <a:ext cx="2900345" cy="5959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3200" b="1" i="1" smtClean="0">
                          <a:solidFill>
                            <a:srgbClr val="FF0000"/>
                          </a:solidFill>
                          <a:latin typeface="Cambria Math" panose="02040503050406030204" pitchFamily="18" charset="0"/>
                        </a:rPr>
                        <m:t>𝑱</m:t>
                      </m:r>
                      <m:r>
                        <a:rPr lang="en-US" altLang="zh-CN" sz="3200" b="1" i="1" smtClean="0">
                          <a:solidFill>
                            <a:srgbClr val="FF0000"/>
                          </a:solidFill>
                          <a:latin typeface="Cambria Math" panose="02040503050406030204" pitchFamily="18" charset="0"/>
                        </a:rPr>
                        <m:t>= ∑</m:t>
                      </m:r>
                      <m:sSup>
                        <m:sSupPr>
                          <m:ctrlPr>
                            <a:rPr lang="en-US" altLang="zh-CN" sz="3200" b="1" i="1">
                              <a:solidFill>
                                <a:srgbClr val="FF0000"/>
                              </a:solidFill>
                              <a:latin typeface="Cambria Math" panose="02040503050406030204" pitchFamily="18" charset="0"/>
                            </a:rPr>
                          </m:ctrlPr>
                        </m:sSupPr>
                        <m:e>
                          <m:d>
                            <m:dPr>
                              <m:ctrlPr>
                                <a:rPr lang="en-US" altLang="zh-CN" sz="3200" b="1" i="1">
                                  <a:solidFill>
                                    <a:srgbClr val="FF0000"/>
                                  </a:solidFill>
                                  <a:latin typeface="Cambria Math" panose="02040503050406030204" pitchFamily="18" charset="0"/>
                                </a:rPr>
                              </m:ctrlPr>
                            </m:dPr>
                            <m:e>
                              <m:r>
                                <a:rPr lang="en-US" altLang="zh-CN" sz="3200" b="1" i="1">
                                  <a:solidFill>
                                    <a:srgbClr val="FF0000"/>
                                  </a:solidFill>
                                  <a:latin typeface="Cambria Math" panose="02040503050406030204" pitchFamily="18" charset="0"/>
                                </a:rPr>
                                <m:t>𝒚</m:t>
                              </m:r>
                              <m:r>
                                <a:rPr lang="en-US" altLang="zh-CN" sz="3200" b="1" i="1">
                                  <a:solidFill>
                                    <a:srgbClr val="FF0000"/>
                                  </a:solidFill>
                                  <a:latin typeface="Cambria Math" panose="02040503050406030204" pitchFamily="18" charset="0"/>
                                </a:rPr>
                                <m:t>−</m:t>
                              </m:r>
                              <m:acc>
                                <m:accPr>
                                  <m:chr m:val="̂"/>
                                  <m:ctrlPr>
                                    <a:rPr lang="en-US" altLang="zh-CN" sz="3200" b="1" i="1">
                                      <a:solidFill>
                                        <a:srgbClr val="FF0000"/>
                                      </a:solidFill>
                                      <a:latin typeface="Cambria Math" panose="02040503050406030204" pitchFamily="18" charset="0"/>
                                    </a:rPr>
                                  </m:ctrlPr>
                                </m:accPr>
                                <m:e>
                                  <m:r>
                                    <a:rPr lang="en-US" altLang="zh-CN" sz="3200" b="1" i="1">
                                      <a:solidFill>
                                        <a:srgbClr val="FF0000"/>
                                      </a:solidFill>
                                      <a:latin typeface="Cambria Math" panose="02040503050406030204" pitchFamily="18" charset="0"/>
                                    </a:rPr>
                                    <m:t>𝒚</m:t>
                                  </m:r>
                                </m:e>
                              </m:acc>
                            </m:e>
                          </m:d>
                        </m:e>
                        <m:sup>
                          <m:r>
                            <a:rPr lang="en-US" altLang="zh-CN" sz="3200" b="1" i="1">
                              <a:solidFill>
                                <a:srgbClr val="FF0000"/>
                              </a:solidFill>
                              <a:latin typeface="Cambria Math" panose="02040503050406030204" pitchFamily="18" charset="0"/>
                            </a:rPr>
                            <m:t>𝟐</m:t>
                          </m:r>
                        </m:sup>
                      </m:sSup>
                    </m:oMath>
                  </m:oMathPara>
                </a14:m>
                <a:endParaRPr lang="zh-CN" altLang="en-US" sz="3200" dirty="0">
                  <a:solidFill>
                    <a:srgbClr val="FF0000"/>
                  </a:solidFill>
                </a:endParaRPr>
              </a:p>
            </p:txBody>
          </p:sp>
        </mc:Choice>
        <mc:Fallback xmlns="">
          <p:sp>
            <p:nvSpPr>
              <p:cNvPr id="14" name="矩形 13"/>
              <p:cNvSpPr>
                <a:spLocks noRot="1" noChangeAspect="1" noMove="1" noResize="1" noEditPoints="1" noAdjustHandles="1" noChangeArrowheads="1" noChangeShapeType="1" noTextEdit="1"/>
              </p:cNvSpPr>
              <p:nvPr/>
            </p:nvSpPr>
            <p:spPr>
              <a:xfrm>
                <a:off x="1962768" y="4790066"/>
                <a:ext cx="2900345" cy="595932"/>
              </a:xfrm>
              <a:prstGeom prst="rect">
                <a:avLst/>
              </a:prstGeom>
              <a:blipFill>
                <a:blip r:embed="rId4"/>
                <a:stretch>
                  <a:fillRect l="-435" t="-10417" b="-208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D99C9D92-F947-5050-99AA-B5D25CB1AAA5}"/>
                  </a:ext>
                </a:extLst>
              </p:cNvPr>
              <p:cNvSpPr txBox="1"/>
              <p:nvPr/>
            </p:nvSpPr>
            <p:spPr>
              <a:xfrm>
                <a:off x="6221627" y="1213427"/>
                <a:ext cx="4427914" cy="830997"/>
              </a:xfrm>
              <a:prstGeom prst="rect">
                <a:avLst/>
              </a:prstGeom>
              <a:noFill/>
            </p:spPr>
            <p:txBody>
              <a:bodyPr wrap="square">
                <a:spAutoFit/>
              </a:bodyPr>
              <a:lstStyle/>
              <a:p>
                <a:r>
                  <a:rPr lang="zh-CN" altLang="en-US" sz="2400" dirty="0"/>
                  <a:t>如果</a:t>
                </a:r>
                <a14:m>
                  <m:oMath xmlns:m="http://schemas.openxmlformats.org/officeDocument/2006/math">
                    <m:acc>
                      <m:accPr>
                        <m:chr m:val="̂"/>
                        <m:ctrlPr>
                          <a:rPr lang="en-US" altLang="zh-CN" sz="2400" i="1" dirty="0" smtClean="0">
                            <a:latin typeface="Cambria Math" panose="02040503050406030204" pitchFamily="18" charset="0"/>
                          </a:rPr>
                        </m:ctrlPr>
                      </m:accPr>
                      <m:e>
                        <m:r>
                          <a:rPr lang="en-US" altLang="zh-CN" sz="2400" b="1" i="1" dirty="0">
                            <a:latin typeface="Cambria Math" panose="02040503050406030204" pitchFamily="18" charset="0"/>
                          </a:rPr>
                          <m:t>𝒚</m:t>
                        </m:r>
                      </m:e>
                    </m:acc>
                  </m:oMath>
                </a14:m>
                <a:r>
                  <a:rPr lang="zh-CN" altLang="en-US" sz="2400" dirty="0"/>
                  <a:t> </a:t>
                </a:r>
                <a:r>
                  <a:rPr lang="en-US" altLang="zh-CN" sz="2400" dirty="0"/>
                  <a:t>&gt;0 </a:t>
                </a:r>
                <a:r>
                  <a:rPr lang="zh-CN" altLang="en-US" sz="2400" dirty="0"/>
                  <a:t>则属于第</a:t>
                </a:r>
                <a:r>
                  <a:rPr lang="en-US" altLang="zh-CN" sz="2400" dirty="0"/>
                  <a:t>1</a:t>
                </a:r>
                <a:r>
                  <a:rPr lang="zh-CN" altLang="en-US" sz="2400" dirty="0"/>
                  <a:t>类（正类），否则属于负类</a:t>
                </a:r>
                <a:endParaRPr lang="en-US" altLang="zh-CN" sz="2400" b="1" dirty="0"/>
              </a:p>
            </p:txBody>
          </p:sp>
        </mc:Choice>
        <mc:Fallback xmlns="">
          <p:sp>
            <p:nvSpPr>
              <p:cNvPr id="6" name="文本框 5">
                <a:extLst>
                  <a:ext uri="{FF2B5EF4-FFF2-40B4-BE49-F238E27FC236}">
                    <a16:creationId xmlns:a16="http://schemas.microsoft.com/office/drawing/2014/main" id="{D99C9D92-F947-5050-99AA-B5D25CB1AAA5}"/>
                  </a:ext>
                </a:extLst>
              </p:cNvPr>
              <p:cNvSpPr txBox="1">
                <a:spLocks noRot="1" noChangeAspect="1" noMove="1" noResize="1" noEditPoints="1" noAdjustHandles="1" noChangeArrowheads="1" noChangeShapeType="1" noTextEdit="1"/>
              </p:cNvSpPr>
              <p:nvPr/>
            </p:nvSpPr>
            <p:spPr>
              <a:xfrm>
                <a:off x="6221627" y="1213427"/>
                <a:ext cx="4427914" cy="830997"/>
              </a:xfrm>
              <a:prstGeom prst="rect">
                <a:avLst/>
              </a:prstGeom>
              <a:blipFill>
                <a:blip r:embed="rId5"/>
                <a:stretch>
                  <a:fillRect l="-2292" t="-6061" r="-9169" b="-151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E3C5CF83-6F4E-27A7-BBBF-40575B8D43AD}"/>
                  </a:ext>
                </a:extLst>
              </p:cNvPr>
              <p:cNvSpPr txBox="1"/>
              <p:nvPr/>
            </p:nvSpPr>
            <p:spPr>
              <a:xfrm>
                <a:off x="6221627" y="2264664"/>
                <a:ext cx="5345584" cy="830997"/>
              </a:xfrm>
              <a:prstGeom prst="rect">
                <a:avLst/>
              </a:prstGeom>
              <a:noFill/>
            </p:spPr>
            <p:txBody>
              <a:bodyPr wrap="square">
                <a:spAutoFit/>
              </a:bodyPr>
              <a:lstStyle/>
              <a:p>
                <a:r>
                  <a:rPr lang="zh-CN" altLang="en-US" sz="2400" b="1" dirty="0">
                    <a:solidFill>
                      <a:srgbClr val="0070C0"/>
                    </a:solidFill>
                  </a:rPr>
                  <a:t>是否有一个模型，使得到的</a:t>
                </a:r>
                <a14:m>
                  <m:oMath xmlns:m="http://schemas.openxmlformats.org/officeDocument/2006/math">
                    <m:acc>
                      <m:accPr>
                        <m:chr m:val="̂"/>
                        <m:ctrlPr>
                          <a:rPr lang="en-US" altLang="zh-CN" sz="2400" b="1" i="1" dirty="0" smtClean="0">
                            <a:solidFill>
                              <a:srgbClr val="0070C0"/>
                            </a:solidFill>
                            <a:latin typeface="Cambria Math" panose="02040503050406030204" pitchFamily="18" charset="0"/>
                          </a:rPr>
                        </m:ctrlPr>
                      </m:accPr>
                      <m:e>
                        <m:r>
                          <a:rPr lang="en-US" altLang="zh-CN" sz="2400" b="1" i="1" dirty="0" smtClean="0">
                            <a:solidFill>
                              <a:srgbClr val="0070C0"/>
                            </a:solidFill>
                            <a:latin typeface="Cambria Math" panose="02040503050406030204" pitchFamily="18" charset="0"/>
                          </a:rPr>
                          <m:t>𝒚</m:t>
                        </m:r>
                      </m:e>
                    </m:acc>
                  </m:oMath>
                </a14:m>
                <a:r>
                  <a:rPr lang="zh-CN" altLang="en-US" sz="2400" b="1" dirty="0">
                    <a:solidFill>
                      <a:srgbClr val="0070C0"/>
                    </a:solidFill>
                  </a:rPr>
                  <a:t>在</a:t>
                </a:r>
                <a:r>
                  <a:rPr lang="en-US" altLang="zh-CN" sz="2400" b="1" dirty="0">
                    <a:solidFill>
                      <a:srgbClr val="0070C0"/>
                    </a:solidFill>
                  </a:rPr>
                  <a:t>[0</a:t>
                </a:r>
                <a:r>
                  <a:rPr lang="zh-CN" altLang="en-US" sz="2400" b="1" dirty="0">
                    <a:solidFill>
                      <a:srgbClr val="0070C0"/>
                    </a:solidFill>
                  </a:rPr>
                  <a:t>，</a:t>
                </a:r>
                <a:r>
                  <a:rPr lang="en-US" altLang="zh-CN" sz="2400" b="1" dirty="0">
                    <a:solidFill>
                      <a:srgbClr val="0070C0"/>
                    </a:solidFill>
                  </a:rPr>
                  <a:t>1]</a:t>
                </a:r>
                <a:r>
                  <a:rPr lang="zh-CN" altLang="en-US" sz="2400" b="1" dirty="0">
                    <a:solidFill>
                      <a:srgbClr val="0070C0"/>
                    </a:solidFill>
                  </a:rPr>
                  <a:t>之间，表示属于正类的概率？</a:t>
                </a:r>
              </a:p>
            </p:txBody>
          </p:sp>
        </mc:Choice>
        <mc:Fallback xmlns="">
          <p:sp>
            <p:nvSpPr>
              <p:cNvPr id="9" name="文本框 8">
                <a:extLst>
                  <a:ext uri="{FF2B5EF4-FFF2-40B4-BE49-F238E27FC236}">
                    <a16:creationId xmlns:a16="http://schemas.microsoft.com/office/drawing/2014/main" id="{E3C5CF83-6F4E-27A7-BBBF-40575B8D43AD}"/>
                  </a:ext>
                </a:extLst>
              </p:cNvPr>
              <p:cNvSpPr txBox="1">
                <a:spLocks noRot="1" noChangeAspect="1" noMove="1" noResize="1" noEditPoints="1" noAdjustHandles="1" noChangeArrowheads="1" noChangeShapeType="1" noTextEdit="1"/>
              </p:cNvSpPr>
              <p:nvPr/>
            </p:nvSpPr>
            <p:spPr>
              <a:xfrm>
                <a:off x="6221627" y="2264664"/>
                <a:ext cx="5345584" cy="830997"/>
              </a:xfrm>
              <a:prstGeom prst="rect">
                <a:avLst/>
              </a:prstGeom>
              <a:blipFill>
                <a:blip r:embed="rId6"/>
                <a:stretch>
                  <a:fillRect l="-1896" t="-6061" b="-15152"/>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909313F1-3E40-3E63-0539-00973CB058D7}"/>
              </a:ext>
            </a:extLst>
          </p:cNvPr>
          <p:cNvSpPr txBox="1"/>
          <p:nvPr/>
        </p:nvSpPr>
        <p:spPr>
          <a:xfrm>
            <a:off x="7944500" y="3300675"/>
            <a:ext cx="2277515" cy="461665"/>
          </a:xfrm>
          <a:prstGeom prst="rect">
            <a:avLst/>
          </a:prstGeom>
          <a:noFill/>
        </p:spPr>
        <p:txBody>
          <a:bodyPr wrap="square">
            <a:spAutoFit/>
          </a:bodyPr>
          <a:lstStyle/>
          <a:p>
            <a:r>
              <a:rPr lang="zh-CN" altLang="en-US" sz="2400" b="1" dirty="0">
                <a:solidFill>
                  <a:srgbClr val="FF0000"/>
                </a:solidFill>
              </a:rPr>
              <a:t>逻辑回归</a:t>
            </a:r>
            <a:endParaRPr lang="zh-CN" altLang="en-US" sz="2400" dirty="0">
              <a:solidFill>
                <a:srgbClr val="FF0000"/>
              </a:solidFill>
            </a:endParaRPr>
          </a:p>
        </p:txBody>
      </p:sp>
    </p:spTree>
    <p:extLst>
      <p:ext uri="{BB962C8B-B14F-4D97-AF65-F5344CB8AC3E}">
        <p14:creationId xmlns:p14="http://schemas.microsoft.com/office/powerpoint/2010/main" val="1877891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逻辑回归</a:t>
            </a:r>
          </a:p>
        </p:txBody>
      </p:sp>
      <mc:AlternateContent xmlns:mc="http://schemas.openxmlformats.org/markup-compatibility/2006" xmlns:a14="http://schemas.microsoft.com/office/drawing/2010/main">
        <mc:Choice Requires="a14">
          <p:sp>
            <p:nvSpPr>
              <p:cNvPr id="3" name="文本框 2"/>
              <p:cNvSpPr txBox="1"/>
              <p:nvPr/>
            </p:nvSpPr>
            <p:spPr>
              <a:xfrm>
                <a:off x="430326" y="4040627"/>
                <a:ext cx="7439488" cy="2559290"/>
              </a:xfrm>
              <a:prstGeom prst="rect">
                <a:avLst/>
              </a:prstGeom>
              <a:noFill/>
            </p:spPr>
            <p:txBody>
              <a:bodyPr wrap="square" rtlCol="0">
                <a:spAutoFit/>
              </a:bodyPr>
              <a:lstStyle/>
              <a:p>
                <a:endParaRPr lang="en-US" altLang="zh-CN" sz="2800" dirty="0"/>
              </a:p>
              <a:p>
                <a:r>
                  <a:rPr lang="zh-CN" altLang="en-US" sz="4400" b="1" dirty="0"/>
                  <a:t>逻辑回归（</a:t>
                </a:r>
                <a:r>
                  <a:rPr lang="zh-CN" altLang="en-US" sz="4400" b="1" dirty="0">
                    <a:solidFill>
                      <a:srgbClr val="FF0000"/>
                    </a:solidFill>
                  </a:rPr>
                  <a:t>分类模型</a:t>
                </a:r>
                <a:r>
                  <a:rPr lang="zh-CN" altLang="en-US" sz="4400" b="1" dirty="0"/>
                  <a:t>）</a:t>
                </a:r>
                <a:endParaRPr lang="en-US" altLang="zh-CN" sz="4400" b="1" dirty="0"/>
              </a:p>
              <a:p>
                <a:r>
                  <a:rPr lang="en-US" altLang="zh-CN" sz="2800" dirty="0"/>
                  <a:t>    </a:t>
                </a:r>
                <a:r>
                  <a:rPr lang="en-US" altLang="zh-CN" sz="4000" dirty="0"/>
                  <a:t> </a:t>
                </a:r>
                <a14:m>
                  <m:oMath xmlns:m="http://schemas.openxmlformats.org/officeDocument/2006/math">
                    <m:r>
                      <a:rPr lang="en-US" altLang="zh-CN" sz="4000" i="1">
                        <a:latin typeface="Cambria Math" panose="02040503050406030204" pitchFamily="18" charset="0"/>
                      </a:rPr>
                      <m:t>𝑦</m:t>
                    </m:r>
                    <m:r>
                      <a:rPr lang="en-US" altLang="zh-CN" sz="4000" i="1">
                        <a:latin typeface="Cambria Math" panose="02040503050406030204" pitchFamily="18" charset="0"/>
                      </a:rPr>
                      <m:t>=</m:t>
                    </m:r>
                    <m:sSub>
                      <m:sSubPr>
                        <m:ctrlPr>
                          <a:rPr lang="en-US" altLang="zh-CN" sz="4000" i="1">
                            <a:latin typeface="Cambria Math" panose="02040503050406030204" pitchFamily="18" charset="0"/>
                          </a:rPr>
                        </m:ctrlPr>
                      </m:sSubPr>
                      <m:e>
                        <m:r>
                          <a:rPr lang="en-US" altLang="zh-CN" sz="4000" i="1">
                            <a:latin typeface="Cambria Math" panose="02040503050406030204" pitchFamily="18" charset="0"/>
                          </a:rPr>
                          <m:t>h</m:t>
                        </m:r>
                      </m:e>
                      <m:sub>
                        <m:r>
                          <a:rPr lang="en-US" altLang="zh-CN" sz="4000" i="1">
                            <a:latin typeface="Cambria Math" panose="02040503050406030204" pitchFamily="18" charset="0"/>
                            <a:ea typeface="Cambria Math" panose="02040503050406030204" pitchFamily="18" charset="0"/>
                          </a:rPr>
                          <m:t>𝜃</m:t>
                        </m:r>
                      </m:sub>
                    </m:sSub>
                    <m:r>
                      <a:rPr lang="en-US" altLang="zh-CN" sz="4000">
                        <a:latin typeface="Cambria Math" panose="02040503050406030204" pitchFamily="18" charset="0"/>
                      </a:rPr>
                      <m:t>(</m:t>
                    </m:r>
                    <m:r>
                      <m:rPr>
                        <m:sty m:val="p"/>
                      </m:rPr>
                      <a:rPr lang="en-US" altLang="zh-CN" sz="4000">
                        <a:latin typeface="Cambria Math" panose="02040503050406030204" pitchFamily="18" charset="0"/>
                      </a:rPr>
                      <m:t>x</m:t>
                    </m:r>
                    <m:r>
                      <a:rPr lang="en-US" altLang="zh-CN" sz="4000">
                        <a:latin typeface="Cambria Math" panose="02040503050406030204" pitchFamily="18" charset="0"/>
                      </a:rPr>
                      <m:t>)=</m:t>
                    </m:r>
                    <m:f>
                      <m:fPr>
                        <m:ctrlPr>
                          <a:rPr lang="en-US" altLang="zh-CN" sz="4000" b="0" i="1" smtClean="0">
                            <a:latin typeface="Cambria Math" panose="02040503050406030204" pitchFamily="18" charset="0"/>
                          </a:rPr>
                        </m:ctrlPr>
                      </m:fPr>
                      <m:num>
                        <m:r>
                          <a:rPr lang="en-US" altLang="zh-CN" sz="4000" b="0" i="1" smtClean="0">
                            <a:latin typeface="Cambria Math" panose="02040503050406030204" pitchFamily="18" charset="0"/>
                          </a:rPr>
                          <m:t>1</m:t>
                        </m:r>
                      </m:num>
                      <m:den>
                        <m:r>
                          <a:rPr lang="en-US" altLang="zh-CN" sz="4000" b="0" i="1" smtClean="0">
                            <a:latin typeface="Cambria Math" panose="02040503050406030204" pitchFamily="18" charset="0"/>
                          </a:rPr>
                          <m:t>1+</m:t>
                        </m:r>
                        <m:sSup>
                          <m:sSupPr>
                            <m:ctrlPr>
                              <a:rPr lang="en-US" altLang="zh-CN" sz="4000" b="0" i="1" smtClean="0">
                                <a:latin typeface="Cambria Math" panose="02040503050406030204" pitchFamily="18" charset="0"/>
                              </a:rPr>
                            </m:ctrlPr>
                          </m:sSupPr>
                          <m:e>
                            <m:r>
                              <a:rPr lang="en-US" altLang="zh-CN" sz="4000" b="0" i="1" smtClean="0">
                                <a:latin typeface="Cambria Math" panose="02040503050406030204" pitchFamily="18" charset="0"/>
                              </a:rPr>
                              <m:t>𝑒</m:t>
                            </m:r>
                          </m:e>
                          <m:sup>
                            <m:r>
                              <a:rPr lang="en-US" altLang="zh-CN" sz="4000" b="0" i="1" smtClean="0">
                                <a:latin typeface="Cambria Math" panose="02040503050406030204" pitchFamily="18" charset="0"/>
                              </a:rPr>
                              <m:t>−</m:t>
                            </m:r>
                            <m:sSup>
                              <m:sSupPr>
                                <m:ctrlPr>
                                  <a:rPr lang="en-US" altLang="zh-CN" sz="4000" i="1">
                                    <a:latin typeface="Cambria Math" panose="02040503050406030204" pitchFamily="18" charset="0"/>
                                  </a:rPr>
                                </m:ctrlPr>
                              </m:sSupPr>
                              <m:e>
                                <m:r>
                                  <a:rPr lang="en-US" altLang="zh-CN" sz="4000" b="0" i="1" smtClean="0">
                                    <a:latin typeface="Cambria Math" panose="02040503050406030204" pitchFamily="18" charset="0"/>
                                  </a:rPr>
                                  <m:t>(</m:t>
                                </m:r>
                                <m:r>
                                  <a:rPr lang="en-US" altLang="zh-CN" sz="4000" i="1">
                                    <a:latin typeface="Cambria Math" panose="02040503050406030204" pitchFamily="18" charset="0"/>
                                    <a:ea typeface="Cambria Math" panose="02040503050406030204" pitchFamily="18" charset="0"/>
                                  </a:rPr>
                                  <m:t>𝜃</m:t>
                                </m:r>
                              </m:e>
                              <m:sup>
                                <m:r>
                                  <a:rPr lang="en-US" altLang="zh-CN" sz="4000" i="1">
                                    <a:latin typeface="Cambria Math" panose="02040503050406030204" pitchFamily="18" charset="0"/>
                                  </a:rPr>
                                  <m:t>𝑇</m:t>
                                </m:r>
                              </m:sup>
                            </m:sSup>
                            <m:r>
                              <a:rPr lang="en-US" altLang="zh-CN" sz="4000" i="1">
                                <a:latin typeface="Cambria Math" panose="02040503050406030204" pitchFamily="18" charset="0"/>
                              </a:rPr>
                              <m:t>𝑋</m:t>
                            </m:r>
                            <m:r>
                              <a:rPr lang="en-US" altLang="zh-CN" sz="4000" b="0" i="1" smtClean="0">
                                <a:latin typeface="Cambria Math" panose="02040503050406030204" pitchFamily="18" charset="0"/>
                              </a:rPr>
                              <m:t>+</m:t>
                            </m:r>
                            <m:r>
                              <a:rPr lang="en-US" altLang="zh-CN" sz="4000" b="0" i="1" smtClean="0">
                                <a:latin typeface="Cambria Math" panose="02040503050406030204" pitchFamily="18" charset="0"/>
                              </a:rPr>
                              <m:t>𝑏</m:t>
                            </m:r>
                            <m:r>
                              <a:rPr lang="en-US" altLang="zh-CN" sz="4000" b="0" i="1" smtClean="0">
                                <a:latin typeface="Cambria Math" panose="02040503050406030204" pitchFamily="18" charset="0"/>
                              </a:rPr>
                              <m:t>)</m:t>
                            </m:r>
                          </m:sup>
                        </m:sSup>
                      </m:den>
                    </m:f>
                  </m:oMath>
                </a14:m>
                <a:endParaRPr lang="en-US" altLang="zh-CN" sz="4000" dirty="0"/>
              </a:p>
              <a:p>
                <a:endParaRPr lang="en-US" altLang="zh-CN" sz="2800" dirty="0"/>
              </a:p>
            </p:txBody>
          </p:sp>
        </mc:Choice>
        <mc:Fallback xmlns="">
          <p:sp>
            <p:nvSpPr>
              <p:cNvPr id="3" name="文本框 2"/>
              <p:cNvSpPr txBox="1">
                <a:spLocks noRot="1" noChangeAspect="1" noMove="1" noResize="1" noEditPoints="1" noAdjustHandles="1" noChangeArrowheads="1" noChangeShapeType="1" noTextEdit="1"/>
              </p:cNvSpPr>
              <p:nvPr/>
            </p:nvSpPr>
            <p:spPr>
              <a:xfrm>
                <a:off x="430326" y="4040627"/>
                <a:ext cx="7439488" cy="2559290"/>
              </a:xfrm>
              <a:prstGeom prst="rect">
                <a:avLst/>
              </a:prstGeom>
              <a:blipFill>
                <a:blip r:embed="rId3"/>
                <a:stretch>
                  <a:fillRect l="-3413"/>
                </a:stretch>
              </a:blipFill>
            </p:spPr>
            <p:txBody>
              <a:bodyPr/>
              <a:lstStyle/>
              <a:p>
                <a:r>
                  <a:rPr lang="zh-CN" altLang="en-US">
                    <a:noFill/>
                  </a:rPr>
                  <a:t> </a:t>
                </a:r>
              </a:p>
            </p:txBody>
          </p:sp>
        </mc:Fallback>
      </mc:AlternateContent>
      <p:pic>
        <p:nvPicPr>
          <p:cNvPr id="4"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4433" y="3849729"/>
            <a:ext cx="4719522" cy="2271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94777" y="869305"/>
            <a:ext cx="3952875" cy="270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组合 5">
            <a:extLst>
              <a:ext uri="{FF2B5EF4-FFF2-40B4-BE49-F238E27FC236}">
                <a16:creationId xmlns:a16="http://schemas.microsoft.com/office/drawing/2014/main" id="{FFCBB9EC-0405-4E29-845E-87AEE769F771}"/>
              </a:ext>
            </a:extLst>
          </p:cNvPr>
          <p:cNvGrpSpPr>
            <a:grpSpLocks/>
          </p:cNvGrpSpPr>
          <p:nvPr/>
        </p:nvGrpSpPr>
        <p:grpSpPr bwMode="auto">
          <a:xfrm>
            <a:off x="430326" y="3524977"/>
            <a:ext cx="5139617" cy="825121"/>
            <a:chOff x="251520" y="3463295"/>
            <a:chExt cx="2504607" cy="825121"/>
          </a:xfrm>
        </p:grpSpPr>
        <p:sp>
          <p:nvSpPr>
            <p:cNvPr id="7" name="TextBox 19">
              <a:extLst>
                <a:ext uri="{FF2B5EF4-FFF2-40B4-BE49-F238E27FC236}">
                  <a16:creationId xmlns:a16="http://schemas.microsoft.com/office/drawing/2014/main" id="{7E7EEE17-7E4E-2192-DF28-986C4ED50A0D}"/>
                </a:ext>
              </a:extLst>
            </p:cNvPr>
            <p:cNvSpPr txBox="1">
              <a:spLocks noChangeArrowheads="1"/>
            </p:cNvSpPr>
            <p:nvPr/>
          </p:nvSpPr>
          <p:spPr bwMode="auto">
            <a:xfrm>
              <a:off x="251520" y="3645024"/>
              <a:ext cx="16218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zh-CN" altLang="en-US" sz="2400" b="1" dirty="0">
                  <a:solidFill>
                    <a:srgbClr val="000000"/>
                  </a:solidFill>
                  <a:latin typeface="Calibri" panose="020F0502020204030204" pitchFamily="34" charset="0"/>
                  <a:ea typeface="宋体" panose="02010600030101010101" pitchFamily="2" charset="-122"/>
                </a:rPr>
                <a:t>逻辑函数（</a:t>
              </a:r>
              <a:r>
                <a:rPr lang="en-US" altLang="zh-CN" sz="2400" b="1" dirty="0">
                  <a:solidFill>
                    <a:srgbClr val="000000"/>
                  </a:solidFill>
                  <a:latin typeface="Calibri" panose="020F0502020204030204" pitchFamily="34" charset="0"/>
                  <a:ea typeface="宋体" panose="02010600030101010101" pitchFamily="2" charset="-122"/>
                </a:rPr>
                <a:t>Sigmoid</a:t>
              </a:r>
              <a:r>
                <a:rPr lang="zh-CN" altLang="en-US" sz="2400" b="1" dirty="0">
                  <a:solidFill>
                    <a:srgbClr val="000000"/>
                  </a:solidFill>
                  <a:latin typeface="Calibri" panose="020F0502020204030204" pitchFamily="34" charset="0"/>
                  <a:ea typeface="宋体" panose="02010600030101010101" pitchFamily="2" charset="-122"/>
                </a:rPr>
                <a:t>）</a:t>
              </a:r>
              <a:r>
                <a:rPr lang="zh-CN" altLang="en-US" sz="1800" b="1" dirty="0">
                  <a:solidFill>
                    <a:srgbClr val="000000"/>
                  </a:solidFill>
                  <a:latin typeface="Calibri" panose="020F0502020204030204" pitchFamily="34" charset="0"/>
                  <a:ea typeface="宋体" panose="02010600030101010101" pitchFamily="2" charset="-122"/>
                </a:rPr>
                <a:t>：</a:t>
              </a:r>
            </a:p>
          </p:txBody>
        </p:sp>
        <p:graphicFrame>
          <p:nvGraphicFramePr>
            <p:cNvPr id="8" name="对象 20">
              <a:extLst>
                <a:ext uri="{FF2B5EF4-FFF2-40B4-BE49-F238E27FC236}">
                  <a16:creationId xmlns:a16="http://schemas.microsoft.com/office/drawing/2014/main" id="{0F7F9A83-2F0C-80F7-0D99-F5F36D046D02}"/>
                </a:ext>
              </a:extLst>
            </p:cNvPr>
            <p:cNvGraphicFramePr>
              <a:graphicFrameLocks noChangeAspect="1"/>
            </p:cNvGraphicFramePr>
            <p:nvPr>
              <p:extLst>
                <p:ext uri="{D42A27DB-BD31-4B8C-83A1-F6EECF244321}">
                  <p14:modId xmlns:p14="http://schemas.microsoft.com/office/powerpoint/2010/main" val="3647886471"/>
                </p:ext>
              </p:extLst>
            </p:nvPr>
          </p:nvGraphicFramePr>
          <p:xfrm>
            <a:off x="1831582" y="3463295"/>
            <a:ext cx="924545" cy="825121"/>
          </p:xfrm>
          <a:graphic>
            <a:graphicData uri="http://schemas.openxmlformats.org/presentationml/2006/ole">
              <mc:AlternateContent xmlns:mc="http://schemas.openxmlformats.org/markup-compatibility/2006">
                <mc:Choice xmlns:v="urn:schemas-microsoft-com:vml" Requires="v">
                  <p:oleObj name="公式" r:id="rId6" imgW="0" imgH="0" progId="Equation.3">
                    <p:embed/>
                  </p:oleObj>
                </mc:Choice>
                <mc:Fallback>
                  <p:oleObj name="公式" r:id="rId6" imgW="0" imgH="0" progId="Equation.3">
                    <p:embed/>
                    <p:pic>
                      <p:nvPicPr>
                        <p:cNvPr id="208912" name="对象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31582" y="3463295"/>
                          <a:ext cx="924545" cy="825121"/>
                        </a:xfrm>
                        <a:prstGeom prst="rect">
                          <a:avLst/>
                        </a:prstGeom>
                        <a:noFill/>
                        <a:ln>
                          <a:noFill/>
                        </a:ln>
                      </p:spPr>
                    </p:pic>
                  </p:oleObj>
                </mc:Fallback>
              </mc:AlternateContent>
            </a:graphicData>
          </a:graphic>
        </p:graphicFrame>
      </p:gr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3875D24F-4BCC-1A23-D73F-231EF2168CC4}"/>
                  </a:ext>
                </a:extLst>
              </p:cNvPr>
              <p:cNvSpPr txBox="1"/>
              <p:nvPr/>
            </p:nvSpPr>
            <p:spPr>
              <a:xfrm>
                <a:off x="541537" y="1321396"/>
                <a:ext cx="6790398" cy="1446550"/>
              </a:xfrm>
              <a:prstGeom prst="rect">
                <a:avLst/>
              </a:prstGeom>
              <a:noFill/>
            </p:spPr>
            <p:txBody>
              <a:bodyPr wrap="square">
                <a:spAutoFit/>
              </a:bodyPr>
              <a:lstStyle/>
              <a:p>
                <a:r>
                  <a:rPr lang="zh-CN" altLang="en-US" sz="2400" dirty="0">
                    <a:latin typeface="Cambria Math" panose="02040503050406030204" pitchFamily="18" charset="0"/>
                  </a:rPr>
                  <a:t>线性回归</a:t>
                </a:r>
                <a:r>
                  <a:rPr lang="en-US" altLang="zh-CN" sz="2400" dirty="0">
                    <a:latin typeface="Cambria Math" panose="02040503050406030204" pitchFamily="18" charset="0"/>
                  </a:rPr>
                  <a:t>(</a:t>
                </a:r>
                <a:r>
                  <a:rPr lang="zh-CN" altLang="en-US" sz="2400" dirty="0">
                    <a:latin typeface="Cambria Math" panose="02040503050406030204" pitchFamily="18" charset="0"/>
                  </a:rPr>
                  <a:t>侧重回归</a:t>
                </a:r>
                <a:r>
                  <a:rPr lang="en-US" altLang="zh-CN" sz="2400" dirty="0">
                    <a:latin typeface="Cambria Math" panose="02040503050406030204" pitchFamily="18" charset="0"/>
                  </a:rPr>
                  <a:t>)</a:t>
                </a:r>
                <a:endParaRPr lang="en-US" altLang="zh-CN" sz="2400" b="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𝑦</m:t>
                      </m:r>
                      <m:r>
                        <a:rPr lang="en-US" altLang="zh-CN" sz="3200" b="0" i="1" smtClean="0">
                          <a:latin typeface="Cambria Math" panose="02040503050406030204" pitchFamily="18" charset="0"/>
                        </a:rPr>
                        <m:t>=</m:t>
                      </m:r>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𝑏</m:t>
                          </m:r>
                          <m:r>
                            <a:rPr lang="en-US" altLang="zh-CN" sz="3200" b="0" i="1" smtClean="0">
                              <a:latin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𝜃</m:t>
                          </m:r>
                        </m:e>
                        <m:sub>
                          <m:r>
                            <a:rPr lang="en-US" altLang="zh-CN" sz="3200" b="0" i="1" smtClean="0">
                              <a:latin typeface="Cambria Math" panose="02040503050406030204" pitchFamily="18" charset="0"/>
                            </a:rPr>
                            <m:t>1</m:t>
                          </m:r>
                        </m:sub>
                      </m:sSub>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𝑥</m:t>
                          </m:r>
                        </m:e>
                        <m:sub>
                          <m:r>
                            <a:rPr lang="en-US" altLang="zh-CN" sz="3200" b="0" i="1" smtClean="0">
                              <a:latin typeface="Cambria Math" panose="02040503050406030204" pitchFamily="18" charset="0"/>
                            </a:rPr>
                            <m:t>1</m:t>
                          </m:r>
                        </m:sub>
                      </m:sSub>
                      <m:r>
                        <a:rPr lang="en-US" altLang="zh-CN" sz="3200" b="0" i="1" smtClean="0">
                          <a:latin typeface="Cambria Math" panose="02040503050406030204" pitchFamily="18" charset="0"/>
                        </a:rPr>
                        <m:t>+</m:t>
                      </m:r>
                      <m:sSub>
                        <m:sSubPr>
                          <m:ctrlPr>
                            <a:rPr lang="en-US" altLang="zh-CN" sz="3200" b="0" i="1" smtClean="0">
                              <a:latin typeface="Cambria Math" panose="02040503050406030204" pitchFamily="18" charset="0"/>
                            </a:rPr>
                          </m:ctrlPr>
                        </m:sSubPr>
                        <m:e>
                          <m:r>
                            <a:rPr lang="en-US" altLang="zh-CN" sz="3200" i="1">
                              <a:latin typeface="Cambria Math" panose="02040503050406030204" pitchFamily="18" charset="0"/>
                              <a:ea typeface="Cambria Math" panose="02040503050406030204" pitchFamily="18" charset="0"/>
                            </a:rPr>
                            <m:t>𝜃</m:t>
                          </m:r>
                        </m:e>
                        <m:sub>
                          <m:r>
                            <a:rPr lang="en-US" altLang="zh-CN" sz="3200" b="0" i="1" smtClean="0">
                              <a:latin typeface="Cambria Math" panose="02040503050406030204" pitchFamily="18" charset="0"/>
                            </a:rPr>
                            <m:t>2</m:t>
                          </m:r>
                        </m:sub>
                      </m:sSub>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𝑥</m:t>
                          </m:r>
                        </m:e>
                        <m:sub>
                          <m:r>
                            <a:rPr lang="en-US" altLang="zh-CN" sz="3200" b="0" i="1" smtClean="0">
                              <a:latin typeface="Cambria Math" panose="02040503050406030204" pitchFamily="18" charset="0"/>
                            </a:rPr>
                            <m:t>2</m:t>
                          </m:r>
                        </m:sub>
                      </m:sSub>
                      <m:r>
                        <a:rPr lang="en-US" altLang="zh-CN" sz="3200" b="0" i="1" smtClean="0">
                          <a:latin typeface="Cambria Math" panose="02040503050406030204" pitchFamily="18" charset="0"/>
                        </a:rPr>
                        <m:t>+…+</m:t>
                      </m:r>
                      <m:sSub>
                        <m:sSubPr>
                          <m:ctrlPr>
                            <a:rPr lang="en-US" altLang="zh-CN" sz="3200" b="0" i="1" smtClean="0">
                              <a:latin typeface="Cambria Math" panose="02040503050406030204" pitchFamily="18" charset="0"/>
                            </a:rPr>
                          </m:ctrlPr>
                        </m:sSubPr>
                        <m:e>
                          <m:r>
                            <a:rPr lang="en-US" altLang="zh-CN" sz="3200" i="1">
                              <a:latin typeface="Cambria Math" panose="02040503050406030204" pitchFamily="18" charset="0"/>
                              <a:ea typeface="Cambria Math" panose="02040503050406030204" pitchFamily="18" charset="0"/>
                            </a:rPr>
                            <m:t>𝜃</m:t>
                          </m:r>
                        </m:e>
                        <m:sub>
                          <m:r>
                            <a:rPr lang="en-US" altLang="zh-CN" sz="3200" b="0" i="1" smtClean="0">
                              <a:latin typeface="Cambria Math" panose="02040503050406030204" pitchFamily="18" charset="0"/>
                            </a:rPr>
                            <m:t>𝑛</m:t>
                          </m:r>
                        </m:sub>
                      </m:sSub>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𝑥</m:t>
                          </m:r>
                        </m:e>
                        <m:sub>
                          <m:r>
                            <a:rPr lang="en-US" altLang="zh-CN" sz="3200" b="0" i="1" smtClean="0">
                              <a:latin typeface="Cambria Math" panose="02040503050406030204" pitchFamily="18" charset="0"/>
                            </a:rPr>
                            <m:t>𝑛</m:t>
                          </m:r>
                        </m:sub>
                      </m:sSub>
                    </m:oMath>
                  </m:oMathPara>
                </a14:m>
                <a:endParaRPr lang="en-US" altLang="zh-CN" sz="3200" b="0" dirty="0"/>
              </a:p>
              <a:p>
                <a:r>
                  <a:rPr lang="zh-CN" altLang="en-US" sz="3200" b="0" dirty="0"/>
                  <a:t>        </a:t>
                </a:r>
                <a14:m>
                  <m:oMath xmlns:m="http://schemas.openxmlformats.org/officeDocument/2006/math">
                    <m:r>
                      <a:rPr lang="en-US" altLang="zh-CN" sz="2800" b="0" i="1" smtClean="0">
                        <a:latin typeface="Cambria Math" panose="02040503050406030204" pitchFamily="18" charset="0"/>
                      </a:rPr>
                      <m:t>=</m:t>
                    </m:r>
                    <m:sSup>
                      <m:sSupPr>
                        <m:ctrlPr>
                          <a:rPr lang="en-US" altLang="zh-CN" sz="2800" b="0" i="1" smtClean="0">
                            <a:latin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𝜃</m:t>
                        </m:r>
                      </m:e>
                      <m:sup>
                        <m:r>
                          <a:rPr lang="en-US" altLang="zh-CN" sz="2800" b="0" i="1" smtClean="0">
                            <a:latin typeface="Cambria Math" panose="02040503050406030204" pitchFamily="18" charset="0"/>
                          </a:rPr>
                          <m:t>𝑇</m:t>
                        </m:r>
                      </m:sup>
                    </m:sSup>
                    <m:r>
                      <a:rPr lang="en-US" altLang="zh-CN" sz="2800" b="0" i="1" smtClean="0">
                        <a:latin typeface="Cambria Math" panose="02040503050406030204" pitchFamily="18" charset="0"/>
                      </a:rPr>
                      <m:t>𝑋</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𝑏</m:t>
                    </m:r>
                  </m:oMath>
                </a14:m>
                <a:r>
                  <a:rPr lang="en-US" altLang="zh-CN" sz="2800" b="0" dirty="0"/>
                  <a:t>  </a:t>
                </a:r>
                <a:r>
                  <a:rPr lang="en-US" altLang="zh-CN" sz="2000" b="0" dirty="0"/>
                  <a:t>(</a:t>
                </a:r>
                <a:r>
                  <a:rPr lang="zh-CN" altLang="en-US" sz="2000" dirty="0"/>
                  <a:t>向量</a:t>
                </a:r>
                <a:r>
                  <a:rPr lang="zh-CN" altLang="en-US" sz="2000" b="0" dirty="0"/>
                  <a:t>表示</a:t>
                </a:r>
                <a:r>
                  <a:rPr lang="en-US" altLang="zh-CN" sz="2000" b="0" dirty="0"/>
                  <a:t>)</a:t>
                </a:r>
              </a:p>
            </p:txBody>
          </p:sp>
        </mc:Choice>
        <mc:Fallback xmlns="">
          <p:sp>
            <p:nvSpPr>
              <p:cNvPr id="10" name="文本框 9">
                <a:extLst>
                  <a:ext uri="{FF2B5EF4-FFF2-40B4-BE49-F238E27FC236}">
                    <a16:creationId xmlns:a16="http://schemas.microsoft.com/office/drawing/2014/main" id="{3875D24F-4BCC-1A23-D73F-231EF2168CC4}"/>
                  </a:ext>
                </a:extLst>
              </p:cNvPr>
              <p:cNvSpPr txBox="1">
                <a:spLocks noRot="1" noChangeAspect="1" noMove="1" noResize="1" noEditPoints="1" noAdjustHandles="1" noChangeArrowheads="1" noChangeShapeType="1" noTextEdit="1"/>
              </p:cNvSpPr>
              <p:nvPr/>
            </p:nvSpPr>
            <p:spPr>
              <a:xfrm>
                <a:off x="541537" y="1321396"/>
                <a:ext cx="6790398" cy="1446550"/>
              </a:xfrm>
              <a:prstGeom prst="rect">
                <a:avLst/>
              </a:prstGeom>
              <a:blipFill>
                <a:blip r:embed="rId8"/>
                <a:stretch>
                  <a:fillRect l="-1306" t="-3509" b="-35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F7BB2718-3DF8-9EE7-E138-89F5EC4AE348}"/>
                  </a:ext>
                </a:extLst>
              </p:cNvPr>
              <p:cNvSpPr txBox="1"/>
              <p:nvPr/>
            </p:nvSpPr>
            <p:spPr>
              <a:xfrm>
                <a:off x="4697224" y="2303771"/>
                <a:ext cx="3254896" cy="1152751"/>
              </a:xfrm>
              <a:prstGeom prst="rect">
                <a:avLst/>
              </a:prstGeom>
              <a:noFill/>
            </p:spPr>
            <p:txBody>
              <a:bodyPr wrap="square">
                <a:spAutoFit/>
              </a:bodyPr>
              <a:lstStyle/>
              <a:p>
                <a14:m>
                  <m:oMath xmlns:m="http://schemas.openxmlformats.org/officeDocument/2006/math">
                    <m:r>
                      <a:rPr lang="en-US" altLang="zh-CN" i="1">
                        <a:latin typeface="Cambria Math" panose="02040503050406030204" pitchFamily="18" charset="0"/>
                        <a:ea typeface="Cambria Math" panose="02040503050406030204" pitchFamily="18" charset="0"/>
                      </a:rPr>
                      <m:t>𝜃</m:t>
                    </m:r>
                    <m:r>
                      <a:rPr lang="en-US" altLang="zh-CN" sz="1800" b="0" i="1" smtClean="0">
                        <a:latin typeface="Cambria Math" panose="02040503050406030204" pitchFamily="18" charset="0"/>
                      </a:rPr>
                      <m:t>=</m:t>
                    </m:r>
                    <m:d>
                      <m:dPr>
                        <m:begChr m:val="["/>
                        <m:endChr m:val="]"/>
                        <m:ctrlPr>
                          <a:rPr lang="en-US" altLang="zh-CN" sz="1800" b="0" i="1" smtClean="0">
                            <a:latin typeface="Cambria Math" panose="02040503050406030204" pitchFamily="18" charset="0"/>
                          </a:rPr>
                        </m:ctrlPr>
                      </m:dPr>
                      <m:e>
                        <m:m>
                          <m:mPr>
                            <m:mcs>
                              <m:mc>
                                <m:mcPr>
                                  <m:count m:val="1"/>
                                  <m:mcJc m:val="center"/>
                                </m:mcPr>
                              </m:mc>
                            </m:mcs>
                            <m:ctrlPr>
                              <a:rPr lang="en-US" altLang="zh-CN" sz="1800" b="0" i="1" smtClean="0">
                                <a:latin typeface="Cambria Math" panose="02040503050406030204" pitchFamily="18" charset="0"/>
                              </a:rPr>
                            </m:ctrlPr>
                          </m:mPr>
                          <m:mr>
                            <m:e>
                              <m:sSub>
                                <m:sSubPr>
                                  <m:ctrlPr>
                                    <a:rPr lang="en-US" altLang="zh-CN" sz="1800" b="0" i="1" smtClean="0">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𝜃</m:t>
                                  </m:r>
                                </m:e>
                                <m:sub>
                                  <m:r>
                                    <a:rPr lang="en-US" altLang="zh-CN" sz="1800" b="0" i="1" smtClean="0">
                                      <a:latin typeface="Cambria Math" panose="02040503050406030204" pitchFamily="18" charset="0"/>
                                    </a:rPr>
                                    <m:t>1</m:t>
                                  </m:r>
                                </m:sub>
                              </m:sSub>
                            </m:e>
                          </m:mr>
                          <m:mr>
                            <m:e>
                              <m:m>
                                <m:mPr>
                                  <m:mcs>
                                    <m:mc>
                                      <m:mcPr>
                                        <m:count m:val="1"/>
                                        <m:mcJc m:val="center"/>
                                      </m:mcPr>
                                    </m:mc>
                                  </m:mcs>
                                  <m:ctrlPr>
                                    <a:rPr lang="en-US" altLang="zh-CN" sz="1800" b="0" i="1" smtClean="0">
                                      <a:latin typeface="Cambria Math" panose="02040503050406030204" pitchFamily="18" charset="0"/>
                                    </a:rPr>
                                  </m:ctrlPr>
                                </m:mPr>
                                <m:mr>
                                  <m:e>
                                    <m:sSub>
                                      <m:sSubPr>
                                        <m:ctrlPr>
                                          <a:rPr lang="en-US" altLang="zh-CN" sz="1800" b="0" i="1" smtClean="0">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𝜃</m:t>
                                        </m:r>
                                      </m:e>
                                      <m:sub>
                                        <m:r>
                                          <a:rPr lang="en-US" altLang="zh-CN" sz="1800" b="0" i="1" smtClean="0">
                                            <a:latin typeface="Cambria Math" panose="02040503050406030204" pitchFamily="18" charset="0"/>
                                          </a:rPr>
                                          <m:t>2</m:t>
                                        </m:r>
                                      </m:sub>
                                    </m:sSub>
                                  </m:e>
                                </m:mr>
                                <m:mr>
                                  <m:e>
                                    <m:r>
                                      <a:rPr lang="en-US" altLang="zh-CN" sz="1800" b="0" i="1" smtClean="0">
                                        <a:latin typeface="Cambria Math" panose="02040503050406030204" pitchFamily="18" charset="0"/>
                                      </a:rPr>
                                      <m:t>…</m:t>
                                    </m:r>
                                  </m:e>
                                </m:mr>
                                <m:mr>
                                  <m:e>
                                    <m:sSub>
                                      <m:sSubPr>
                                        <m:ctrlPr>
                                          <a:rPr lang="en-US" altLang="zh-CN" sz="1800" b="0" i="1" smtClean="0">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𝜃</m:t>
                                        </m:r>
                                      </m:e>
                                      <m:sub>
                                        <m:r>
                                          <a:rPr lang="en-US" altLang="zh-CN" sz="1800" b="0" i="1" smtClean="0">
                                            <a:latin typeface="Cambria Math" panose="02040503050406030204" pitchFamily="18" charset="0"/>
                                          </a:rPr>
                                          <m:t>𝑛</m:t>
                                        </m:r>
                                      </m:sub>
                                    </m:sSub>
                                  </m:e>
                                </m:mr>
                              </m:m>
                            </m:e>
                          </m:mr>
                        </m:m>
                      </m:e>
                    </m:d>
                  </m:oMath>
                </a14:m>
                <a:r>
                  <a:rPr lang="en-US" altLang="zh-CN" dirty="0"/>
                  <a:t> </a:t>
                </a:r>
                <a14:m>
                  <m:oMath xmlns:m="http://schemas.openxmlformats.org/officeDocument/2006/math">
                    <m:r>
                      <a:rPr lang="en-US" altLang="zh-CN" b="0" i="1" smtClean="0">
                        <a:latin typeface="Cambria Math" panose="02040503050406030204" pitchFamily="18" charset="0"/>
                      </a:rPr>
                      <m:t>𝑋</m:t>
                    </m:r>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sSub>
                                <m:sSubPr>
                                  <m:ctrlPr>
                                    <a:rPr lang="en-US" altLang="zh-CN" i="1">
                                      <a:latin typeface="Cambria Math" panose="02040503050406030204" pitchFamily="18" charset="0"/>
                                    </a:rPr>
                                  </m:ctrlPr>
                                </m:sSub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e>
                                <m:sub>
                                  <m:r>
                                    <a:rPr lang="en-US" altLang="zh-CN" b="0" i="1" smtClean="0">
                                      <a:latin typeface="Cambria Math" panose="02040503050406030204" pitchFamily="18" charset="0"/>
                                    </a:rPr>
                                    <m:t> </m:t>
                                  </m:r>
                                </m:sub>
                              </m:sSub>
                            </m:e>
                          </m:mr>
                          <m:mr>
                            <m:e>
                              <m:m>
                                <m:mPr>
                                  <m:mcs>
                                    <m:mc>
                                      <m:mcPr>
                                        <m:count m:val="1"/>
                                        <m:mcJc m:val="center"/>
                                      </m:mcPr>
                                    </m:mc>
                                  </m:mcs>
                                  <m:ctrlPr>
                                    <a:rPr lang="en-US" altLang="zh-CN" i="1">
                                      <a:latin typeface="Cambria Math" panose="02040503050406030204" pitchFamily="18" charset="0"/>
                                    </a:rPr>
                                  </m:ctrlPr>
                                </m:mPr>
                                <m:m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e>
                                </m:mr>
                                <m:mr>
                                  <m:e>
                                    <m:r>
                                      <a:rPr lang="en-US" altLang="zh-CN" i="1">
                                        <a:latin typeface="Cambria Math" panose="02040503050406030204" pitchFamily="18" charset="0"/>
                                      </a:rPr>
                                      <m:t>…</m:t>
                                    </m:r>
                                  </m:e>
                                </m:mr>
                                <m:m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i="1">
                                            <a:latin typeface="Cambria Math" panose="02040503050406030204" pitchFamily="18" charset="0"/>
                                          </a:rPr>
                                          <m:t>𝑛</m:t>
                                        </m:r>
                                      </m:sub>
                                    </m:sSub>
                                  </m:e>
                                </m:mr>
                              </m:m>
                            </m:e>
                          </m:mr>
                        </m:m>
                      </m:e>
                    </m:d>
                  </m:oMath>
                </a14:m>
                <a:r>
                  <a:rPr lang="en-US" altLang="zh-CN" dirty="0"/>
                  <a:t> </a:t>
                </a:r>
                <a:endParaRPr lang="zh-CN" altLang="en-US" dirty="0"/>
              </a:p>
            </p:txBody>
          </p:sp>
        </mc:Choice>
        <mc:Fallback xmlns="">
          <p:sp>
            <p:nvSpPr>
              <p:cNvPr id="14" name="文本框 13">
                <a:extLst>
                  <a:ext uri="{FF2B5EF4-FFF2-40B4-BE49-F238E27FC236}">
                    <a16:creationId xmlns:a16="http://schemas.microsoft.com/office/drawing/2014/main" id="{F7BB2718-3DF8-9EE7-E138-89F5EC4AE348}"/>
                  </a:ext>
                </a:extLst>
              </p:cNvPr>
              <p:cNvSpPr txBox="1">
                <a:spLocks noRot="1" noChangeAspect="1" noMove="1" noResize="1" noEditPoints="1" noAdjustHandles="1" noChangeArrowheads="1" noChangeShapeType="1" noTextEdit="1"/>
              </p:cNvSpPr>
              <p:nvPr/>
            </p:nvSpPr>
            <p:spPr>
              <a:xfrm>
                <a:off x="4697224" y="2303771"/>
                <a:ext cx="3254896" cy="1152751"/>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33787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3"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685800">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742950" indent="-285750" defTabSz="685800">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1143000" indent="-228600" defTabSz="685800">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1600200" indent="-228600" defTabSz="6858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2057400" indent="-228600" defTabSz="685800">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2514600" indent="-22860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2971800" indent="-22860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3429000" indent="-22860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3886200" indent="-22860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eaLnBrk="1" hangingPunct="1">
              <a:lnSpc>
                <a:spcPct val="100000"/>
              </a:lnSpc>
              <a:spcBef>
                <a:spcPct val="0"/>
              </a:spcBef>
              <a:buFontTx/>
              <a:buNone/>
            </a:pPr>
            <a:fld id="{7603A855-84A6-4C2C-BEE1-536EE5259F0A}" type="slidenum">
              <a:rPr lang="zh-CN" altLang="en-US" sz="1200">
                <a:solidFill>
                  <a:srgbClr val="FFFFFF"/>
                </a:solidFill>
              </a:rPr>
              <a:pPr eaLnBrk="1" hangingPunct="1">
                <a:lnSpc>
                  <a:spcPct val="100000"/>
                </a:lnSpc>
                <a:spcBef>
                  <a:spcPct val="0"/>
                </a:spcBef>
                <a:buFontTx/>
                <a:buNone/>
              </a:pPr>
              <a:t>6</a:t>
            </a:fld>
            <a:endParaRPr lang="zh-CN" altLang="en-US" sz="1200">
              <a:solidFill>
                <a:srgbClr val="FFFFFF"/>
              </a:solidFill>
            </a:endParaRPr>
          </a:p>
        </p:txBody>
      </p:sp>
      <p:sp>
        <p:nvSpPr>
          <p:cNvPr id="2" name="标题 1"/>
          <p:cNvSpPr>
            <a:spLocks noGrp="1"/>
          </p:cNvSpPr>
          <p:nvPr>
            <p:ph type="title"/>
          </p:nvPr>
        </p:nvSpPr>
        <p:spPr/>
        <p:txBody>
          <a:bodyPr>
            <a:normAutofit fontScale="90000"/>
          </a:bodyPr>
          <a:lstStyle/>
          <a:p>
            <a:r>
              <a:rPr lang="zh-CN" altLang="en-US" dirty="0">
                <a:solidFill>
                  <a:srgbClr val="0070C0"/>
                </a:solidFill>
                <a:latin typeface="微软雅黑" panose="020B0503020204020204" pitchFamily="34" charset="-122"/>
                <a:ea typeface="微软雅黑" panose="020B0503020204020204" pitchFamily="34" charset="-122"/>
              </a:rPr>
              <a:t>逻辑回归函数</a:t>
            </a:r>
            <a:endParaRPr lang="zh-CN" altLang="en-US" dirty="0"/>
          </a:p>
        </p:txBody>
      </p:sp>
      <p:grpSp>
        <p:nvGrpSpPr>
          <p:cNvPr id="15" name="组合 14"/>
          <p:cNvGrpSpPr>
            <a:grpSpLocks/>
          </p:cNvGrpSpPr>
          <p:nvPr/>
        </p:nvGrpSpPr>
        <p:grpSpPr bwMode="auto">
          <a:xfrm>
            <a:off x="1935163" y="1539875"/>
            <a:ext cx="234950" cy="223838"/>
            <a:chOff x="2589213" y="2232025"/>
            <a:chExt cx="285750" cy="274638"/>
          </a:xfrm>
        </p:grpSpPr>
        <p:sp>
          <p:nvSpPr>
            <p:cNvPr id="16" name="Freeform 5">
              <a:extLst>
                <a:ext uri="{FF2B5EF4-FFF2-40B4-BE49-F238E27FC236}">
                  <a16:creationId xmlns:a16="http://schemas.microsoft.com/office/drawing/2014/main" id="{9921702F-10D1-CA48-9D34-9BE2D5312115}"/>
                </a:ext>
              </a:extLst>
            </p:cNvPr>
            <p:cNvSpPr/>
            <p:nvPr/>
          </p:nvSpPr>
          <p:spPr bwMode="auto">
            <a:xfrm>
              <a:off x="2635551" y="2296302"/>
              <a:ext cx="196936" cy="210361"/>
            </a:xfrm>
            <a:custGeom>
              <a:avLst/>
              <a:gdLst>
                <a:gd name="T0" fmla="*/ 0 w 50"/>
                <a:gd name="T1" fmla="*/ 22 h 54"/>
                <a:gd name="T2" fmla="*/ 0 w 50"/>
                <a:gd name="T3" fmla="*/ 52 h 54"/>
                <a:gd name="T4" fmla="*/ 1 w 50"/>
                <a:gd name="T5" fmla="*/ 54 h 54"/>
                <a:gd name="T6" fmla="*/ 3 w 50"/>
                <a:gd name="T7" fmla="*/ 54 h 54"/>
                <a:gd name="T8" fmla="*/ 16 w 50"/>
                <a:gd name="T9" fmla="*/ 54 h 54"/>
                <a:gd name="T10" fmla="*/ 18 w 50"/>
                <a:gd name="T11" fmla="*/ 54 h 54"/>
                <a:gd name="T12" fmla="*/ 18 w 50"/>
                <a:gd name="T13" fmla="*/ 53 h 54"/>
                <a:gd name="T14" fmla="*/ 18 w 50"/>
                <a:gd name="T15" fmla="*/ 39 h 54"/>
                <a:gd name="T16" fmla="*/ 31 w 50"/>
                <a:gd name="T17" fmla="*/ 39 h 54"/>
                <a:gd name="T18" fmla="*/ 31 w 50"/>
                <a:gd name="T19" fmla="*/ 53 h 54"/>
                <a:gd name="T20" fmla="*/ 32 w 50"/>
                <a:gd name="T21" fmla="*/ 54 h 54"/>
                <a:gd name="T22" fmla="*/ 33 w 50"/>
                <a:gd name="T23" fmla="*/ 54 h 54"/>
                <a:gd name="T24" fmla="*/ 46 w 50"/>
                <a:gd name="T25" fmla="*/ 54 h 54"/>
                <a:gd name="T26" fmla="*/ 48 w 50"/>
                <a:gd name="T27" fmla="*/ 54 h 54"/>
                <a:gd name="T28" fmla="*/ 50 w 50"/>
                <a:gd name="T29" fmla="*/ 52 h 54"/>
                <a:gd name="T30" fmla="*/ 50 w 50"/>
                <a:gd name="T31" fmla="*/ 22 h 54"/>
                <a:gd name="T32" fmla="*/ 25 w 50"/>
                <a:gd name="T33" fmla="*/ 0 h 54"/>
                <a:gd name="T34" fmla="*/ 0 w 50"/>
                <a:gd name="T35" fmla="*/ 2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0" h="54">
                  <a:moveTo>
                    <a:pt x="0" y="22"/>
                  </a:moveTo>
                  <a:cubicBezTo>
                    <a:pt x="0" y="52"/>
                    <a:pt x="0" y="52"/>
                    <a:pt x="0" y="52"/>
                  </a:cubicBezTo>
                  <a:cubicBezTo>
                    <a:pt x="0" y="53"/>
                    <a:pt x="1" y="54"/>
                    <a:pt x="1" y="54"/>
                  </a:cubicBezTo>
                  <a:cubicBezTo>
                    <a:pt x="2" y="54"/>
                    <a:pt x="2" y="54"/>
                    <a:pt x="3" y="54"/>
                  </a:cubicBezTo>
                  <a:cubicBezTo>
                    <a:pt x="16" y="54"/>
                    <a:pt x="16" y="54"/>
                    <a:pt x="16" y="54"/>
                  </a:cubicBezTo>
                  <a:cubicBezTo>
                    <a:pt x="17" y="54"/>
                    <a:pt x="17" y="54"/>
                    <a:pt x="18" y="54"/>
                  </a:cubicBezTo>
                  <a:cubicBezTo>
                    <a:pt x="18" y="54"/>
                    <a:pt x="18" y="53"/>
                    <a:pt x="18" y="53"/>
                  </a:cubicBezTo>
                  <a:cubicBezTo>
                    <a:pt x="18" y="39"/>
                    <a:pt x="18" y="39"/>
                    <a:pt x="18" y="39"/>
                  </a:cubicBezTo>
                  <a:cubicBezTo>
                    <a:pt x="31" y="39"/>
                    <a:pt x="31" y="39"/>
                    <a:pt x="31" y="39"/>
                  </a:cubicBezTo>
                  <a:cubicBezTo>
                    <a:pt x="31" y="53"/>
                    <a:pt x="31" y="53"/>
                    <a:pt x="31" y="53"/>
                  </a:cubicBezTo>
                  <a:cubicBezTo>
                    <a:pt x="31" y="53"/>
                    <a:pt x="32" y="54"/>
                    <a:pt x="32" y="54"/>
                  </a:cubicBezTo>
                  <a:cubicBezTo>
                    <a:pt x="32" y="54"/>
                    <a:pt x="33" y="54"/>
                    <a:pt x="33" y="54"/>
                  </a:cubicBezTo>
                  <a:cubicBezTo>
                    <a:pt x="46" y="54"/>
                    <a:pt x="46" y="54"/>
                    <a:pt x="46" y="54"/>
                  </a:cubicBezTo>
                  <a:cubicBezTo>
                    <a:pt x="47" y="54"/>
                    <a:pt x="48" y="54"/>
                    <a:pt x="48" y="54"/>
                  </a:cubicBezTo>
                  <a:cubicBezTo>
                    <a:pt x="49" y="54"/>
                    <a:pt x="50" y="53"/>
                    <a:pt x="50" y="52"/>
                  </a:cubicBezTo>
                  <a:cubicBezTo>
                    <a:pt x="50" y="22"/>
                    <a:pt x="50" y="22"/>
                    <a:pt x="50" y="22"/>
                  </a:cubicBezTo>
                  <a:cubicBezTo>
                    <a:pt x="25" y="0"/>
                    <a:pt x="25" y="0"/>
                    <a:pt x="25" y="0"/>
                  </a:cubicBezTo>
                  <a:lnTo>
                    <a:pt x="0" y="22"/>
                  </a:lnTo>
                  <a:close/>
                </a:path>
              </a:pathLst>
            </a:custGeom>
            <a:solidFill>
              <a:schemeClr val="bg1"/>
            </a:solidFill>
            <a:ln>
              <a:noFill/>
            </a:ln>
          </p:spPr>
          <p:txBody>
            <a:bodyPr lIns="68580" tIns="34290" rIns="68580" bIns="34290"/>
            <a:lstStyle/>
            <a:p>
              <a:pPr defTabSz="685800">
                <a:defRPr/>
              </a:pPr>
              <a:endParaRPr lang="zh-CN" altLang="en-US" sz="1350">
                <a:solidFill>
                  <a:prstClr val="black"/>
                </a:solidFill>
                <a:latin typeface="等线"/>
              </a:endParaRPr>
            </a:p>
          </p:txBody>
        </p:sp>
        <p:sp>
          <p:nvSpPr>
            <p:cNvPr id="17" name="Freeform 6">
              <a:extLst>
                <a:ext uri="{FF2B5EF4-FFF2-40B4-BE49-F238E27FC236}">
                  <a16:creationId xmlns:a16="http://schemas.microsoft.com/office/drawing/2014/main" id="{8C612D3D-644C-0B4B-87C5-8F4D52F3F041}"/>
                </a:ext>
              </a:extLst>
            </p:cNvPr>
            <p:cNvSpPr/>
            <p:nvPr/>
          </p:nvSpPr>
          <p:spPr bwMode="auto">
            <a:xfrm>
              <a:off x="2589213" y="2232025"/>
              <a:ext cx="285750" cy="151927"/>
            </a:xfrm>
            <a:custGeom>
              <a:avLst/>
              <a:gdLst>
                <a:gd name="T0" fmla="*/ 71 w 73"/>
                <a:gd name="T1" fmla="*/ 30 h 39"/>
                <a:gd name="T2" fmla="*/ 40 w 73"/>
                <a:gd name="T3" fmla="*/ 2 h 39"/>
                <a:gd name="T4" fmla="*/ 34 w 73"/>
                <a:gd name="T5" fmla="*/ 2 h 39"/>
                <a:gd name="T6" fmla="*/ 2 w 73"/>
                <a:gd name="T7" fmla="*/ 30 h 39"/>
                <a:gd name="T8" fmla="*/ 2 w 73"/>
                <a:gd name="T9" fmla="*/ 37 h 39"/>
                <a:gd name="T10" fmla="*/ 2 w 73"/>
                <a:gd name="T11" fmla="*/ 37 h 39"/>
                <a:gd name="T12" fmla="*/ 5 w 73"/>
                <a:gd name="T13" fmla="*/ 38 h 39"/>
                <a:gd name="T14" fmla="*/ 8 w 73"/>
                <a:gd name="T15" fmla="*/ 37 h 39"/>
                <a:gd name="T16" fmla="*/ 37 w 73"/>
                <a:gd name="T17" fmla="*/ 11 h 39"/>
                <a:gd name="T18" fmla="*/ 65 w 73"/>
                <a:gd name="T19" fmla="*/ 37 h 39"/>
                <a:gd name="T20" fmla="*/ 72 w 73"/>
                <a:gd name="T21" fmla="*/ 37 h 39"/>
                <a:gd name="T22" fmla="*/ 71 w 73"/>
                <a:gd name="T23" fmla="*/ 3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3" h="39">
                  <a:moveTo>
                    <a:pt x="71" y="30"/>
                  </a:moveTo>
                  <a:cubicBezTo>
                    <a:pt x="40" y="2"/>
                    <a:pt x="40" y="2"/>
                    <a:pt x="40" y="2"/>
                  </a:cubicBezTo>
                  <a:cubicBezTo>
                    <a:pt x="38" y="0"/>
                    <a:pt x="35" y="0"/>
                    <a:pt x="34" y="2"/>
                  </a:cubicBezTo>
                  <a:cubicBezTo>
                    <a:pt x="2" y="30"/>
                    <a:pt x="2" y="30"/>
                    <a:pt x="2" y="30"/>
                  </a:cubicBezTo>
                  <a:cubicBezTo>
                    <a:pt x="0" y="32"/>
                    <a:pt x="0" y="35"/>
                    <a:pt x="2" y="37"/>
                  </a:cubicBezTo>
                  <a:cubicBezTo>
                    <a:pt x="2" y="37"/>
                    <a:pt x="2" y="37"/>
                    <a:pt x="2" y="37"/>
                  </a:cubicBezTo>
                  <a:cubicBezTo>
                    <a:pt x="3" y="38"/>
                    <a:pt x="4" y="38"/>
                    <a:pt x="5" y="38"/>
                  </a:cubicBezTo>
                  <a:cubicBezTo>
                    <a:pt x="6" y="38"/>
                    <a:pt x="8" y="38"/>
                    <a:pt x="8" y="37"/>
                  </a:cubicBezTo>
                  <a:cubicBezTo>
                    <a:pt x="37" y="11"/>
                    <a:pt x="37" y="11"/>
                    <a:pt x="37" y="11"/>
                  </a:cubicBezTo>
                  <a:cubicBezTo>
                    <a:pt x="65" y="37"/>
                    <a:pt x="65" y="37"/>
                    <a:pt x="65" y="37"/>
                  </a:cubicBezTo>
                  <a:cubicBezTo>
                    <a:pt x="67" y="39"/>
                    <a:pt x="70" y="39"/>
                    <a:pt x="72" y="37"/>
                  </a:cubicBezTo>
                  <a:cubicBezTo>
                    <a:pt x="73" y="35"/>
                    <a:pt x="73" y="32"/>
                    <a:pt x="71" y="30"/>
                  </a:cubicBezTo>
                  <a:close/>
                </a:path>
              </a:pathLst>
            </a:custGeom>
            <a:solidFill>
              <a:schemeClr val="bg1"/>
            </a:solidFill>
            <a:ln>
              <a:noFill/>
            </a:ln>
          </p:spPr>
          <p:txBody>
            <a:bodyPr lIns="68580" tIns="34290" rIns="68580" bIns="34290"/>
            <a:lstStyle/>
            <a:p>
              <a:pPr defTabSz="685800">
                <a:defRPr/>
              </a:pPr>
              <a:endParaRPr lang="zh-CN" altLang="en-US" sz="1350">
                <a:solidFill>
                  <a:prstClr val="black"/>
                </a:solidFill>
                <a:latin typeface="等线"/>
              </a:endParaRPr>
            </a:p>
          </p:txBody>
        </p:sp>
      </p:grpSp>
      <p:sp>
        <p:nvSpPr>
          <p:cNvPr id="209924" name="内容占位符 2"/>
          <p:cNvSpPr>
            <a:spLocks noGrp="1" noChangeArrowheads="1"/>
          </p:cNvSpPr>
          <p:nvPr/>
        </p:nvSpPr>
        <p:spPr bwMode="auto">
          <a:xfrm>
            <a:off x="667265" y="1080972"/>
            <a:ext cx="6352660" cy="250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4290" rIns="0" bIns="34290"/>
          <a:lstStyle>
            <a:lvl1pPr marL="68263" indent="-68263" defTabSz="684213">
              <a:lnSpc>
                <a:spcPct val="90000"/>
              </a:lnSpc>
              <a:spcBef>
                <a:spcPts val="750"/>
              </a:spcBef>
              <a:buFont typeface="Arial" panose="020B0604020202020204" pitchFamily="34" charset="0"/>
              <a:buChar char="•"/>
              <a:defRPr sz="2100">
                <a:solidFill>
                  <a:schemeClr val="tx1"/>
                </a:solidFill>
                <a:latin typeface="等线" panose="02010600030101010101" pitchFamily="2" charset="-122"/>
              </a:defRPr>
            </a:lvl1pPr>
            <a:lvl2pPr marL="384175" indent="-182563" defTabSz="684213">
              <a:lnSpc>
                <a:spcPct val="90000"/>
              </a:lnSpc>
              <a:spcBef>
                <a:spcPts val="375"/>
              </a:spcBef>
              <a:buFont typeface="Arial" panose="020B0604020202020204" pitchFamily="34" charset="0"/>
              <a:buChar char="•"/>
              <a:defRPr>
                <a:solidFill>
                  <a:schemeClr val="tx1"/>
                </a:solidFill>
                <a:latin typeface="等线" panose="02010600030101010101" pitchFamily="2" charset="-122"/>
              </a:defRPr>
            </a:lvl2pPr>
            <a:lvl3pPr marL="566738" indent="-182563" defTabSz="684213">
              <a:lnSpc>
                <a:spcPct val="90000"/>
              </a:lnSpc>
              <a:spcBef>
                <a:spcPts val="375"/>
              </a:spcBef>
              <a:buFont typeface="Arial" panose="020B0604020202020204" pitchFamily="34" charset="0"/>
              <a:buChar char="•"/>
              <a:defRPr sz="1500">
                <a:solidFill>
                  <a:schemeClr val="tx1"/>
                </a:solidFill>
                <a:latin typeface="等线" panose="02010600030101010101" pitchFamily="2" charset="-122"/>
              </a:defRPr>
            </a:lvl3pPr>
            <a:lvl4pPr marL="749300" indent="-182563" defTabSz="684213">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4pPr>
            <a:lvl5pPr marL="931863" indent="-182563" defTabSz="684213">
              <a:lnSpc>
                <a:spcPct val="90000"/>
              </a:lnSpc>
              <a:spcBef>
                <a:spcPts val="375"/>
              </a:spcBef>
              <a:buFont typeface="Arial" panose="020B0604020202020204" pitchFamily="34" charset="0"/>
              <a:buChar char="•"/>
              <a:defRPr sz="1300">
                <a:solidFill>
                  <a:schemeClr val="tx1"/>
                </a:solidFill>
                <a:latin typeface="等线" panose="02010600030101010101" pitchFamily="2" charset="-122"/>
              </a:defRPr>
            </a:lvl5pPr>
            <a:lvl6pPr marL="1389063" indent="-182563" defTabSz="6842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6pPr>
            <a:lvl7pPr marL="1846263" indent="-182563" defTabSz="6842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7pPr>
            <a:lvl8pPr marL="2303463" indent="-182563" defTabSz="6842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8pPr>
            <a:lvl9pPr marL="2760663" indent="-182563" defTabSz="6842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defRPr>
            </a:lvl9pPr>
          </a:lstStyle>
          <a:p>
            <a:pPr>
              <a:lnSpc>
                <a:spcPct val="150000"/>
              </a:lnSpc>
              <a:spcBef>
                <a:spcPts val="900"/>
              </a:spcBef>
              <a:spcAft>
                <a:spcPts val="150"/>
              </a:spcAft>
              <a:buClr>
                <a:srgbClr val="4472C4"/>
              </a:buClr>
              <a:buFont typeface="Calibri" panose="020F0502020204030204" pitchFamily="34" charset="0"/>
              <a:buChar char=" "/>
            </a:pPr>
            <a:r>
              <a:rPr lang="zh-CN" altLang="zh-CN" sz="2400" b="1" dirty="0">
                <a:solidFill>
                  <a:srgbClr val="333333"/>
                </a:solidFill>
                <a:latin typeface="Times New Roman" panose="02020603050405020304" pitchFamily="18" charset="0"/>
                <a:ea typeface="宋体" panose="02010600030101010101" pitchFamily="2" charset="-122"/>
                <a:cs typeface="Times New Roman" panose="02020603050405020304" pitchFamily="18" charset="0"/>
              </a:rPr>
              <a:t>sigmoid的函数</a:t>
            </a:r>
            <a:r>
              <a:rPr lang="zh-CN" altLang="en-US" sz="2400" b="1" dirty="0">
                <a:solidFill>
                  <a:srgbClr val="333333"/>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dirty="0">
              <a:solidFill>
                <a:srgbClr val="333333"/>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ts val="900"/>
              </a:spcBef>
              <a:spcAft>
                <a:spcPts val="150"/>
              </a:spcAft>
              <a:buClr>
                <a:srgbClr val="4472C4"/>
              </a:buClr>
              <a:buFont typeface="Wingdings" pitchFamily="2" charset="2"/>
              <a:buChar char="ü"/>
            </a:pPr>
            <a:r>
              <a:rPr lang="zh-CN" altLang="zh-CN" sz="1900" dirty="0">
                <a:solidFill>
                  <a:srgbClr val="333333"/>
                </a:solidFill>
                <a:latin typeface="Times New Roman" panose="02020603050405020304" pitchFamily="18" charset="0"/>
                <a:ea typeface="宋体" panose="02010600030101010101" pitchFamily="2" charset="-122"/>
                <a:cs typeface="Times New Roman" panose="02020603050405020304" pitchFamily="18" charset="0"/>
              </a:rPr>
              <a:t>输出是介于（0，1）之间的，中间值是0.5</a:t>
            </a:r>
            <a:endParaRPr lang="en-US" altLang="zh-CN" sz="1900" dirty="0">
              <a:solidFill>
                <a:srgbClr val="333333"/>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ts val="900"/>
              </a:spcBef>
              <a:spcAft>
                <a:spcPts val="150"/>
              </a:spcAft>
              <a:buClr>
                <a:srgbClr val="4472C4"/>
              </a:buClr>
              <a:buFont typeface="Wingdings" pitchFamily="2" charset="2"/>
              <a:buChar char="ü"/>
            </a:pPr>
            <a:r>
              <a:rPr lang="zh-CN" altLang="en-US" sz="1900" dirty="0">
                <a:solidFill>
                  <a:srgbClr val="333333"/>
                </a:solidFill>
                <a:latin typeface="Times New Roman" panose="02020603050405020304" pitchFamily="18" charset="0"/>
                <a:ea typeface="宋体" panose="02010600030101010101" pitchFamily="2" charset="-122"/>
                <a:cs typeface="Times New Roman" panose="02020603050405020304" pitchFamily="18" charset="0"/>
              </a:rPr>
              <a:t>结果表示</a:t>
            </a:r>
            <a:r>
              <a:rPr lang="zh-CN" altLang="zh-CN" sz="1900" dirty="0">
                <a:solidFill>
                  <a:srgbClr val="333333"/>
                </a:solidFill>
                <a:latin typeface="Times New Roman" panose="02020603050405020304" pitchFamily="18" charset="0"/>
                <a:ea typeface="宋体" panose="02010600030101010101" pitchFamily="2" charset="-122"/>
                <a:cs typeface="Times New Roman" panose="02020603050405020304" pitchFamily="18" charset="0"/>
              </a:rPr>
              <a:t>属于某一类别的概率，例如： &lt;0.5则说明当前数据属于A类；&gt;0.5则说明当前数据属于B类。</a:t>
            </a:r>
            <a:endParaRPr lang="en-US" altLang="zh-CN" sz="1900" dirty="0">
              <a:solidFill>
                <a:srgbClr val="333333"/>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ts val="900"/>
              </a:spcBef>
              <a:spcAft>
                <a:spcPts val="150"/>
              </a:spcAft>
              <a:buClr>
                <a:srgbClr val="4472C4"/>
              </a:buClr>
              <a:buFont typeface="Calibri" panose="020F0502020204030204" pitchFamily="34" charset="0"/>
              <a:buChar char=" "/>
            </a:pPr>
            <a:endParaRPr kumimoji="1" lang="zh-CN" altLang="en-US" sz="1400" dirty="0">
              <a:solidFill>
                <a:srgbClr val="BB5832"/>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9C610E1F-2E01-3E88-F59A-FFFDE4297A4B}"/>
              </a:ext>
            </a:extLst>
          </p:cNvPr>
          <p:cNvSpPr txBox="1"/>
          <p:nvPr/>
        </p:nvSpPr>
        <p:spPr>
          <a:xfrm>
            <a:off x="878617" y="5512467"/>
            <a:ext cx="6141308" cy="1200329"/>
          </a:xfrm>
          <a:prstGeom prst="rect">
            <a:avLst/>
          </a:prstGeom>
          <a:noFill/>
        </p:spPr>
        <p:txBody>
          <a:bodyPr wrap="square">
            <a:spAutoFit/>
          </a:bodyPr>
          <a:lstStyle/>
          <a:p>
            <a:r>
              <a:rPr lang="zh-CN" altLang="en-US" sz="2400" b="1" dirty="0"/>
              <a:t>当</a:t>
            </a:r>
            <a:r>
              <a:rPr lang="en-US" altLang="zh-CN" sz="2400" b="1" dirty="0"/>
              <a:t>z&gt;0</a:t>
            </a:r>
            <a:r>
              <a:rPr lang="zh-CN" altLang="en-US" sz="2400" b="1" dirty="0"/>
              <a:t>时，</a:t>
            </a:r>
            <a:r>
              <a:rPr lang="en-US" altLang="zh-CN" sz="2400" b="1" dirty="0"/>
              <a:t>y&gt;0.5</a:t>
            </a:r>
          </a:p>
          <a:p>
            <a:r>
              <a:rPr lang="zh-CN" altLang="en-US" sz="2400" b="1" dirty="0"/>
              <a:t>当</a:t>
            </a:r>
            <a:r>
              <a:rPr lang="en-US" altLang="zh-CN" sz="2400" b="1" dirty="0"/>
              <a:t>z&lt;0</a:t>
            </a:r>
            <a:r>
              <a:rPr lang="zh-CN" altLang="en-US" sz="2400" b="1" dirty="0"/>
              <a:t>时，</a:t>
            </a:r>
            <a:r>
              <a:rPr lang="en-US" altLang="zh-CN" sz="2400" b="1" dirty="0"/>
              <a:t>y&lt;0.5</a:t>
            </a:r>
          </a:p>
          <a:p>
            <a:endParaRPr lang="zh-CN" altLang="en-US" sz="2400"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2945C94-4F00-7265-7D34-72DBA74FB45D}"/>
                  </a:ext>
                </a:extLst>
              </p:cNvPr>
              <p:cNvSpPr txBox="1"/>
              <p:nvPr/>
            </p:nvSpPr>
            <p:spPr>
              <a:xfrm>
                <a:off x="667265" y="3260377"/>
                <a:ext cx="3492276" cy="2208169"/>
              </a:xfrm>
              <a:prstGeom prst="rect">
                <a:avLst/>
              </a:prstGeom>
              <a:noFill/>
            </p:spPr>
            <p:txBody>
              <a:bodyPr wrap="square" rtlCol="0">
                <a:spAutoFit/>
              </a:bodyPr>
              <a:lstStyle/>
              <a:p>
                <a:endParaRPr lang="en-US" altLang="zh-CN" sz="1400" dirty="0"/>
              </a:p>
              <a:p>
                <a:r>
                  <a:rPr lang="zh-CN" altLang="en-US" sz="2400" b="1" dirty="0"/>
                  <a:t>逻辑回归：</a:t>
                </a:r>
                <a:r>
                  <a:rPr lang="en-US" altLang="zh-CN" sz="1400" dirty="0"/>
                  <a:t>    </a:t>
                </a:r>
              </a:p>
              <a:p>
                <a:endParaRPr lang="en-US" altLang="zh-CN" sz="1400" b="0" i="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US" altLang="zh-CN" sz="2400" b="0" i="0" smtClean="0">
                          <a:latin typeface="Cambria Math" panose="02040503050406030204" pitchFamily="18" charset="0"/>
                        </a:rPr>
                        <m:t>z</m:t>
                      </m:r>
                      <m:r>
                        <a:rPr lang="en-US" altLang="zh-CN" sz="2400" b="0" i="0" smtClean="0">
                          <a:latin typeface="Cambria Math" panose="02040503050406030204" pitchFamily="18" charset="0"/>
                        </a:rPr>
                        <m:t>=</m:t>
                      </m:r>
                      <m:sSup>
                        <m:sSupPr>
                          <m:ctrlPr>
                            <a:rPr lang="en-US" altLang="zh-CN" sz="2400" i="1" smtClean="0">
                              <a:latin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𝜃</m:t>
                          </m:r>
                        </m:e>
                        <m:sup>
                          <m:r>
                            <a:rPr lang="en-US" altLang="zh-CN" sz="2400" i="1">
                              <a:latin typeface="Cambria Math" panose="02040503050406030204" pitchFamily="18" charset="0"/>
                            </a:rPr>
                            <m:t>𝑇</m:t>
                          </m:r>
                        </m:sup>
                      </m:sSup>
                      <m:r>
                        <a:rPr lang="en-US" altLang="zh-CN" sz="2400" i="1">
                          <a:latin typeface="Cambria Math" panose="02040503050406030204" pitchFamily="18" charset="0"/>
                        </a:rPr>
                        <m:t>𝑋</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𝑏</m:t>
                      </m:r>
                    </m:oMath>
                  </m:oMathPara>
                </a14:m>
                <a:endParaRPr lang="en-US" altLang="zh-CN" sz="2400" dirty="0"/>
              </a:p>
              <a:p>
                <a:pPr/>
                <a14:m>
                  <m:oMathPara xmlns:m="http://schemas.openxmlformats.org/officeDocument/2006/math">
                    <m:oMathParaPr>
                      <m:jc m:val="left"/>
                    </m:oMathParaPr>
                    <m:oMath xmlns:m="http://schemas.openxmlformats.org/officeDocument/2006/math">
                      <m:r>
                        <a:rPr lang="en-US" altLang="zh-CN" sz="2400" i="1">
                          <a:latin typeface="Cambria Math" panose="02040503050406030204" pitchFamily="18" charset="0"/>
                        </a:rPr>
                        <m:t>𝑦</m:t>
                      </m:r>
                      <m:r>
                        <a:rPr lang="en-US" altLang="zh-CN" sz="2400" i="1">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r>
                            <a:rPr lang="en-US" altLang="zh-CN" sz="2400" b="0" i="1" smtClean="0">
                              <a:latin typeface="Cambria Math" panose="02040503050406030204" pitchFamily="18" charset="0"/>
                            </a:rPr>
                            <m:t>1+</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𝑒</m:t>
                              </m:r>
                            </m:e>
                            <m: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𝑧</m:t>
                              </m:r>
                            </m:sup>
                          </m:sSup>
                        </m:den>
                      </m:f>
                    </m:oMath>
                  </m:oMathPara>
                </a14:m>
                <a:endParaRPr lang="en-US" altLang="zh-CN" sz="2000" dirty="0"/>
              </a:p>
              <a:p>
                <a:endParaRPr lang="en-US" altLang="zh-CN" sz="1400" dirty="0"/>
              </a:p>
            </p:txBody>
          </p:sp>
        </mc:Choice>
        <mc:Fallback xmlns="">
          <p:sp>
            <p:nvSpPr>
              <p:cNvPr id="4" name="文本框 3">
                <a:extLst>
                  <a:ext uri="{FF2B5EF4-FFF2-40B4-BE49-F238E27FC236}">
                    <a16:creationId xmlns:a16="http://schemas.microsoft.com/office/drawing/2014/main" id="{02945C94-4F00-7265-7D34-72DBA74FB45D}"/>
                  </a:ext>
                </a:extLst>
              </p:cNvPr>
              <p:cNvSpPr txBox="1">
                <a:spLocks noRot="1" noChangeAspect="1" noMove="1" noResize="1" noEditPoints="1" noAdjustHandles="1" noChangeArrowheads="1" noChangeShapeType="1" noTextEdit="1"/>
              </p:cNvSpPr>
              <p:nvPr/>
            </p:nvSpPr>
            <p:spPr>
              <a:xfrm>
                <a:off x="667265" y="3260377"/>
                <a:ext cx="3492276" cy="2208169"/>
              </a:xfrm>
              <a:prstGeom prst="rect">
                <a:avLst/>
              </a:prstGeom>
              <a:blipFill>
                <a:blip r:embed="rId3"/>
                <a:stretch>
                  <a:fillRect l="-2536"/>
                </a:stretch>
              </a:blipFill>
            </p:spPr>
            <p:txBody>
              <a:bodyPr/>
              <a:lstStyle/>
              <a:p>
                <a:r>
                  <a:rPr lang="zh-CN" altLang="en-US">
                    <a:noFill/>
                  </a:rPr>
                  <a:t> </a:t>
                </a:r>
              </a:p>
            </p:txBody>
          </p:sp>
        </mc:Fallback>
      </mc:AlternateContent>
      <p:pic>
        <p:nvPicPr>
          <p:cNvPr id="5" name="内容占位符 4">
            <a:extLst>
              <a:ext uri="{FF2B5EF4-FFF2-40B4-BE49-F238E27FC236}">
                <a16:creationId xmlns:a16="http://schemas.microsoft.com/office/drawing/2014/main" id="{EBD6CEEF-47F9-2DEA-74C7-DBE3D77260F6}"/>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6846" y="3627380"/>
            <a:ext cx="3746157" cy="2623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51CF5721-6DC9-A75C-6476-1EBAD45C29FC}"/>
              </a:ext>
            </a:extLst>
          </p:cNvPr>
          <p:cNvSpPr txBox="1"/>
          <p:nvPr/>
        </p:nvSpPr>
        <p:spPr>
          <a:xfrm>
            <a:off x="5146846" y="4730243"/>
            <a:ext cx="479618" cy="369332"/>
          </a:xfrm>
          <a:prstGeom prst="rect">
            <a:avLst/>
          </a:prstGeom>
          <a:noFill/>
        </p:spPr>
        <p:txBody>
          <a:bodyPr wrap="none" rtlCol="0">
            <a:spAutoFit/>
          </a:bodyPr>
          <a:lstStyle/>
          <a:p>
            <a:r>
              <a:rPr kumimoji="1" lang="en-US" altLang="zh-CN" dirty="0"/>
              <a:t>0.5</a:t>
            </a:r>
            <a:endParaRPr kumimoji="1" lang="zh-CN" altLang="en-US" dirty="0"/>
          </a:p>
        </p:txBody>
      </p:sp>
      <p:cxnSp>
        <p:nvCxnSpPr>
          <p:cNvPr id="7" name="直线连接符 6">
            <a:extLst>
              <a:ext uri="{FF2B5EF4-FFF2-40B4-BE49-F238E27FC236}">
                <a16:creationId xmlns:a16="http://schemas.microsoft.com/office/drawing/2014/main" id="{3A44DFD3-DCB2-FFB8-8504-63691C1AD0AF}"/>
              </a:ext>
            </a:extLst>
          </p:cNvPr>
          <p:cNvCxnSpPr>
            <a:cxnSpLocks/>
          </p:cNvCxnSpPr>
          <p:nvPr/>
        </p:nvCxnSpPr>
        <p:spPr>
          <a:xfrm>
            <a:off x="5626464" y="4914909"/>
            <a:ext cx="3065484" cy="0"/>
          </a:xfrm>
          <a:prstGeom prst="line">
            <a:avLst/>
          </a:prstGeom>
          <a:ln>
            <a:prstDash val="dash"/>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5610076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150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b="1" dirty="0">
                <a:solidFill>
                  <a:schemeClr val="accent1">
                    <a:lumMod val="50000"/>
                  </a:schemeClr>
                </a:solidFill>
              </a:rPr>
              <a:t>Part Two</a:t>
            </a:r>
            <a:br>
              <a:rPr lang="en-US" altLang="zh-CN" b="1" dirty="0">
                <a:solidFill>
                  <a:schemeClr val="accent1">
                    <a:lumMod val="50000"/>
                  </a:schemeClr>
                </a:solidFill>
              </a:rPr>
            </a:br>
            <a:r>
              <a:rPr lang="zh-CN" altLang="en-US" b="1" dirty="0">
                <a:solidFill>
                  <a:schemeClr val="accent1">
                    <a:lumMod val="50000"/>
                  </a:schemeClr>
                </a:solidFill>
              </a:rPr>
              <a:t>模型求解</a:t>
            </a:r>
          </a:p>
        </p:txBody>
      </p:sp>
      <p:sp>
        <p:nvSpPr>
          <p:cNvPr id="4" name="文本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90847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C148FD-68C7-9215-23D3-36B65C5F9124}"/>
              </a:ext>
            </a:extLst>
          </p:cNvPr>
          <p:cNvSpPr>
            <a:spLocks noGrp="1"/>
          </p:cNvSpPr>
          <p:nvPr>
            <p:ph type="title"/>
          </p:nvPr>
        </p:nvSpPr>
        <p:spPr/>
        <p:txBody>
          <a:bodyPr>
            <a:normAutofit fontScale="90000"/>
          </a:bodyPr>
          <a:lstStyle/>
          <a:p>
            <a:r>
              <a:rPr kumimoji="1" lang="zh-CN" altLang="en-US" dirty="0"/>
              <a:t>损失函数</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D5AF505-4323-BC42-D1A2-42289349FBED}"/>
                  </a:ext>
                </a:extLst>
              </p:cNvPr>
              <p:cNvSpPr txBox="1"/>
              <p:nvPr/>
            </p:nvSpPr>
            <p:spPr>
              <a:xfrm>
                <a:off x="7058408" y="662293"/>
                <a:ext cx="5347773" cy="1541897"/>
              </a:xfrm>
              <a:prstGeom prst="rect">
                <a:avLst/>
              </a:prstGeom>
              <a:noFill/>
            </p:spPr>
            <p:txBody>
              <a:bodyPr wrap="square" rtlCol="0">
                <a:spAutoFit/>
              </a:bodyPr>
              <a:lstStyle/>
              <a:p>
                <a:endParaRPr lang="en-US" altLang="zh-CN" sz="1400" dirty="0"/>
              </a:p>
              <a:p>
                <a:r>
                  <a:rPr lang="zh-CN" altLang="en-US" sz="2400" b="1" dirty="0"/>
                  <a:t>逻辑回归：</a:t>
                </a:r>
                <a:r>
                  <a:rPr lang="en-US" altLang="zh-CN" sz="1400" dirty="0"/>
                  <a:t>    </a:t>
                </a:r>
                <a14:m>
                  <m:oMath xmlns:m="http://schemas.openxmlformats.org/officeDocument/2006/math">
                    <m:sSub>
                      <m:sSubPr>
                        <m:ctrlPr>
                          <a:rPr lang="en-US" altLang="zh-CN" sz="2800" i="1" smtClean="0">
                            <a:latin typeface="Cambria Math" panose="02040503050406030204" pitchFamily="18" charset="0"/>
                          </a:rPr>
                        </m:ctrlPr>
                      </m:sSubPr>
                      <m:e>
                        <m:acc>
                          <m:accPr>
                            <m:chr m:val="̂"/>
                            <m:ctrlPr>
                              <a:rPr lang="en-US" altLang="zh-CN" sz="2800" b="1" i="1" dirty="0">
                                <a:latin typeface="Cambria Math" panose="02040503050406030204" pitchFamily="18" charset="0"/>
                              </a:rPr>
                            </m:ctrlPr>
                          </m:accPr>
                          <m:e>
                            <m:r>
                              <a:rPr lang="en-US" altLang="zh-CN" sz="2800" b="1" i="1" dirty="0">
                                <a:latin typeface="Cambria Math" panose="02040503050406030204" pitchFamily="18" charset="0"/>
                              </a:rPr>
                              <m:t>𝒚</m:t>
                            </m:r>
                          </m:e>
                        </m:acc>
                      </m:e>
                      <m:sub>
                        <m:r>
                          <a:rPr lang="en-US" altLang="zh-CN" sz="2800" b="0" i="1" smtClean="0">
                            <a:latin typeface="Cambria Math" panose="02040503050406030204" pitchFamily="18" charset="0"/>
                          </a:rPr>
                          <m:t> </m:t>
                        </m:r>
                      </m:sub>
                    </m:sSub>
                    <m:r>
                      <a:rPr lang="en-US" altLang="zh-CN" sz="2800" b="0" i="0" smtClean="0">
                        <a:latin typeface="Cambria Math" panose="02040503050406030204" pitchFamily="18" charset="0"/>
                      </a:rPr>
                      <m:t>=</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1</m:t>
                        </m:r>
                      </m:num>
                      <m:den>
                        <m:r>
                          <a:rPr lang="en-US" altLang="zh-CN" sz="2800" i="1">
                            <a:latin typeface="Cambria Math" panose="02040503050406030204" pitchFamily="18" charset="0"/>
                          </a:rPr>
                          <m:t>1+</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𝑒</m:t>
                            </m:r>
                          </m:e>
                          <m:sup>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𝜃</m:t>
                                </m:r>
                              </m:e>
                              <m:sup>
                                <m:r>
                                  <a:rPr lang="en-US" altLang="zh-CN" sz="2800" i="1">
                                    <a:latin typeface="Cambria Math" panose="02040503050406030204" pitchFamily="18" charset="0"/>
                                  </a:rPr>
                                  <m:t>𝑇</m:t>
                                </m:r>
                              </m:sup>
                            </m:sSup>
                            <m:r>
                              <a:rPr lang="en-US" altLang="zh-CN" sz="2800" i="1">
                                <a:latin typeface="Cambria Math" panose="02040503050406030204" pitchFamily="18" charset="0"/>
                              </a:rPr>
                              <m:t>𝑋</m:t>
                            </m:r>
                            <m:r>
                              <a:rPr lang="en-US" altLang="zh-CN" sz="2800" i="1">
                                <a:latin typeface="Cambria Math" panose="02040503050406030204" pitchFamily="18" charset="0"/>
                              </a:rPr>
                              <m:t>+</m:t>
                            </m:r>
                            <m:r>
                              <a:rPr lang="en-US" altLang="zh-CN" sz="2800" i="1">
                                <a:latin typeface="Cambria Math" panose="02040503050406030204" pitchFamily="18" charset="0"/>
                              </a:rPr>
                              <m:t>𝑏</m:t>
                            </m:r>
                            <m:r>
                              <a:rPr lang="en-US" altLang="zh-CN" sz="2800" i="1">
                                <a:latin typeface="Cambria Math" panose="02040503050406030204" pitchFamily="18" charset="0"/>
                              </a:rPr>
                              <m:t>)</m:t>
                            </m:r>
                          </m:sup>
                        </m:sSup>
                      </m:den>
                    </m:f>
                  </m:oMath>
                </a14:m>
                <a:endParaRPr lang="en-US" altLang="zh-CN" sz="2400" dirty="0"/>
              </a:p>
              <a:p>
                <a:endParaRPr lang="en-US" altLang="zh-CN" sz="1400" dirty="0"/>
              </a:p>
              <a:p>
                <a:pPr/>
                <a14:m>
                  <m:oMathPara xmlns:m="http://schemas.openxmlformats.org/officeDocument/2006/math">
                    <m:oMathParaPr>
                      <m:jc m:val="centerGroup"/>
                    </m:oMathParaPr>
                    <m:oMath xmlns:m="http://schemas.openxmlformats.org/officeDocument/2006/math">
                      <m:acc>
                        <m:accPr>
                          <m:chr m:val="̂"/>
                          <m:ctrlPr>
                            <a:rPr lang="en-US" altLang="zh-CN" sz="2400" b="1" i="1" dirty="0">
                              <a:latin typeface="Cambria Math" panose="02040503050406030204" pitchFamily="18" charset="0"/>
                            </a:rPr>
                          </m:ctrlPr>
                        </m:accPr>
                        <m:e>
                          <m:r>
                            <a:rPr lang="en-US" altLang="zh-CN" sz="2400" b="1" i="1" dirty="0">
                              <a:latin typeface="Cambria Math" panose="02040503050406030204" pitchFamily="18" charset="0"/>
                            </a:rPr>
                            <m:t>𝒚</m:t>
                          </m:r>
                        </m:e>
                      </m:acc>
                      <m:r>
                        <a:rPr lang="en-US" altLang="zh-CN" sz="2400" b="0" i="1" smtClean="0">
                          <a:latin typeface="Cambria Math" panose="02040503050406030204" pitchFamily="18" charset="0"/>
                          <a:ea typeface="Cambria Math" panose="02040503050406030204" pitchFamily="18" charset="0"/>
                        </a:rPr>
                        <m:t>∈[0,1]</m:t>
                      </m:r>
                    </m:oMath>
                  </m:oMathPara>
                </a14:m>
                <a:endParaRPr lang="en-US" altLang="zh-CN" sz="2400" dirty="0"/>
              </a:p>
            </p:txBody>
          </p:sp>
        </mc:Choice>
        <mc:Fallback xmlns="">
          <p:sp>
            <p:nvSpPr>
              <p:cNvPr id="3" name="文本框 2">
                <a:extLst>
                  <a:ext uri="{FF2B5EF4-FFF2-40B4-BE49-F238E27FC236}">
                    <a16:creationId xmlns:a16="http://schemas.microsoft.com/office/drawing/2014/main" id="{FD5AF505-4323-BC42-D1A2-42289349FBED}"/>
                  </a:ext>
                </a:extLst>
              </p:cNvPr>
              <p:cNvSpPr txBox="1">
                <a:spLocks noRot="1" noChangeAspect="1" noMove="1" noResize="1" noEditPoints="1" noAdjustHandles="1" noChangeArrowheads="1" noChangeShapeType="1" noTextEdit="1"/>
              </p:cNvSpPr>
              <p:nvPr/>
            </p:nvSpPr>
            <p:spPr>
              <a:xfrm>
                <a:off x="7058408" y="662293"/>
                <a:ext cx="5347773" cy="1541897"/>
              </a:xfrm>
              <a:prstGeom prst="rect">
                <a:avLst/>
              </a:prstGeom>
              <a:blipFill>
                <a:blip r:embed="rId3"/>
                <a:stretch>
                  <a:fillRect l="-1659" b="-49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AC5A16E-35A1-0ED3-9E90-EEBA8CE5B13A}"/>
                  </a:ext>
                </a:extLst>
              </p:cNvPr>
              <p:cNvSpPr txBox="1"/>
              <p:nvPr/>
            </p:nvSpPr>
            <p:spPr>
              <a:xfrm>
                <a:off x="329516" y="1155794"/>
                <a:ext cx="6857999" cy="1285480"/>
              </a:xfrm>
              <a:prstGeom prst="rect">
                <a:avLst/>
              </a:prstGeom>
              <a:noFill/>
            </p:spPr>
            <p:txBody>
              <a:bodyPr wrap="square">
                <a:spAutoFit/>
              </a:bodyPr>
              <a:lstStyle/>
              <a:p>
                <a:r>
                  <a:rPr lang="zh-CN" altLang="en-US" sz="2400" b="1" dirty="0"/>
                  <a:t>逻辑回归损失函数：</a:t>
                </a:r>
                <a:endParaRPr lang="en-US" altLang="zh-CN" sz="2400" b="1" dirty="0"/>
              </a:p>
              <a:p>
                <a14:m>
                  <m:oMath xmlns:m="http://schemas.openxmlformats.org/officeDocument/2006/math">
                    <m:r>
                      <a:rPr lang="en-US" altLang="zh-CN" sz="2400" b="1" i="1" dirty="0" smtClean="0">
                        <a:latin typeface="Cambria Math" panose="02040503050406030204" pitchFamily="18" charset="0"/>
                      </a:rPr>
                      <m:t>𝑳</m:t>
                    </m:r>
                    <m:r>
                      <a:rPr lang="en-US" altLang="zh-CN" sz="2400" b="1" i="1" dirty="0" smtClean="0">
                        <a:latin typeface="Cambria Math" panose="02040503050406030204" pitchFamily="18" charset="0"/>
                      </a:rPr>
                      <m:t>(</m:t>
                    </m:r>
                    <m:acc>
                      <m:accPr>
                        <m:chr m:val="̂"/>
                        <m:ctrlPr>
                          <a:rPr lang="en-US" altLang="zh-CN" sz="2400" b="1" i="1" dirty="0" smtClean="0">
                            <a:latin typeface="Cambria Math" panose="02040503050406030204" pitchFamily="18" charset="0"/>
                          </a:rPr>
                        </m:ctrlPr>
                      </m:accPr>
                      <m:e>
                        <m:r>
                          <a:rPr lang="en-US" altLang="zh-CN" sz="2400" b="1" i="1" dirty="0" smtClean="0">
                            <a:latin typeface="Cambria Math" panose="02040503050406030204" pitchFamily="18" charset="0"/>
                          </a:rPr>
                          <m:t>𝒚</m:t>
                        </m:r>
                      </m:e>
                    </m:acc>
                    <m:r>
                      <a:rPr lang="en-US" altLang="zh-CN" sz="2400" b="1" i="0" smtClean="0">
                        <a:latin typeface="Cambria Math" panose="02040503050406030204" pitchFamily="18" charset="0"/>
                      </a:rPr>
                      <m:t>,</m:t>
                    </m:r>
                    <m:r>
                      <a:rPr lang="en-US" altLang="zh-CN" sz="2400" b="1" i="0" smtClean="0">
                        <a:latin typeface="Cambria Math" panose="02040503050406030204" pitchFamily="18" charset="0"/>
                      </a:rPr>
                      <m:t>𝐲</m:t>
                    </m:r>
                    <m:r>
                      <a:rPr lang="en-US" altLang="zh-CN" sz="2400" b="1" i="1" dirty="0" smtClean="0">
                        <a:latin typeface="Cambria Math" panose="02040503050406030204" pitchFamily="18" charset="0"/>
                      </a:rPr>
                      <m:t>)= </m:t>
                    </m:r>
                    <m:d>
                      <m:dPr>
                        <m:begChr m:val="{"/>
                        <m:endChr m:val=""/>
                        <m:ctrlPr>
                          <a:rPr lang="en-US" altLang="zh-CN" sz="2400" b="1" i="1" dirty="0" smtClean="0">
                            <a:latin typeface="Cambria Math" panose="02040503050406030204" pitchFamily="18" charset="0"/>
                          </a:rPr>
                        </m:ctrlPr>
                      </m:dPr>
                      <m:e>
                        <m:eqArr>
                          <m:eqArrPr>
                            <m:ctrlPr>
                              <a:rPr lang="en-US" altLang="zh-CN" sz="2400" b="1" i="1" dirty="0" smtClean="0">
                                <a:latin typeface="Cambria Math" panose="02040503050406030204" pitchFamily="18" charset="0"/>
                              </a:rPr>
                            </m:ctrlPr>
                          </m:eqArrPr>
                          <m:e>
                            <m:r>
                              <a:rPr lang="en-US" altLang="zh-CN" sz="2400" b="1" i="1" dirty="0" smtClean="0">
                                <a:latin typeface="Cambria Math" panose="02040503050406030204" pitchFamily="18" charset="0"/>
                              </a:rPr>
                              <m:t>−</m:t>
                            </m:r>
                            <m:r>
                              <a:rPr lang="en-US" altLang="zh-CN" sz="2400" b="1" i="1" dirty="0" smtClean="0">
                                <a:latin typeface="Cambria Math" panose="02040503050406030204" pitchFamily="18" charset="0"/>
                              </a:rPr>
                              <m:t>𝒍𝒏</m:t>
                            </m:r>
                            <m:d>
                              <m:dPr>
                                <m:ctrlPr>
                                  <a:rPr lang="en-US" altLang="zh-CN" sz="2400" b="1" i="1" dirty="0" smtClean="0">
                                    <a:latin typeface="Cambria Math" panose="02040503050406030204" pitchFamily="18" charset="0"/>
                                  </a:rPr>
                                </m:ctrlPr>
                              </m:dPr>
                              <m:e>
                                <m:acc>
                                  <m:accPr>
                                    <m:chr m:val="̂"/>
                                    <m:ctrlPr>
                                      <a:rPr lang="en-US" altLang="zh-CN" sz="2400" b="1" i="1" dirty="0">
                                        <a:latin typeface="Cambria Math" panose="02040503050406030204" pitchFamily="18" charset="0"/>
                                      </a:rPr>
                                    </m:ctrlPr>
                                  </m:accPr>
                                  <m:e>
                                    <m:r>
                                      <a:rPr lang="en-US" altLang="zh-CN" sz="2400" b="1" i="1" dirty="0">
                                        <a:latin typeface="Cambria Math" panose="02040503050406030204" pitchFamily="18" charset="0"/>
                                      </a:rPr>
                                      <m:t>𝒚</m:t>
                                    </m:r>
                                  </m:e>
                                </m:acc>
                              </m:e>
                            </m:d>
                            <m:r>
                              <a:rPr lang="en-US" altLang="zh-CN" sz="2400" b="1" i="1" dirty="0" smtClean="0">
                                <a:latin typeface="Cambria Math" panose="02040503050406030204" pitchFamily="18" charset="0"/>
                              </a:rPr>
                              <m:t>             </m:t>
                            </m:r>
                            <m:r>
                              <a:rPr lang="en-US" altLang="zh-CN" sz="2400" b="1" i="1" dirty="0" smtClean="0">
                                <a:latin typeface="Cambria Math" panose="02040503050406030204" pitchFamily="18" charset="0"/>
                              </a:rPr>
                              <m:t>𝒊𝒇</m:t>
                            </m:r>
                            <m:r>
                              <a:rPr lang="zh-CN" altLang="en-US" sz="2400" b="1" i="1" dirty="0" smtClean="0">
                                <a:latin typeface="Cambria Math" panose="02040503050406030204" pitchFamily="18" charset="0"/>
                              </a:rPr>
                              <m:t> </m:t>
                            </m:r>
                            <m:r>
                              <a:rPr lang="en-US" altLang="zh-CN" sz="2400" b="1" i="1" dirty="0" smtClean="0">
                                <a:latin typeface="Cambria Math" panose="02040503050406030204" pitchFamily="18" charset="0"/>
                              </a:rPr>
                              <m:t>  </m:t>
                            </m:r>
                            <m:r>
                              <a:rPr lang="en-US" altLang="zh-CN" sz="2400" b="1" i="1" dirty="0" smtClean="0">
                                <a:latin typeface="Cambria Math" panose="02040503050406030204" pitchFamily="18" charset="0"/>
                              </a:rPr>
                              <m:t>𝒚</m:t>
                            </m:r>
                            <m:r>
                              <a:rPr lang="en-US" altLang="zh-CN" sz="2400" b="1" i="1" dirty="0" smtClean="0">
                                <a:latin typeface="Cambria Math" panose="02040503050406030204" pitchFamily="18" charset="0"/>
                              </a:rPr>
                              <m:t>=</m:t>
                            </m:r>
                            <m:r>
                              <a:rPr lang="en-US" altLang="zh-CN" sz="2400" b="1" i="1" dirty="0" smtClean="0">
                                <a:latin typeface="Cambria Math" panose="02040503050406030204" pitchFamily="18" charset="0"/>
                              </a:rPr>
                              <m:t>𝟏</m:t>
                            </m:r>
                          </m:e>
                          <m:e>
                            <m:r>
                              <a:rPr lang="en-US" altLang="zh-CN" sz="2400" b="1" i="1" dirty="0" smtClean="0">
                                <a:latin typeface="Cambria Math" panose="02040503050406030204" pitchFamily="18" charset="0"/>
                              </a:rPr>
                              <m:t>−</m:t>
                            </m:r>
                            <m:r>
                              <a:rPr lang="en-US" altLang="zh-CN" sz="2400" b="1" i="1" dirty="0" smtClean="0">
                                <a:latin typeface="Cambria Math" panose="02040503050406030204" pitchFamily="18" charset="0"/>
                              </a:rPr>
                              <m:t>𝒍𝒏</m:t>
                            </m:r>
                            <m:d>
                              <m:dPr>
                                <m:ctrlPr>
                                  <a:rPr lang="en-US" altLang="zh-CN" sz="2400" b="1" i="1" dirty="0" smtClean="0">
                                    <a:latin typeface="Cambria Math" panose="02040503050406030204" pitchFamily="18" charset="0"/>
                                  </a:rPr>
                                </m:ctrlPr>
                              </m:dPr>
                              <m:e>
                                <m:r>
                                  <a:rPr lang="en-US" altLang="zh-CN" sz="2400" b="1" i="1" dirty="0" smtClean="0">
                                    <a:latin typeface="Cambria Math" panose="02040503050406030204" pitchFamily="18" charset="0"/>
                                  </a:rPr>
                                  <m:t>𝟏</m:t>
                                </m:r>
                                <m:r>
                                  <a:rPr lang="en-US" altLang="zh-CN" sz="2400" b="1" i="1" dirty="0" smtClean="0">
                                    <a:latin typeface="Cambria Math" panose="02040503050406030204" pitchFamily="18" charset="0"/>
                                  </a:rPr>
                                  <m:t>−</m:t>
                                </m:r>
                                <m:acc>
                                  <m:accPr>
                                    <m:chr m:val="̂"/>
                                    <m:ctrlPr>
                                      <a:rPr lang="en-US" altLang="zh-CN" sz="2400" b="1" i="1" dirty="0">
                                        <a:latin typeface="Cambria Math" panose="02040503050406030204" pitchFamily="18" charset="0"/>
                                      </a:rPr>
                                    </m:ctrlPr>
                                  </m:accPr>
                                  <m:e>
                                    <m:r>
                                      <a:rPr lang="en-US" altLang="zh-CN" sz="2400" b="1" i="1" dirty="0">
                                        <a:latin typeface="Cambria Math" panose="02040503050406030204" pitchFamily="18" charset="0"/>
                                      </a:rPr>
                                      <m:t>𝒚</m:t>
                                    </m:r>
                                  </m:e>
                                </m:acc>
                              </m:e>
                            </m:d>
                            <m:r>
                              <a:rPr lang="en-US" altLang="zh-CN" sz="2400" b="1" i="1" dirty="0" smtClean="0">
                                <a:latin typeface="Cambria Math" panose="02040503050406030204" pitchFamily="18" charset="0"/>
                              </a:rPr>
                              <m:t>     </m:t>
                            </m:r>
                            <m:r>
                              <a:rPr lang="en-US" altLang="zh-CN" sz="2400" b="1" i="1" dirty="0" smtClean="0">
                                <a:latin typeface="Cambria Math" panose="02040503050406030204" pitchFamily="18" charset="0"/>
                              </a:rPr>
                              <m:t>𝒊𝒇</m:t>
                            </m:r>
                            <m:r>
                              <a:rPr lang="en-US" altLang="zh-CN" sz="2400" b="1" i="1" dirty="0" smtClean="0">
                                <a:latin typeface="Cambria Math" panose="02040503050406030204" pitchFamily="18" charset="0"/>
                              </a:rPr>
                              <m:t>   </m:t>
                            </m:r>
                            <m:r>
                              <a:rPr lang="en-US" altLang="zh-CN" sz="2400" b="1" i="1" dirty="0" smtClean="0">
                                <a:latin typeface="Cambria Math" panose="02040503050406030204" pitchFamily="18" charset="0"/>
                              </a:rPr>
                              <m:t>𝒚</m:t>
                            </m:r>
                            <m:r>
                              <a:rPr lang="en-US" altLang="zh-CN" sz="2400" b="1" i="1" dirty="0" smtClean="0">
                                <a:latin typeface="Cambria Math" panose="02040503050406030204" pitchFamily="18" charset="0"/>
                              </a:rPr>
                              <m:t>=</m:t>
                            </m:r>
                            <m:r>
                              <a:rPr lang="en-US" altLang="zh-CN" sz="2400" b="1" i="1" dirty="0" smtClean="0">
                                <a:latin typeface="Cambria Math" panose="02040503050406030204" pitchFamily="18" charset="0"/>
                              </a:rPr>
                              <m:t>𝟎</m:t>
                            </m:r>
                          </m:e>
                        </m:eqArr>
                      </m:e>
                    </m:d>
                  </m:oMath>
                </a14:m>
                <a:r>
                  <a:rPr lang="en-US" altLang="zh-CN" sz="1400" b="1" dirty="0"/>
                  <a:t>    </a:t>
                </a:r>
              </a:p>
            </p:txBody>
          </p:sp>
        </mc:Choice>
        <mc:Fallback xmlns="">
          <p:sp>
            <p:nvSpPr>
              <p:cNvPr id="5" name="文本框 4">
                <a:extLst>
                  <a:ext uri="{FF2B5EF4-FFF2-40B4-BE49-F238E27FC236}">
                    <a16:creationId xmlns:a16="http://schemas.microsoft.com/office/drawing/2014/main" id="{1AC5A16E-35A1-0ED3-9E90-EEBA8CE5B13A}"/>
                  </a:ext>
                </a:extLst>
              </p:cNvPr>
              <p:cNvSpPr txBox="1">
                <a:spLocks noRot="1" noChangeAspect="1" noMove="1" noResize="1" noEditPoints="1" noAdjustHandles="1" noChangeArrowheads="1" noChangeShapeType="1" noTextEdit="1"/>
              </p:cNvSpPr>
              <p:nvPr/>
            </p:nvSpPr>
            <p:spPr>
              <a:xfrm>
                <a:off x="329516" y="1155794"/>
                <a:ext cx="6857999" cy="1285480"/>
              </a:xfrm>
              <a:prstGeom prst="rect">
                <a:avLst/>
              </a:prstGeom>
              <a:blipFill>
                <a:blip r:embed="rId4"/>
                <a:stretch>
                  <a:fillRect l="-1479" t="-114851" b="-208911"/>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A697E737-A315-A130-B07B-898247999C5A}"/>
              </a:ext>
            </a:extLst>
          </p:cNvPr>
          <p:cNvPicPr>
            <a:picLocks noChangeAspect="1"/>
          </p:cNvPicPr>
          <p:nvPr/>
        </p:nvPicPr>
        <p:blipFill>
          <a:blip r:embed="rId5"/>
          <a:stretch>
            <a:fillRect/>
          </a:stretch>
        </p:blipFill>
        <p:spPr>
          <a:xfrm>
            <a:off x="1166684" y="2760445"/>
            <a:ext cx="2945285" cy="2725955"/>
          </a:xfrm>
          <a:prstGeom prst="rect">
            <a:avLst/>
          </a:prstGeom>
        </p:spPr>
      </p:pic>
      <p:pic>
        <p:nvPicPr>
          <p:cNvPr id="7" name="图片 6">
            <a:extLst>
              <a:ext uri="{FF2B5EF4-FFF2-40B4-BE49-F238E27FC236}">
                <a16:creationId xmlns:a16="http://schemas.microsoft.com/office/drawing/2014/main" id="{A92DABAC-F43D-24BA-7DD6-B29D2EDED390}"/>
              </a:ext>
            </a:extLst>
          </p:cNvPr>
          <p:cNvPicPr>
            <a:picLocks noChangeAspect="1"/>
          </p:cNvPicPr>
          <p:nvPr/>
        </p:nvPicPr>
        <p:blipFill>
          <a:blip r:embed="rId6"/>
          <a:stretch>
            <a:fillRect/>
          </a:stretch>
        </p:blipFill>
        <p:spPr>
          <a:xfrm>
            <a:off x="5866886" y="2448754"/>
            <a:ext cx="3178260" cy="2832113"/>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67A297C-6C9B-8A92-F783-2A2CC13ECF2E}"/>
                  </a:ext>
                </a:extLst>
              </p:cNvPr>
              <p:cNvSpPr txBox="1"/>
              <p:nvPr/>
            </p:nvSpPr>
            <p:spPr>
              <a:xfrm>
                <a:off x="531341" y="5559917"/>
                <a:ext cx="4534929" cy="923330"/>
              </a:xfrm>
              <a:prstGeom prst="rect">
                <a:avLst/>
              </a:prstGeom>
              <a:noFill/>
            </p:spPr>
            <p:txBody>
              <a:bodyPr wrap="square">
                <a:spAutoFit/>
              </a:bodyPr>
              <a:lstStyle/>
              <a:p>
                <a:r>
                  <a:rPr lang="zh-CN" altLang="en-US" dirty="0"/>
                  <a:t>当</a:t>
                </a:r>
                <a:r>
                  <a:rPr lang="en-US" altLang="zh-CN" dirty="0"/>
                  <a:t>y=1</a:t>
                </a:r>
                <a:r>
                  <a:rPr lang="zh-CN" altLang="en-US" dirty="0"/>
                  <a:t>时，鼓励</a:t>
                </a:r>
                <a14:m>
                  <m:oMath xmlns:m="http://schemas.openxmlformats.org/officeDocument/2006/math">
                    <m:acc>
                      <m:accPr>
                        <m:chr m:val="̂"/>
                        <m:ctrlPr>
                          <a:rPr lang="en-US" altLang="zh-CN" b="1" i="1" dirty="0">
                            <a:latin typeface="Cambria Math" panose="02040503050406030204" pitchFamily="18" charset="0"/>
                          </a:rPr>
                        </m:ctrlPr>
                      </m:accPr>
                      <m:e>
                        <m:r>
                          <a:rPr lang="en-US" altLang="zh-CN" b="1" i="1" dirty="0">
                            <a:latin typeface="Cambria Math" panose="02040503050406030204" pitchFamily="18" charset="0"/>
                          </a:rPr>
                          <m:t>𝒚</m:t>
                        </m:r>
                      </m:e>
                    </m:acc>
                  </m:oMath>
                </a14:m>
                <a:r>
                  <a:rPr lang="zh-CN" altLang="en-US" dirty="0"/>
                  <a:t>值越大越好。</a:t>
                </a:r>
                <a:endParaRPr lang="en-US" altLang="zh-CN" dirty="0"/>
              </a:p>
              <a:p>
                <a:r>
                  <a:rPr lang="en-US" altLang="zh-CN" sz="1800" b="1" i="1" dirty="0"/>
                  <a:t>L</a:t>
                </a:r>
                <a:r>
                  <a:rPr lang="en-US" altLang="zh-CN" sz="1800" b="1" dirty="0"/>
                  <a:t>= </a:t>
                </a:r>
                <a14:m>
                  <m:oMath xmlns:m="http://schemas.openxmlformats.org/officeDocument/2006/math">
                    <m:r>
                      <a:rPr lang="en-US" altLang="zh-CN" sz="1800" b="1" i="1" dirty="0" smtClean="0">
                        <a:latin typeface="Cambria Math" panose="02040503050406030204" pitchFamily="18" charset="0"/>
                      </a:rPr>
                      <m:t>−</m:t>
                    </m:r>
                    <m:r>
                      <a:rPr lang="en-US" altLang="zh-CN" sz="1800" b="1" i="1" dirty="0" smtClean="0">
                        <a:latin typeface="Cambria Math" panose="02040503050406030204" pitchFamily="18" charset="0"/>
                      </a:rPr>
                      <m:t>𝒍𝒐𝒈</m:t>
                    </m:r>
                    <m:d>
                      <m:dPr>
                        <m:ctrlPr>
                          <a:rPr lang="en-US" altLang="zh-CN" sz="1800" b="1" i="1" dirty="0" smtClean="0">
                            <a:latin typeface="Cambria Math" panose="02040503050406030204" pitchFamily="18" charset="0"/>
                          </a:rPr>
                        </m:ctrlPr>
                      </m:dPr>
                      <m:e>
                        <m:acc>
                          <m:accPr>
                            <m:chr m:val="̂"/>
                            <m:ctrlPr>
                              <a:rPr lang="en-US" altLang="zh-CN" b="1" i="1" dirty="0">
                                <a:latin typeface="Cambria Math" panose="02040503050406030204" pitchFamily="18" charset="0"/>
                              </a:rPr>
                            </m:ctrlPr>
                          </m:accPr>
                          <m:e>
                            <m:r>
                              <a:rPr lang="en-US" altLang="zh-CN" b="1" i="1" dirty="0">
                                <a:latin typeface="Cambria Math" panose="02040503050406030204" pitchFamily="18" charset="0"/>
                              </a:rPr>
                              <m:t>𝒚</m:t>
                            </m:r>
                          </m:e>
                        </m:acc>
                      </m:e>
                    </m:d>
                  </m:oMath>
                </a14:m>
                <a:r>
                  <a:rPr lang="zh-CN" altLang="en-US" dirty="0"/>
                  <a:t>，该损失函数使得：</a:t>
                </a:r>
                <a:endParaRPr lang="en-US" altLang="zh-CN" dirty="0"/>
              </a:p>
              <a:p>
                <a:r>
                  <a:rPr lang="en-US" altLang="zh-CN" dirty="0"/>
                  <a:t>cost</a:t>
                </a:r>
                <a:r>
                  <a:rPr lang="zh-CN" altLang="en-US" dirty="0"/>
                  <a:t>越小</a:t>
                </a:r>
                <a:r>
                  <a:rPr lang="en-US" altLang="zh-CN" dirty="0"/>
                  <a:t>,</a:t>
                </a:r>
                <a:r>
                  <a:rPr lang="en-US" altLang="zh-CN" b="1" dirty="0"/>
                  <a:t> </a:t>
                </a:r>
                <a14:m>
                  <m:oMath xmlns:m="http://schemas.openxmlformats.org/officeDocument/2006/math">
                    <m:acc>
                      <m:accPr>
                        <m:chr m:val="̂"/>
                        <m:ctrlPr>
                          <a:rPr lang="en-US" altLang="zh-CN" b="1" i="1" dirty="0">
                            <a:latin typeface="Cambria Math" panose="02040503050406030204" pitchFamily="18" charset="0"/>
                          </a:rPr>
                        </m:ctrlPr>
                      </m:accPr>
                      <m:e>
                        <m:r>
                          <a:rPr lang="en-US" altLang="zh-CN" b="1" i="1" dirty="0">
                            <a:latin typeface="Cambria Math" panose="02040503050406030204" pitchFamily="18" charset="0"/>
                          </a:rPr>
                          <m:t>𝒚</m:t>
                        </m:r>
                      </m:e>
                    </m:acc>
                  </m:oMath>
                </a14:m>
                <a:r>
                  <a:rPr lang="zh-CN" altLang="en-US" dirty="0"/>
                  <a:t>值越大</a:t>
                </a:r>
              </a:p>
            </p:txBody>
          </p:sp>
        </mc:Choice>
        <mc:Fallback xmlns="">
          <p:sp>
            <p:nvSpPr>
              <p:cNvPr id="9" name="文本框 8">
                <a:extLst>
                  <a:ext uri="{FF2B5EF4-FFF2-40B4-BE49-F238E27FC236}">
                    <a16:creationId xmlns:a16="http://schemas.microsoft.com/office/drawing/2014/main" id="{967A297C-6C9B-8A92-F783-2A2CC13ECF2E}"/>
                  </a:ext>
                </a:extLst>
              </p:cNvPr>
              <p:cNvSpPr txBox="1">
                <a:spLocks noRot="1" noChangeAspect="1" noMove="1" noResize="1" noEditPoints="1" noAdjustHandles="1" noChangeArrowheads="1" noChangeShapeType="1" noTextEdit="1"/>
              </p:cNvSpPr>
              <p:nvPr/>
            </p:nvSpPr>
            <p:spPr>
              <a:xfrm>
                <a:off x="531341" y="5559917"/>
                <a:ext cx="4534929" cy="923330"/>
              </a:xfrm>
              <a:prstGeom prst="rect">
                <a:avLst/>
              </a:prstGeom>
              <a:blipFill>
                <a:blip r:embed="rId7"/>
                <a:stretch>
                  <a:fillRect l="-1117" t="-2703" b="-94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7A904422-98EA-783D-B6CE-6BF092EEDEF0}"/>
                  </a:ext>
                </a:extLst>
              </p:cNvPr>
              <p:cNvSpPr txBox="1"/>
              <p:nvPr/>
            </p:nvSpPr>
            <p:spPr>
              <a:xfrm>
                <a:off x="5857914" y="5486400"/>
                <a:ext cx="4444237" cy="923330"/>
              </a:xfrm>
              <a:prstGeom prst="rect">
                <a:avLst/>
              </a:prstGeom>
              <a:noFill/>
            </p:spPr>
            <p:txBody>
              <a:bodyPr wrap="square">
                <a:spAutoFit/>
              </a:bodyPr>
              <a:lstStyle/>
              <a:p>
                <a:r>
                  <a:rPr lang="zh-CN" altLang="en-US" dirty="0"/>
                  <a:t>当</a:t>
                </a:r>
                <a:r>
                  <a:rPr lang="en-US" altLang="zh-CN" dirty="0"/>
                  <a:t>y=0</a:t>
                </a:r>
                <a:r>
                  <a:rPr lang="zh-CN" altLang="en-US" dirty="0"/>
                  <a:t>时，鼓励</a:t>
                </a:r>
                <a14:m>
                  <m:oMath xmlns:m="http://schemas.openxmlformats.org/officeDocument/2006/math">
                    <m:acc>
                      <m:accPr>
                        <m:chr m:val="̂"/>
                        <m:ctrlPr>
                          <a:rPr lang="en-US" altLang="zh-CN" b="1" i="1" dirty="0">
                            <a:latin typeface="Cambria Math" panose="02040503050406030204" pitchFamily="18" charset="0"/>
                          </a:rPr>
                        </m:ctrlPr>
                      </m:accPr>
                      <m:e>
                        <m:r>
                          <a:rPr lang="en-US" altLang="zh-CN" b="1" i="1" dirty="0">
                            <a:latin typeface="Cambria Math" panose="02040503050406030204" pitchFamily="18" charset="0"/>
                          </a:rPr>
                          <m:t>𝒚</m:t>
                        </m:r>
                      </m:e>
                    </m:acc>
                  </m:oMath>
                </a14:m>
                <a:r>
                  <a:rPr lang="zh-CN" altLang="en-US" dirty="0"/>
                  <a:t>值越小越好。</a:t>
                </a:r>
                <a:endParaRPr lang="en-US" altLang="zh-CN" dirty="0"/>
              </a:p>
              <a:p>
                <a:r>
                  <a:rPr lang="en-US" altLang="zh-CN" b="1" i="1" dirty="0"/>
                  <a:t>L</a:t>
                </a:r>
                <a:r>
                  <a:rPr lang="en-US" altLang="zh-CN" sz="1800" b="1" dirty="0"/>
                  <a:t>= </a:t>
                </a:r>
                <a14:m>
                  <m:oMath xmlns:m="http://schemas.openxmlformats.org/officeDocument/2006/math">
                    <m:r>
                      <a:rPr lang="en-US" altLang="zh-CN" sz="1800" b="1" i="1" dirty="0" smtClean="0">
                        <a:latin typeface="Cambria Math" panose="02040503050406030204" pitchFamily="18" charset="0"/>
                      </a:rPr>
                      <m:t>−</m:t>
                    </m:r>
                    <m:r>
                      <a:rPr lang="en-US" altLang="zh-CN" sz="1800" b="1" i="1" dirty="0" smtClean="0">
                        <a:latin typeface="Cambria Math" panose="02040503050406030204" pitchFamily="18" charset="0"/>
                      </a:rPr>
                      <m:t>𝒍𝒐𝒈</m:t>
                    </m:r>
                    <m:d>
                      <m:dPr>
                        <m:ctrlPr>
                          <a:rPr lang="en-US" altLang="zh-CN" sz="1800" b="1" i="1" dirty="0" smtClean="0">
                            <a:latin typeface="Cambria Math" panose="02040503050406030204" pitchFamily="18" charset="0"/>
                          </a:rPr>
                        </m:ctrlPr>
                      </m:dPr>
                      <m:e>
                        <m:r>
                          <a:rPr lang="en-US" altLang="zh-CN" sz="1800" b="1" i="1" dirty="0" smtClean="0">
                            <a:latin typeface="Cambria Math" panose="02040503050406030204" pitchFamily="18" charset="0"/>
                          </a:rPr>
                          <m:t>𝟏</m:t>
                        </m:r>
                        <m:r>
                          <a:rPr lang="en-US" altLang="zh-CN" sz="1800" b="1" i="1" dirty="0" smtClean="0">
                            <a:latin typeface="Cambria Math" panose="02040503050406030204" pitchFamily="18" charset="0"/>
                          </a:rPr>
                          <m:t>−</m:t>
                        </m:r>
                        <m:acc>
                          <m:accPr>
                            <m:chr m:val="̂"/>
                            <m:ctrlPr>
                              <a:rPr lang="en-US" altLang="zh-CN" b="1" i="1" dirty="0">
                                <a:latin typeface="Cambria Math" panose="02040503050406030204" pitchFamily="18" charset="0"/>
                              </a:rPr>
                            </m:ctrlPr>
                          </m:accPr>
                          <m:e>
                            <m:r>
                              <a:rPr lang="en-US" altLang="zh-CN" b="1" i="1" dirty="0">
                                <a:latin typeface="Cambria Math" panose="02040503050406030204" pitchFamily="18" charset="0"/>
                              </a:rPr>
                              <m:t>𝒚</m:t>
                            </m:r>
                          </m:e>
                        </m:acc>
                      </m:e>
                    </m:d>
                  </m:oMath>
                </a14:m>
                <a:r>
                  <a:rPr lang="zh-CN" altLang="en-US" dirty="0"/>
                  <a:t>，该损失函数使得：</a:t>
                </a:r>
                <a:endParaRPr lang="en-US" altLang="zh-CN" dirty="0"/>
              </a:p>
              <a:p>
                <a:r>
                  <a:rPr lang="en-US" altLang="zh-CN" dirty="0"/>
                  <a:t>cost</a:t>
                </a:r>
                <a:r>
                  <a:rPr lang="zh-CN" altLang="en-US" dirty="0"/>
                  <a:t>越小</a:t>
                </a:r>
                <a:r>
                  <a:rPr lang="en-US" altLang="zh-CN" dirty="0"/>
                  <a:t>,</a:t>
                </a:r>
                <a:r>
                  <a:rPr lang="en-US" altLang="zh-CN" b="1" dirty="0"/>
                  <a:t> </a:t>
                </a:r>
                <a14:m>
                  <m:oMath xmlns:m="http://schemas.openxmlformats.org/officeDocument/2006/math">
                    <m:acc>
                      <m:accPr>
                        <m:chr m:val="̂"/>
                        <m:ctrlPr>
                          <a:rPr lang="en-US" altLang="zh-CN" b="1" i="1" dirty="0">
                            <a:latin typeface="Cambria Math" panose="02040503050406030204" pitchFamily="18" charset="0"/>
                          </a:rPr>
                        </m:ctrlPr>
                      </m:accPr>
                      <m:e>
                        <m:r>
                          <a:rPr lang="en-US" altLang="zh-CN" b="1" i="1" dirty="0">
                            <a:latin typeface="Cambria Math" panose="02040503050406030204" pitchFamily="18" charset="0"/>
                          </a:rPr>
                          <m:t>𝒚</m:t>
                        </m:r>
                      </m:e>
                    </m:acc>
                  </m:oMath>
                </a14:m>
                <a:r>
                  <a:rPr lang="zh-CN" altLang="en-US" dirty="0"/>
                  <a:t>值越小</a:t>
                </a:r>
              </a:p>
            </p:txBody>
          </p:sp>
        </mc:Choice>
        <mc:Fallback xmlns="">
          <p:sp>
            <p:nvSpPr>
              <p:cNvPr id="12" name="文本框 11">
                <a:extLst>
                  <a:ext uri="{FF2B5EF4-FFF2-40B4-BE49-F238E27FC236}">
                    <a16:creationId xmlns:a16="http://schemas.microsoft.com/office/drawing/2014/main" id="{7A904422-98EA-783D-B6CE-6BF092EEDEF0}"/>
                  </a:ext>
                </a:extLst>
              </p:cNvPr>
              <p:cNvSpPr txBox="1">
                <a:spLocks noRot="1" noChangeAspect="1" noMove="1" noResize="1" noEditPoints="1" noAdjustHandles="1" noChangeArrowheads="1" noChangeShapeType="1" noTextEdit="1"/>
              </p:cNvSpPr>
              <p:nvPr/>
            </p:nvSpPr>
            <p:spPr>
              <a:xfrm>
                <a:off x="5857914" y="5486400"/>
                <a:ext cx="4444237" cy="923330"/>
              </a:xfrm>
              <a:prstGeom prst="rect">
                <a:avLst/>
              </a:prstGeom>
              <a:blipFill>
                <a:blip r:embed="rId8"/>
                <a:stretch>
                  <a:fillRect l="-1140" t="-2740" b="-9589"/>
                </a:stretch>
              </a:blipFill>
            </p:spPr>
            <p:txBody>
              <a:bodyPr/>
              <a:lstStyle/>
              <a:p>
                <a:r>
                  <a:rPr lang="zh-CN" altLang="en-US">
                    <a:noFill/>
                  </a:rPr>
                  <a:t> </a:t>
                </a:r>
              </a:p>
            </p:txBody>
          </p:sp>
        </mc:Fallback>
      </mc:AlternateContent>
      <p:pic>
        <p:nvPicPr>
          <p:cNvPr id="15" name="图片 14">
            <a:extLst>
              <a:ext uri="{FF2B5EF4-FFF2-40B4-BE49-F238E27FC236}">
                <a16:creationId xmlns:a16="http://schemas.microsoft.com/office/drawing/2014/main" id="{7C356FFC-C340-0B7D-59EA-1A2BEB694DF8}"/>
              </a:ext>
            </a:extLst>
          </p:cNvPr>
          <p:cNvPicPr>
            <a:picLocks noChangeAspect="1"/>
          </p:cNvPicPr>
          <p:nvPr/>
        </p:nvPicPr>
        <p:blipFill>
          <a:blip r:embed="rId9"/>
          <a:stretch>
            <a:fillRect/>
          </a:stretch>
        </p:blipFill>
        <p:spPr>
          <a:xfrm>
            <a:off x="2378048" y="5051596"/>
            <a:ext cx="634903" cy="458541"/>
          </a:xfrm>
          <a:prstGeom prst="rect">
            <a:avLst/>
          </a:prstGeom>
        </p:spPr>
      </p:pic>
      <p:pic>
        <p:nvPicPr>
          <p:cNvPr id="16" name="图片 15">
            <a:extLst>
              <a:ext uri="{FF2B5EF4-FFF2-40B4-BE49-F238E27FC236}">
                <a16:creationId xmlns:a16="http://schemas.microsoft.com/office/drawing/2014/main" id="{1E20A9B6-D9FD-B221-0E0D-AAC9ACAE81EB}"/>
              </a:ext>
            </a:extLst>
          </p:cNvPr>
          <p:cNvPicPr>
            <a:picLocks noChangeAspect="1"/>
          </p:cNvPicPr>
          <p:nvPr/>
        </p:nvPicPr>
        <p:blipFill>
          <a:blip r:embed="rId9"/>
          <a:stretch>
            <a:fillRect/>
          </a:stretch>
        </p:blipFill>
        <p:spPr>
          <a:xfrm>
            <a:off x="7058408" y="4888334"/>
            <a:ext cx="685800" cy="495300"/>
          </a:xfrm>
          <a:prstGeom prst="rect">
            <a:avLst/>
          </a:prstGeom>
        </p:spPr>
      </p:pic>
      <p:pic>
        <p:nvPicPr>
          <p:cNvPr id="17" name="图片 16">
            <a:extLst>
              <a:ext uri="{FF2B5EF4-FFF2-40B4-BE49-F238E27FC236}">
                <a16:creationId xmlns:a16="http://schemas.microsoft.com/office/drawing/2014/main" id="{25879C81-A640-6826-C523-E26BED7F867C}"/>
              </a:ext>
            </a:extLst>
          </p:cNvPr>
          <p:cNvPicPr>
            <a:picLocks noChangeAspect="1"/>
          </p:cNvPicPr>
          <p:nvPr/>
        </p:nvPicPr>
        <p:blipFill>
          <a:blip r:embed="rId10"/>
          <a:stretch>
            <a:fillRect/>
          </a:stretch>
        </p:blipFill>
        <p:spPr>
          <a:xfrm>
            <a:off x="2933439" y="5152370"/>
            <a:ext cx="203200" cy="279400"/>
          </a:xfrm>
          <a:prstGeom prst="rect">
            <a:avLst/>
          </a:prstGeom>
        </p:spPr>
      </p:pic>
      <p:pic>
        <p:nvPicPr>
          <p:cNvPr id="18" name="图片 17">
            <a:extLst>
              <a:ext uri="{FF2B5EF4-FFF2-40B4-BE49-F238E27FC236}">
                <a16:creationId xmlns:a16="http://schemas.microsoft.com/office/drawing/2014/main" id="{3E0D0701-EF7D-920E-2B76-D769790F9D89}"/>
              </a:ext>
            </a:extLst>
          </p:cNvPr>
          <p:cNvPicPr>
            <a:picLocks noChangeAspect="1"/>
          </p:cNvPicPr>
          <p:nvPr/>
        </p:nvPicPr>
        <p:blipFill>
          <a:blip r:embed="rId10"/>
          <a:stretch>
            <a:fillRect/>
          </a:stretch>
        </p:blipFill>
        <p:spPr>
          <a:xfrm>
            <a:off x="7598748" y="4888334"/>
            <a:ext cx="290919" cy="400013"/>
          </a:xfrm>
          <a:prstGeom prst="rect">
            <a:avLst/>
          </a:prstGeom>
        </p:spPr>
      </p:pic>
    </p:spTree>
    <p:extLst>
      <p:ext uri="{BB962C8B-B14F-4D97-AF65-F5344CB8AC3E}">
        <p14:creationId xmlns:p14="http://schemas.microsoft.com/office/powerpoint/2010/main" val="3254871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A7CAD6-E5AD-44E5-9A09-9E40F6713E67}"/>
              </a:ext>
            </a:extLst>
          </p:cNvPr>
          <p:cNvSpPr>
            <a:spLocks noGrp="1"/>
          </p:cNvSpPr>
          <p:nvPr>
            <p:ph type="title"/>
          </p:nvPr>
        </p:nvSpPr>
        <p:spPr/>
        <p:txBody>
          <a:bodyPr>
            <a:normAutofit fontScale="90000"/>
          </a:bodyPr>
          <a:lstStyle/>
          <a:p>
            <a:r>
              <a:rPr kumimoji="1" lang="zh-CN" altLang="en-US" dirty="0"/>
              <a:t>目标函数</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29BC2BB-1224-AEBE-C4D2-A3344B0A631C}"/>
                  </a:ext>
                </a:extLst>
              </p:cNvPr>
              <p:cNvSpPr txBox="1"/>
              <p:nvPr/>
            </p:nvSpPr>
            <p:spPr>
              <a:xfrm>
                <a:off x="1040028" y="833891"/>
                <a:ext cx="9111046" cy="2071657"/>
              </a:xfrm>
              <a:prstGeom prst="rect">
                <a:avLst/>
              </a:prstGeom>
              <a:noFill/>
            </p:spPr>
            <p:txBody>
              <a:bodyPr wrap="square">
                <a:spAutoFit/>
              </a:bodyPr>
              <a:lstStyle/>
              <a:p>
                <a:r>
                  <a:rPr lang="zh-CN" altLang="en-US" sz="2400" b="1" dirty="0"/>
                  <a:t>逻辑回归损失函数：</a:t>
                </a:r>
                <a:endParaRPr lang="en-US" altLang="zh-CN" sz="2400" b="1" dirty="0"/>
              </a:p>
              <a:p>
                <a:pPr/>
                <a14:m>
                  <m:oMathPara xmlns:m="http://schemas.openxmlformats.org/officeDocument/2006/math">
                    <m:oMathParaPr>
                      <m:jc m:val="left"/>
                    </m:oMathParaPr>
                    <m:oMath xmlns:m="http://schemas.openxmlformats.org/officeDocument/2006/math">
                      <m:r>
                        <a:rPr lang="en-US" altLang="zh-CN" sz="2400" b="1" i="1" dirty="0" smtClean="0">
                          <a:latin typeface="Cambria Math" panose="02040503050406030204" pitchFamily="18" charset="0"/>
                        </a:rPr>
                        <m:t>𝑳</m:t>
                      </m:r>
                      <m:d>
                        <m:dPr>
                          <m:ctrlPr>
                            <a:rPr lang="en-US" altLang="zh-CN" sz="2400" b="1" i="1" dirty="0" smtClean="0">
                              <a:latin typeface="Cambria Math" panose="02040503050406030204" pitchFamily="18" charset="0"/>
                            </a:rPr>
                          </m:ctrlPr>
                        </m:dPr>
                        <m:e>
                          <m:acc>
                            <m:accPr>
                              <m:chr m:val="̂"/>
                              <m:ctrlPr>
                                <a:rPr lang="en-US" altLang="zh-CN" sz="2400" b="1" i="1" dirty="0">
                                  <a:latin typeface="Cambria Math" panose="02040503050406030204" pitchFamily="18" charset="0"/>
                                </a:rPr>
                              </m:ctrlPr>
                            </m:accPr>
                            <m:e>
                              <m:r>
                                <a:rPr lang="en-US" altLang="zh-CN" sz="2400" b="1" i="1" dirty="0">
                                  <a:latin typeface="Cambria Math" panose="02040503050406030204" pitchFamily="18" charset="0"/>
                                </a:rPr>
                                <m:t>𝒚</m:t>
                              </m:r>
                            </m:e>
                          </m:acc>
                          <m:r>
                            <a:rPr lang="en-US" altLang="zh-CN" sz="2400" b="1" i="0" smtClean="0">
                              <a:latin typeface="Cambria Math" panose="02040503050406030204" pitchFamily="18" charset="0"/>
                            </a:rPr>
                            <m:t>,</m:t>
                          </m:r>
                          <m:r>
                            <a:rPr lang="en-US" altLang="zh-CN" sz="2400" b="1" i="0" smtClean="0">
                              <a:latin typeface="Cambria Math" panose="02040503050406030204" pitchFamily="18" charset="0"/>
                            </a:rPr>
                            <m:t>𝐲</m:t>
                          </m:r>
                        </m:e>
                      </m:d>
                      <m:r>
                        <a:rPr lang="en-US" altLang="zh-CN" sz="2400" b="1" i="1" dirty="0" smtClean="0">
                          <a:latin typeface="Cambria Math" panose="02040503050406030204" pitchFamily="18" charset="0"/>
                        </a:rPr>
                        <m:t>= </m:t>
                      </m:r>
                      <m:d>
                        <m:dPr>
                          <m:begChr m:val="{"/>
                          <m:endChr m:val=""/>
                          <m:ctrlPr>
                            <a:rPr lang="en-US" altLang="zh-CN" sz="2400" b="1" i="1" dirty="0" smtClean="0">
                              <a:latin typeface="Cambria Math" panose="02040503050406030204" pitchFamily="18" charset="0"/>
                            </a:rPr>
                          </m:ctrlPr>
                        </m:dPr>
                        <m:e>
                          <m:eqArr>
                            <m:eqArrPr>
                              <m:ctrlPr>
                                <a:rPr lang="en-US" altLang="zh-CN" sz="2400" b="1" i="1" dirty="0" smtClean="0">
                                  <a:latin typeface="Cambria Math" panose="02040503050406030204" pitchFamily="18" charset="0"/>
                                </a:rPr>
                              </m:ctrlPr>
                            </m:eqArrPr>
                            <m:e>
                              <m:r>
                                <a:rPr lang="en-US" altLang="zh-CN" sz="2400" b="1" i="1" dirty="0" smtClean="0">
                                  <a:latin typeface="Cambria Math" panose="02040503050406030204" pitchFamily="18" charset="0"/>
                                </a:rPr>
                                <m:t>−</m:t>
                              </m:r>
                              <m:r>
                                <a:rPr lang="en-US" altLang="zh-CN" sz="2400" b="1" i="1" dirty="0" smtClean="0">
                                  <a:latin typeface="Cambria Math" panose="02040503050406030204" pitchFamily="18" charset="0"/>
                                </a:rPr>
                                <m:t>𝒍𝒏</m:t>
                              </m:r>
                              <m:d>
                                <m:dPr>
                                  <m:ctrlPr>
                                    <a:rPr lang="en-US" altLang="zh-CN" sz="2400" b="1" i="1" dirty="0" smtClean="0">
                                      <a:latin typeface="Cambria Math" panose="02040503050406030204" pitchFamily="18" charset="0"/>
                                    </a:rPr>
                                  </m:ctrlPr>
                                </m:dPr>
                                <m:e>
                                  <m:acc>
                                    <m:accPr>
                                      <m:chr m:val="̂"/>
                                      <m:ctrlPr>
                                        <a:rPr lang="en-US" altLang="zh-CN" sz="2400" b="1" i="1" dirty="0">
                                          <a:latin typeface="Cambria Math" panose="02040503050406030204" pitchFamily="18" charset="0"/>
                                        </a:rPr>
                                      </m:ctrlPr>
                                    </m:accPr>
                                    <m:e>
                                      <m:r>
                                        <a:rPr lang="en-US" altLang="zh-CN" sz="2400" b="1" i="1" dirty="0">
                                          <a:latin typeface="Cambria Math" panose="02040503050406030204" pitchFamily="18" charset="0"/>
                                        </a:rPr>
                                        <m:t>𝒚</m:t>
                                      </m:r>
                                    </m:e>
                                  </m:acc>
                                </m:e>
                              </m:d>
                              <m:r>
                                <a:rPr lang="en-US" altLang="zh-CN" sz="2400" b="1" i="1" dirty="0" smtClean="0">
                                  <a:latin typeface="Cambria Math" panose="02040503050406030204" pitchFamily="18" charset="0"/>
                                </a:rPr>
                                <m:t>             </m:t>
                              </m:r>
                              <m:r>
                                <a:rPr lang="en-US" altLang="zh-CN" sz="2400" b="1" i="1" dirty="0" smtClean="0">
                                  <a:latin typeface="Cambria Math" panose="02040503050406030204" pitchFamily="18" charset="0"/>
                                </a:rPr>
                                <m:t>𝒊𝒇</m:t>
                              </m:r>
                              <m:r>
                                <a:rPr lang="zh-CN" altLang="en-US" sz="2400" b="1" i="1" dirty="0" smtClean="0">
                                  <a:latin typeface="Cambria Math" panose="02040503050406030204" pitchFamily="18" charset="0"/>
                                </a:rPr>
                                <m:t> </m:t>
                              </m:r>
                              <m:r>
                                <a:rPr lang="en-US" altLang="zh-CN" sz="2400" b="1" i="1" dirty="0" smtClean="0">
                                  <a:latin typeface="Cambria Math" panose="02040503050406030204" pitchFamily="18" charset="0"/>
                                </a:rPr>
                                <m:t>  </m:t>
                              </m:r>
                              <m:r>
                                <a:rPr lang="en-US" altLang="zh-CN" sz="2400" b="1" i="1" dirty="0" smtClean="0">
                                  <a:latin typeface="Cambria Math" panose="02040503050406030204" pitchFamily="18" charset="0"/>
                                </a:rPr>
                                <m:t>𝒚</m:t>
                              </m:r>
                              <m:r>
                                <a:rPr lang="en-US" altLang="zh-CN" sz="2400" b="1" i="1" dirty="0" smtClean="0">
                                  <a:latin typeface="Cambria Math" panose="02040503050406030204" pitchFamily="18" charset="0"/>
                                </a:rPr>
                                <m:t>=</m:t>
                              </m:r>
                              <m:r>
                                <a:rPr lang="en-US" altLang="zh-CN" sz="2400" b="1" i="1" dirty="0" smtClean="0">
                                  <a:latin typeface="Cambria Math" panose="02040503050406030204" pitchFamily="18" charset="0"/>
                                </a:rPr>
                                <m:t>𝟏</m:t>
                              </m:r>
                            </m:e>
                            <m:e>
                              <m:r>
                                <a:rPr lang="en-US" altLang="zh-CN" sz="2400" b="1" i="1" dirty="0" smtClean="0">
                                  <a:latin typeface="Cambria Math" panose="02040503050406030204" pitchFamily="18" charset="0"/>
                                </a:rPr>
                                <m:t>−</m:t>
                              </m:r>
                              <m:r>
                                <a:rPr lang="en-US" altLang="zh-CN" sz="2400" b="1" i="1" dirty="0" smtClean="0">
                                  <a:latin typeface="Cambria Math" panose="02040503050406030204" pitchFamily="18" charset="0"/>
                                </a:rPr>
                                <m:t>𝒍𝒏</m:t>
                              </m:r>
                              <m:d>
                                <m:dPr>
                                  <m:ctrlPr>
                                    <a:rPr lang="en-US" altLang="zh-CN" sz="2400" b="1" i="1" dirty="0" smtClean="0">
                                      <a:latin typeface="Cambria Math" panose="02040503050406030204" pitchFamily="18" charset="0"/>
                                    </a:rPr>
                                  </m:ctrlPr>
                                </m:dPr>
                                <m:e>
                                  <m:r>
                                    <a:rPr lang="en-US" altLang="zh-CN" sz="2400" b="1" i="1" dirty="0" smtClean="0">
                                      <a:latin typeface="Cambria Math" panose="02040503050406030204" pitchFamily="18" charset="0"/>
                                    </a:rPr>
                                    <m:t>𝟏</m:t>
                                  </m:r>
                                  <m:r>
                                    <a:rPr lang="en-US" altLang="zh-CN" sz="2400" b="1" i="1" dirty="0" smtClean="0">
                                      <a:latin typeface="Cambria Math" panose="02040503050406030204" pitchFamily="18" charset="0"/>
                                    </a:rPr>
                                    <m:t>−</m:t>
                                  </m:r>
                                  <m:acc>
                                    <m:accPr>
                                      <m:chr m:val="̂"/>
                                      <m:ctrlPr>
                                        <a:rPr lang="en-US" altLang="zh-CN" sz="2400" b="1" i="1" dirty="0">
                                          <a:latin typeface="Cambria Math" panose="02040503050406030204" pitchFamily="18" charset="0"/>
                                        </a:rPr>
                                      </m:ctrlPr>
                                    </m:accPr>
                                    <m:e>
                                      <m:r>
                                        <a:rPr lang="en-US" altLang="zh-CN" sz="2400" b="1" i="1" dirty="0">
                                          <a:latin typeface="Cambria Math" panose="02040503050406030204" pitchFamily="18" charset="0"/>
                                        </a:rPr>
                                        <m:t>𝒚</m:t>
                                      </m:r>
                                    </m:e>
                                  </m:acc>
                                </m:e>
                              </m:d>
                              <m:r>
                                <a:rPr lang="en-US" altLang="zh-CN" sz="2400" b="1" i="1" dirty="0" smtClean="0">
                                  <a:latin typeface="Cambria Math" panose="02040503050406030204" pitchFamily="18" charset="0"/>
                                </a:rPr>
                                <m:t>     </m:t>
                              </m:r>
                              <m:r>
                                <a:rPr lang="en-US" altLang="zh-CN" sz="2400" b="1" i="1" dirty="0" smtClean="0">
                                  <a:latin typeface="Cambria Math" panose="02040503050406030204" pitchFamily="18" charset="0"/>
                                </a:rPr>
                                <m:t>𝒊𝒇</m:t>
                              </m:r>
                              <m:r>
                                <a:rPr lang="en-US" altLang="zh-CN" sz="2400" b="1" i="1" dirty="0" smtClean="0">
                                  <a:latin typeface="Cambria Math" panose="02040503050406030204" pitchFamily="18" charset="0"/>
                                </a:rPr>
                                <m:t>   </m:t>
                              </m:r>
                              <m:r>
                                <a:rPr lang="en-US" altLang="zh-CN" sz="2400" b="1" i="1" dirty="0" smtClean="0">
                                  <a:latin typeface="Cambria Math" panose="02040503050406030204" pitchFamily="18" charset="0"/>
                                </a:rPr>
                                <m:t>𝒚</m:t>
                              </m:r>
                              <m:r>
                                <a:rPr lang="en-US" altLang="zh-CN" sz="2400" b="1" i="1" dirty="0" smtClean="0">
                                  <a:latin typeface="Cambria Math" panose="02040503050406030204" pitchFamily="18" charset="0"/>
                                </a:rPr>
                                <m:t>=</m:t>
                              </m:r>
                              <m:r>
                                <a:rPr lang="en-US" altLang="zh-CN" sz="2400" b="1" i="1" dirty="0" smtClean="0">
                                  <a:latin typeface="Cambria Math" panose="02040503050406030204" pitchFamily="18" charset="0"/>
                                </a:rPr>
                                <m:t>𝟎</m:t>
                              </m:r>
                            </m:e>
                          </m:eqArr>
                        </m:e>
                      </m:d>
                    </m:oMath>
                  </m:oMathPara>
                </a14:m>
                <a:endParaRPr lang="en-US" altLang="zh-CN" sz="2400" b="1" dirty="0"/>
              </a:p>
              <a:p>
                <a:endParaRPr lang="en-US" altLang="zh-CN" sz="2400" b="1" dirty="0"/>
              </a:p>
              <a:p>
                <a:r>
                  <a:rPr lang="zh-CN" altLang="en-US" sz="2400" b="1" dirty="0"/>
                  <a:t>简化：</a:t>
                </a:r>
                <a14:m>
                  <m:oMath xmlns:m="http://schemas.openxmlformats.org/officeDocument/2006/math">
                    <m:r>
                      <a:rPr lang="en-US" altLang="zh-CN" sz="2400" b="1" i="1" dirty="0" smtClean="0">
                        <a:latin typeface="Cambria Math" panose="02040503050406030204" pitchFamily="18" charset="0"/>
                      </a:rPr>
                      <m:t>𝑳</m:t>
                    </m:r>
                    <m:r>
                      <a:rPr lang="en-US" altLang="zh-CN" sz="2400" b="1" i="1" dirty="0" smtClean="0">
                        <a:latin typeface="Cambria Math" panose="02040503050406030204" pitchFamily="18" charset="0"/>
                      </a:rPr>
                      <m:t>(</m:t>
                    </m:r>
                    <m:acc>
                      <m:accPr>
                        <m:chr m:val="̂"/>
                        <m:ctrlPr>
                          <a:rPr lang="en-US" altLang="zh-CN" sz="2400" b="1" i="1" dirty="0">
                            <a:latin typeface="Cambria Math" panose="02040503050406030204" pitchFamily="18" charset="0"/>
                          </a:rPr>
                        </m:ctrlPr>
                      </m:accPr>
                      <m:e>
                        <m:r>
                          <a:rPr lang="en-US" altLang="zh-CN" sz="2400" b="1" i="1" dirty="0">
                            <a:latin typeface="Cambria Math" panose="02040503050406030204" pitchFamily="18" charset="0"/>
                          </a:rPr>
                          <m:t>𝒚</m:t>
                        </m:r>
                      </m:e>
                    </m:acc>
                    <m:r>
                      <a:rPr lang="en-US" altLang="zh-CN" sz="2400" b="1" i="0" smtClean="0">
                        <a:latin typeface="Cambria Math" panose="02040503050406030204" pitchFamily="18" charset="0"/>
                      </a:rPr>
                      <m:t>,</m:t>
                    </m:r>
                    <m:r>
                      <a:rPr lang="en-US" altLang="zh-CN" sz="2400" b="1" i="0" smtClean="0">
                        <a:latin typeface="Cambria Math" panose="02040503050406030204" pitchFamily="18" charset="0"/>
                      </a:rPr>
                      <m:t>𝐲</m:t>
                    </m:r>
                    <m:r>
                      <a:rPr lang="en-US" altLang="zh-CN" sz="2400" b="1" i="1" dirty="0" smtClean="0">
                        <a:latin typeface="Cambria Math" panose="02040503050406030204" pitchFamily="18" charset="0"/>
                      </a:rPr>
                      <m:t>)=</m:t>
                    </m:r>
                  </m:oMath>
                </a14:m>
                <a:r>
                  <a:rPr lang="en-US" altLang="zh-CN" sz="2400" b="1" dirty="0"/>
                  <a:t> </a:t>
                </a:r>
                <a14:m>
                  <m:oMath xmlns:m="http://schemas.openxmlformats.org/officeDocument/2006/math">
                    <m:r>
                      <a:rPr lang="en-US" altLang="zh-CN" sz="2400" b="1" i="1" dirty="0">
                        <a:latin typeface="Cambria Math" panose="02040503050406030204" pitchFamily="18" charset="0"/>
                      </a:rPr>
                      <m:t>− </m:t>
                    </m:r>
                  </m:oMath>
                </a14:m>
                <a:r>
                  <a:rPr lang="en-US" altLang="zh-CN" sz="2400" b="1" dirty="0"/>
                  <a:t>y </a:t>
                </a:r>
                <a14:m>
                  <m:oMath xmlns:m="http://schemas.openxmlformats.org/officeDocument/2006/math">
                    <m:r>
                      <a:rPr lang="en-US" altLang="zh-CN" sz="2400" b="1" i="1" dirty="0">
                        <a:latin typeface="Cambria Math" panose="02040503050406030204" pitchFamily="18" charset="0"/>
                      </a:rPr>
                      <m:t>𝒍</m:t>
                    </m:r>
                    <m:r>
                      <a:rPr lang="en-US" altLang="zh-CN" sz="2400" b="1" i="1" dirty="0" smtClean="0">
                        <a:latin typeface="Cambria Math" panose="02040503050406030204" pitchFamily="18" charset="0"/>
                      </a:rPr>
                      <m:t>𝒏</m:t>
                    </m:r>
                    <m:d>
                      <m:dPr>
                        <m:ctrlPr>
                          <a:rPr lang="en-US" altLang="zh-CN" sz="2400" b="1" i="1" dirty="0">
                            <a:latin typeface="Cambria Math" panose="02040503050406030204" pitchFamily="18" charset="0"/>
                          </a:rPr>
                        </m:ctrlPr>
                      </m:dPr>
                      <m:e>
                        <m:acc>
                          <m:accPr>
                            <m:chr m:val="̂"/>
                            <m:ctrlPr>
                              <a:rPr lang="en-US" altLang="zh-CN" sz="2400" b="1" i="1" dirty="0">
                                <a:latin typeface="Cambria Math" panose="02040503050406030204" pitchFamily="18" charset="0"/>
                              </a:rPr>
                            </m:ctrlPr>
                          </m:accPr>
                          <m:e>
                            <m:r>
                              <a:rPr lang="en-US" altLang="zh-CN" sz="2400" b="1" i="1" dirty="0">
                                <a:latin typeface="Cambria Math" panose="02040503050406030204" pitchFamily="18" charset="0"/>
                              </a:rPr>
                              <m:t>𝒚</m:t>
                            </m:r>
                          </m:e>
                        </m:acc>
                      </m:e>
                    </m:d>
                  </m:oMath>
                </a14:m>
                <a:r>
                  <a:rPr lang="en-US" altLang="zh-CN" sz="2400" b="1" dirty="0"/>
                  <a:t> </a:t>
                </a:r>
                <a14:m>
                  <m:oMath xmlns:m="http://schemas.openxmlformats.org/officeDocument/2006/math">
                    <m:r>
                      <a:rPr lang="en-US" altLang="zh-CN" sz="2400" b="1" i="1" dirty="0">
                        <a:latin typeface="Cambria Math" panose="02040503050406030204" pitchFamily="18" charset="0"/>
                      </a:rPr>
                      <m:t>−</m:t>
                    </m:r>
                    <m:r>
                      <a:rPr lang="zh-CN" altLang="en-US" sz="2400" b="1" i="1" dirty="0" smtClean="0">
                        <a:latin typeface="Cambria Math" panose="02040503050406030204" pitchFamily="18" charset="0"/>
                      </a:rPr>
                      <m:t> </m:t>
                    </m:r>
                  </m:oMath>
                </a14:m>
                <a:r>
                  <a:rPr lang="en-US" altLang="zh-CN" sz="2400" b="1" dirty="0"/>
                  <a:t>(1 </a:t>
                </a:r>
                <a14:m>
                  <m:oMath xmlns:m="http://schemas.openxmlformats.org/officeDocument/2006/math">
                    <m:r>
                      <a:rPr lang="en-US" altLang="zh-CN" sz="2400" b="1" i="1" dirty="0">
                        <a:latin typeface="Cambria Math" panose="02040503050406030204" pitchFamily="18" charset="0"/>
                      </a:rPr>
                      <m:t>− </m:t>
                    </m:r>
                  </m:oMath>
                </a14:m>
                <a:r>
                  <a:rPr lang="en-US" altLang="zh-CN" sz="2400" b="1" dirty="0"/>
                  <a:t>y)</a:t>
                </a:r>
                <a14:m>
                  <m:oMath xmlns:m="http://schemas.openxmlformats.org/officeDocument/2006/math">
                    <m:r>
                      <a:rPr lang="en-US" altLang="zh-CN" sz="2400" b="1" i="1" dirty="0">
                        <a:latin typeface="Cambria Math" panose="02040503050406030204" pitchFamily="18" charset="0"/>
                      </a:rPr>
                      <m:t>𝒍</m:t>
                    </m:r>
                    <m:r>
                      <a:rPr lang="en-US" altLang="zh-CN" sz="2400" b="1" i="1" dirty="0" smtClean="0">
                        <a:latin typeface="Cambria Math" panose="02040503050406030204" pitchFamily="18" charset="0"/>
                      </a:rPr>
                      <m:t>𝒏</m:t>
                    </m:r>
                    <m:d>
                      <m:dPr>
                        <m:ctrlPr>
                          <a:rPr lang="en-US" altLang="zh-CN" sz="2400" b="1" i="1" dirty="0">
                            <a:latin typeface="Cambria Math" panose="02040503050406030204" pitchFamily="18" charset="0"/>
                          </a:rPr>
                        </m:ctrlPr>
                      </m:dPr>
                      <m:e>
                        <m:r>
                          <a:rPr lang="en-US" altLang="zh-CN" sz="2400" b="1" i="1" dirty="0">
                            <a:latin typeface="Cambria Math" panose="02040503050406030204" pitchFamily="18" charset="0"/>
                          </a:rPr>
                          <m:t>𝟏</m:t>
                        </m:r>
                        <m:r>
                          <a:rPr lang="en-US" altLang="zh-CN" sz="2400" b="1" i="1" dirty="0">
                            <a:latin typeface="Cambria Math" panose="02040503050406030204" pitchFamily="18" charset="0"/>
                          </a:rPr>
                          <m:t>−</m:t>
                        </m:r>
                        <m:acc>
                          <m:accPr>
                            <m:chr m:val="̂"/>
                            <m:ctrlPr>
                              <a:rPr lang="en-US" altLang="zh-CN" sz="2400" b="1" i="1" dirty="0">
                                <a:latin typeface="Cambria Math" panose="02040503050406030204" pitchFamily="18" charset="0"/>
                              </a:rPr>
                            </m:ctrlPr>
                          </m:accPr>
                          <m:e>
                            <m:r>
                              <a:rPr lang="en-US" altLang="zh-CN" sz="2400" b="1" i="1" dirty="0">
                                <a:latin typeface="Cambria Math" panose="02040503050406030204" pitchFamily="18" charset="0"/>
                              </a:rPr>
                              <m:t>𝒚</m:t>
                            </m:r>
                          </m:e>
                        </m:acc>
                      </m:e>
                    </m:d>
                  </m:oMath>
                </a14:m>
                <a:endParaRPr lang="en-US" altLang="zh-CN" sz="2400" b="1" dirty="0"/>
              </a:p>
            </p:txBody>
          </p:sp>
        </mc:Choice>
        <mc:Fallback xmlns="">
          <p:sp>
            <p:nvSpPr>
              <p:cNvPr id="5" name="文本框 4">
                <a:extLst>
                  <a:ext uri="{FF2B5EF4-FFF2-40B4-BE49-F238E27FC236}">
                    <a16:creationId xmlns:a16="http://schemas.microsoft.com/office/drawing/2014/main" id="{A29BC2BB-1224-AEBE-C4D2-A3344B0A631C}"/>
                  </a:ext>
                </a:extLst>
              </p:cNvPr>
              <p:cNvSpPr txBox="1">
                <a:spLocks noRot="1" noChangeAspect="1" noMove="1" noResize="1" noEditPoints="1" noAdjustHandles="1" noChangeArrowheads="1" noChangeShapeType="1" noTextEdit="1"/>
              </p:cNvSpPr>
              <p:nvPr/>
            </p:nvSpPr>
            <p:spPr>
              <a:xfrm>
                <a:off x="1040028" y="833891"/>
                <a:ext cx="9111046" cy="2071657"/>
              </a:xfrm>
              <a:prstGeom prst="rect">
                <a:avLst/>
              </a:prstGeom>
              <a:blipFill>
                <a:blip r:embed="rId2"/>
                <a:stretch>
                  <a:fillRect l="-1393" t="-70122" b="-908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9E26B54-87E8-63FE-665B-47180C5CA487}"/>
                  </a:ext>
                </a:extLst>
              </p:cNvPr>
              <p:cNvSpPr txBox="1"/>
              <p:nvPr/>
            </p:nvSpPr>
            <p:spPr>
              <a:xfrm>
                <a:off x="836141" y="3384115"/>
                <a:ext cx="9518819" cy="509178"/>
              </a:xfrm>
              <a:prstGeom prst="rect">
                <a:avLst/>
              </a:prstGeom>
              <a:noFill/>
            </p:spPr>
            <p:txBody>
              <a:bodyPr wrap="square">
                <a:spAutoFit/>
              </a:bodyPr>
              <a:lstStyle/>
              <a:p>
                <a:r>
                  <a:rPr lang="zh-CN" altLang="en-US" sz="2400" dirty="0"/>
                  <a:t>训练集合样本数量为</a:t>
                </a:r>
                <a:r>
                  <a:rPr lang="en-US" altLang="zh-CN" sz="2400" dirty="0"/>
                  <a:t>n</a:t>
                </a:r>
                <a:r>
                  <a:rPr lang="zh-CN" altLang="en-US" sz="2400" dirty="0"/>
                  <a:t>个</a:t>
                </a:r>
                <a:r>
                  <a:rPr lang="zh-CN" altLang="en-US" sz="2400" dirty="0">
                    <a:sym typeface="Wingdings" pitchFamily="2" charset="2"/>
                  </a:rPr>
                  <a:t>：</a:t>
                </a:r>
                <a14:m>
                  <m:oMath xmlns:m="http://schemas.openxmlformats.org/officeDocument/2006/math">
                    <m:d>
                      <m:dPr>
                        <m:ctrlPr>
                          <a:rPr lang="en-US" altLang="zh-CN" sz="2400" b="0" i="1" smtClean="0">
                            <a:latin typeface="Cambria Math" panose="02040503050406030204" pitchFamily="18" charset="0"/>
                            <a:sym typeface="Wingdings" pitchFamily="2" charset="2"/>
                          </a:rPr>
                        </m:ctrlPr>
                      </m:dPr>
                      <m:e>
                        <m:sSup>
                          <m:sSupPr>
                            <m:ctrlPr>
                              <a:rPr lang="en-US" altLang="zh-CN" sz="2400" b="0" i="1" smtClean="0">
                                <a:latin typeface="Cambria Math" panose="02040503050406030204" pitchFamily="18" charset="0"/>
                                <a:sym typeface="Wingdings" pitchFamily="2" charset="2"/>
                              </a:rPr>
                            </m:ctrlPr>
                          </m:sSupPr>
                          <m:e>
                            <m:r>
                              <a:rPr lang="en-US" altLang="zh-CN" sz="2400" b="0" i="1" smtClean="0">
                                <a:latin typeface="Cambria Math" panose="02040503050406030204" pitchFamily="18" charset="0"/>
                                <a:sym typeface="Wingdings" pitchFamily="2" charset="2"/>
                              </a:rPr>
                              <m:t>𝑥</m:t>
                            </m:r>
                          </m:e>
                          <m:sup>
                            <m:r>
                              <a:rPr lang="en-US" altLang="zh-CN" sz="2400" b="0" i="1" smtClean="0">
                                <a:latin typeface="Cambria Math" panose="02040503050406030204" pitchFamily="18" charset="0"/>
                                <a:sym typeface="Wingdings" pitchFamily="2" charset="2"/>
                              </a:rPr>
                              <m:t>(1)</m:t>
                            </m:r>
                          </m:sup>
                        </m:sSup>
                        <m:r>
                          <a:rPr lang="en-US" altLang="zh-CN" sz="2400" b="0" i="1" smtClean="0">
                            <a:latin typeface="Cambria Math" panose="02040503050406030204" pitchFamily="18" charset="0"/>
                            <a:sym typeface="Wingdings" pitchFamily="2" charset="2"/>
                          </a:rPr>
                          <m:t>,</m:t>
                        </m:r>
                        <m:sSup>
                          <m:sSupPr>
                            <m:ctrlPr>
                              <a:rPr lang="en-US" altLang="zh-CN" sz="2400" i="1">
                                <a:latin typeface="Cambria Math" panose="02040503050406030204" pitchFamily="18" charset="0"/>
                                <a:sym typeface="Wingdings" pitchFamily="2" charset="2"/>
                              </a:rPr>
                            </m:ctrlPr>
                          </m:sSupPr>
                          <m:e>
                            <m:r>
                              <a:rPr lang="en-US" altLang="zh-CN" sz="2400" b="0" i="1" smtClean="0">
                                <a:latin typeface="Cambria Math" panose="02040503050406030204" pitchFamily="18" charset="0"/>
                                <a:sym typeface="Wingdings" pitchFamily="2" charset="2"/>
                              </a:rPr>
                              <m:t>𝑦</m:t>
                            </m:r>
                          </m:e>
                          <m:sup>
                            <m:r>
                              <a:rPr lang="en-US" altLang="zh-CN" sz="2400" i="1">
                                <a:latin typeface="Cambria Math" panose="02040503050406030204" pitchFamily="18" charset="0"/>
                                <a:sym typeface="Wingdings" pitchFamily="2" charset="2"/>
                              </a:rPr>
                              <m:t>(</m:t>
                            </m:r>
                            <m:r>
                              <a:rPr lang="en-US" altLang="zh-CN" sz="2400" b="0" i="1" smtClean="0">
                                <a:latin typeface="Cambria Math" panose="02040503050406030204" pitchFamily="18" charset="0"/>
                                <a:sym typeface="Wingdings" pitchFamily="2" charset="2"/>
                              </a:rPr>
                              <m:t>1</m:t>
                            </m:r>
                            <m:r>
                              <a:rPr lang="en-US" altLang="zh-CN" sz="2400" i="1">
                                <a:latin typeface="Cambria Math" panose="02040503050406030204" pitchFamily="18" charset="0"/>
                                <a:sym typeface="Wingdings" pitchFamily="2" charset="2"/>
                              </a:rPr>
                              <m:t>)</m:t>
                            </m:r>
                          </m:sup>
                        </m:sSup>
                      </m:e>
                    </m:d>
                    <m:r>
                      <a:rPr lang="en-US" altLang="zh-CN" sz="2400" b="0" i="1" smtClean="0">
                        <a:latin typeface="Cambria Math" panose="02040503050406030204" pitchFamily="18" charset="0"/>
                        <a:sym typeface="Wingdings" pitchFamily="2" charset="2"/>
                      </a:rPr>
                      <m:t>,</m:t>
                    </m:r>
                  </m:oMath>
                </a14:m>
                <a:r>
                  <a:rPr lang="en-US" altLang="zh-CN" sz="2400" dirty="0">
                    <a:sym typeface="Wingdings" pitchFamily="2" charset="2"/>
                  </a:rPr>
                  <a:t> </a:t>
                </a:r>
                <a14:m>
                  <m:oMath xmlns:m="http://schemas.openxmlformats.org/officeDocument/2006/math">
                    <m:d>
                      <m:dPr>
                        <m:ctrlPr>
                          <a:rPr lang="en-US" altLang="zh-CN" sz="2400" i="1">
                            <a:latin typeface="Cambria Math" panose="02040503050406030204" pitchFamily="18" charset="0"/>
                            <a:sym typeface="Wingdings" pitchFamily="2" charset="2"/>
                          </a:rPr>
                        </m:ctrlPr>
                      </m:dPr>
                      <m:e>
                        <m:sSup>
                          <m:sSupPr>
                            <m:ctrlPr>
                              <a:rPr lang="en-US" altLang="zh-CN" sz="2400" i="1">
                                <a:latin typeface="Cambria Math" panose="02040503050406030204" pitchFamily="18" charset="0"/>
                                <a:sym typeface="Wingdings" pitchFamily="2" charset="2"/>
                              </a:rPr>
                            </m:ctrlPr>
                          </m:sSupPr>
                          <m:e>
                            <m:r>
                              <a:rPr lang="en-US" altLang="zh-CN" sz="2400" i="1">
                                <a:latin typeface="Cambria Math" panose="02040503050406030204" pitchFamily="18" charset="0"/>
                                <a:sym typeface="Wingdings" pitchFamily="2" charset="2"/>
                              </a:rPr>
                              <m:t>𝑥</m:t>
                            </m:r>
                          </m:e>
                          <m:sup>
                            <m:r>
                              <a:rPr lang="en-US" altLang="zh-CN" sz="2400" i="1">
                                <a:latin typeface="Cambria Math" panose="02040503050406030204" pitchFamily="18" charset="0"/>
                                <a:sym typeface="Wingdings" pitchFamily="2" charset="2"/>
                              </a:rPr>
                              <m:t>(</m:t>
                            </m:r>
                            <m:r>
                              <a:rPr lang="en-US" altLang="zh-CN" sz="2400" b="0" i="1" smtClean="0">
                                <a:latin typeface="Cambria Math" panose="02040503050406030204" pitchFamily="18" charset="0"/>
                                <a:sym typeface="Wingdings" pitchFamily="2" charset="2"/>
                              </a:rPr>
                              <m:t>2</m:t>
                            </m:r>
                            <m:r>
                              <a:rPr lang="en-US" altLang="zh-CN" sz="2400" i="1">
                                <a:latin typeface="Cambria Math" panose="02040503050406030204" pitchFamily="18" charset="0"/>
                                <a:sym typeface="Wingdings" pitchFamily="2" charset="2"/>
                              </a:rPr>
                              <m:t>)</m:t>
                            </m:r>
                          </m:sup>
                        </m:sSup>
                        <m:r>
                          <a:rPr lang="en-US" altLang="zh-CN" sz="2400" i="1">
                            <a:latin typeface="Cambria Math" panose="02040503050406030204" pitchFamily="18" charset="0"/>
                            <a:sym typeface="Wingdings" pitchFamily="2" charset="2"/>
                          </a:rPr>
                          <m:t>,</m:t>
                        </m:r>
                        <m:sSup>
                          <m:sSupPr>
                            <m:ctrlPr>
                              <a:rPr lang="en-US" altLang="zh-CN" sz="2400" i="1">
                                <a:latin typeface="Cambria Math" panose="02040503050406030204" pitchFamily="18" charset="0"/>
                                <a:sym typeface="Wingdings" pitchFamily="2" charset="2"/>
                              </a:rPr>
                            </m:ctrlPr>
                          </m:sSupPr>
                          <m:e>
                            <m:r>
                              <a:rPr lang="en-US" altLang="zh-CN" sz="2400" i="1">
                                <a:latin typeface="Cambria Math" panose="02040503050406030204" pitchFamily="18" charset="0"/>
                                <a:sym typeface="Wingdings" pitchFamily="2" charset="2"/>
                              </a:rPr>
                              <m:t>𝑦</m:t>
                            </m:r>
                          </m:e>
                          <m:sup>
                            <m:r>
                              <a:rPr lang="en-US" altLang="zh-CN" sz="2400" i="1">
                                <a:latin typeface="Cambria Math" panose="02040503050406030204" pitchFamily="18" charset="0"/>
                                <a:sym typeface="Wingdings" pitchFamily="2" charset="2"/>
                              </a:rPr>
                              <m:t>(</m:t>
                            </m:r>
                            <m:r>
                              <a:rPr lang="en-US" altLang="zh-CN" sz="2400" b="0" i="1" smtClean="0">
                                <a:latin typeface="Cambria Math" panose="02040503050406030204" pitchFamily="18" charset="0"/>
                                <a:sym typeface="Wingdings" pitchFamily="2" charset="2"/>
                              </a:rPr>
                              <m:t>2</m:t>
                            </m:r>
                            <m:r>
                              <a:rPr lang="en-US" altLang="zh-CN" sz="2400" i="1">
                                <a:latin typeface="Cambria Math" panose="02040503050406030204" pitchFamily="18" charset="0"/>
                                <a:sym typeface="Wingdings" pitchFamily="2" charset="2"/>
                              </a:rPr>
                              <m:t>)</m:t>
                            </m:r>
                          </m:sup>
                        </m:sSup>
                      </m:e>
                    </m:d>
                    <m:r>
                      <a:rPr lang="en-US" altLang="zh-CN" sz="2400" i="1">
                        <a:latin typeface="Cambria Math" panose="02040503050406030204" pitchFamily="18" charset="0"/>
                        <a:sym typeface="Wingdings" pitchFamily="2" charset="2"/>
                      </a:rPr>
                      <m:t>,</m:t>
                    </m:r>
                    <m:r>
                      <a:rPr lang="en-US" altLang="zh-CN" sz="2400" b="0" i="0" smtClean="0">
                        <a:latin typeface="Cambria Math" panose="02040503050406030204" pitchFamily="18" charset="0"/>
                        <a:sym typeface="Wingdings" pitchFamily="2" charset="2"/>
                      </a:rPr>
                      <m:t>…,</m:t>
                    </m:r>
                    <m:d>
                      <m:dPr>
                        <m:ctrlPr>
                          <a:rPr lang="en-US" altLang="zh-CN" sz="2400" i="1">
                            <a:latin typeface="Cambria Math" panose="02040503050406030204" pitchFamily="18" charset="0"/>
                            <a:sym typeface="Wingdings" pitchFamily="2" charset="2"/>
                          </a:rPr>
                        </m:ctrlPr>
                      </m:dPr>
                      <m:e>
                        <m:sSup>
                          <m:sSupPr>
                            <m:ctrlPr>
                              <a:rPr lang="en-US" altLang="zh-CN" sz="2400" i="1">
                                <a:latin typeface="Cambria Math" panose="02040503050406030204" pitchFamily="18" charset="0"/>
                                <a:sym typeface="Wingdings" pitchFamily="2" charset="2"/>
                              </a:rPr>
                            </m:ctrlPr>
                          </m:sSupPr>
                          <m:e>
                            <m:r>
                              <a:rPr lang="en-US" altLang="zh-CN" sz="2400" i="1">
                                <a:latin typeface="Cambria Math" panose="02040503050406030204" pitchFamily="18" charset="0"/>
                                <a:sym typeface="Wingdings" pitchFamily="2" charset="2"/>
                              </a:rPr>
                              <m:t>𝑥</m:t>
                            </m:r>
                          </m:e>
                          <m:sup>
                            <m:r>
                              <a:rPr lang="en-US" altLang="zh-CN" sz="2400" i="1">
                                <a:latin typeface="Cambria Math" panose="02040503050406030204" pitchFamily="18" charset="0"/>
                                <a:sym typeface="Wingdings" pitchFamily="2" charset="2"/>
                              </a:rPr>
                              <m:t>(</m:t>
                            </m:r>
                            <m:r>
                              <a:rPr lang="en-US" altLang="zh-CN" sz="2400" b="0" i="1" smtClean="0">
                                <a:latin typeface="Cambria Math" panose="02040503050406030204" pitchFamily="18" charset="0"/>
                                <a:sym typeface="Wingdings" pitchFamily="2" charset="2"/>
                              </a:rPr>
                              <m:t>𝑛</m:t>
                            </m:r>
                            <m:r>
                              <a:rPr lang="en-US" altLang="zh-CN" sz="2400" i="1">
                                <a:latin typeface="Cambria Math" panose="02040503050406030204" pitchFamily="18" charset="0"/>
                                <a:sym typeface="Wingdings" pitchFamily="2" charset="2"/>
                              </a:rPr>
                              <m:t>)</m:t>
                            </m:r>
                          </m:sup>
                        </m:sSup>
                        <m:r>
                          <a:rPr lang="en-US" altLang="zh-CN" sz="2400" i="1">
                            <a:latin typeface="Cambria Math" panose="02040503050406030204" pitchFamily="18" charset="0"/>
                            <a:sym typeface="Wingdings" pitchFamily="2" charset="2"/>
                          </a:rPr>
                          <m:t>,</m:t>
                        </m:r>
                        <m:sSup>
                          <m:sSupPr>
                            <m:ctrlPr>
                              <a:rPr lang="en-US" altLang="zh-CN" sz="2400" i="1">
                                <a:latin typeface="Cambria Math" panose="02040503050406030204" pitchFamily="18" charset="0"/>
                                <a:sym typeface="Wingdings" pitchFamily="2" charset="2"/>
                              </a:rPr>
                            </m:ctrlPr>
                          </m:sSupPr>
                          <m:e>
                            <m:r>
                              <a:rPr lang="en-US" altLang="zh-CN" sz="2400" i="1">
                                <a:latin typeface="Cambria Math" panose="02040503050406030204" pitchFamily="18" charset="0"/>
                                <a:sym typeface="Wingdings" pitchFamily="2" charset="2"/>
                              </a:rPr>
                              <m:t>𝑦</m:t>
                            </m:r>
                          </m:e>
                          <m:sup>
                            <m:r>
                              <a:rPr lang="en-US" altLang="zh-CN" sz="2400" i="1">
                                <a:latin typeface="Cambria Math" panose="02040503050406030204" pitchFamily="18" charset="0"/>
                                <a:sym typeface="Wingdings" pitchFamily="2" charset="2"/>
                              </a:rPr>
                              <m:t>(</m:t>
                            </m:r>
                            <m:r>
                              <a:rPr lang="en-US" altLang="zh-CN" sz="2400" b="0" i="1" smtClean="0">
                                <a:latin typeface="Cambria Math" panose="02040503050406030204" pitchFamily="18" charset="0"/>
                                <a:sym typeface="Wingdings" pitchFamily="2" charset="2"/>
                              </a:rPr>
                              <m:t>𝑛</m:t>
                            </m:r>
                            <m:r>
                              <a:rPr lang="en-US" altLang="zh-CN" sz="2400" i="1">
                                <a:latin typeface="Cambria Math" panose="02040503050406030204" pitchFamily="18" charset="0"/>
                                <a:sym typeface="Wingdings" pitchFamily="2" charset="2"/>
                              </a:rPr>
                              <m:t>)</m:t>
                            </m:r>
                          </m:sup>
                        </m:sSup>
                      </m:e>
                    </m:d>
                  </m:oMath>
                </a14:m>
                <a:endParaRPr lang="en-US" altLang="zh-CN" sz="2400" dirty="0"/>
              </a:p>
            </p:txBody>
          </p:sp>
        </mc:Choice>
        <mc:Fallback xmlns="">
          <p:sp>
            <p:nvSpPr>
              <p:cNvPr id="7" name="文本框 6">
                <a:extLst>
                  <a:ext uri="{FF2B5EF4-FFF2-40B4-BE49-F238E27FC236}">
                    <a16:creationId xmlns:a16="http://schemas.microsoft.com/office/drawing/2014/main" id="{09E26B54-87E8-63FE-665B-47180C5CA487}"/>
                  </a:ext>
                </a:extLst>
              </p:cNvPr>
              <p:cNvSpPr txBox="1">
                <a:spLocks noRot="1" noChangeAspect="1" noMove="1" noResize="1" noEditPoints="1" noAdjustHandles="1" noChangeArrowheads="1" noChangeShapeType="1" noTextEdit="1"/>
              </p:cNvSpPr>
              <p:nvPr/>
            </p:nvSpPr>
            <p:spPr>
              <a:xfrm>
                <a:off x="836141" y="3384115"/>
                <a:ext cx="9518819" cy="509178"/>
              </a:xfrm>
              <a:prstGeom prst="rect">
                <a:avLst/>
              </a:prstGeom>
              <a:blipFill>
                <a:blip r:embed="rId3"/>
                <a:stretch>
                  <a:fillRect l="-932" t="-2439" b="-219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DB48FCC-8BD2-FB7E-BA25-4F0DC1BA662A}"/>
                  </a:ext>
                </a:extLst>
              </p:cNvPr>
              <p:cNvSpPr txBox="1"/>
              <p:nvPr/>
            </p:nvSpPr>
            <p:spPr>
              <a:xfrm>
                <a:off x="836141" y="4224746"/>
                <a:ext cx="8956078" cy="2260427"/>
              </a:xfrm>
              <a:prstGeom prst="rect">
                <a:avLst/>
              </a:prstGeom>
              <a:noFill/>
            </p:spPr>
            <p:txBody>
              <a:bodyPr wrap="square">
                <a:spAutoFit/>
              </a:bodyPr>
              <a:lstStyle/>
              <a:p>
                <a:r>
                  <a:rPr lang="zh-CN" altLang="en-US" sz="2400" b="1" dirty="0"/>
                  <a:t>逻辑回归的目标函数：</a:t>
                </a:r>
                <a:endParaRPr lang="en-US" altLang="zh-CN" sz="2400" b="1" dirty="0"/>
              </a:p>
              <a:p>
                <a:pPr/>
                <a14:m>
                  <m:oMathPara xmlns:m="http://schemas.openxmlformats.org/officeDocument/2006/math">
                    <m:oMathParaPr>
                      <m:jc m:val="left"/>
                    </m:oMathParaPr>
                    <m:oMath xmlns:m="http://schemas.openxmlformats.org/officeDocument/2006/math">
                      <m:r>
                        <a:rPr lang="en-US" altLang="zh-CN" sz="2400" b="1" i="1" dirty="0" smtClean="0">
                          <a:latin typeface="Cambria Math" panose="02040503050406030204" pitchFamily="18" charset="0"/>
                        </a:rPr>
                        <m:t>𝑱</m:t>
                      </m:r>
                      <m:d>
                        <m:dPr>
                          <m:ctrlPr>
                            <a:rPr lang="en-US" altLang="zh-CN" sz="2400" b="1" i="1" dirty="0" smtClean="0">
                              <a:latin typeface="Cambria Math" panose="02040503050406030204" pitchFamily="18" charset="0"/>
                            </a:rPr>
                          </m:ctrlPr>
                        </m:dPr>
                        <m:e>
                          <m:r>
                            <a:rPr lang="en-US" altLang="zh-CN" sz="2400" b="1" i="1" dirty="0" smtClean="0">
                              <a:latin typeface="Cambria Math" panose="02040503050406030204" pitchFamily="18" charset="0"/>
                              <a:ea typeface="Cambria Math" panose="02040503050406030204" pitchFamily="18" charset="0"/>
                            </a:rPr>
                            <m:t>𝜽</m:t>
                          </m:r>
                        </m:e>
                      </m:d>
                      <m:r>
                        <a:rPr lang="en-US" altLang="zh-CN" sz="2400" b="1" i="1" dirty="0" smtClean="0">
                          <a:latin typeface="Cambria Math" panose="02040503050406030204" pitchFamily="18" charset="0"/>
                        </a:rPr>
                        <m:t>=</m:t>
                      </m:r>
                      <m:f>
                        <m:fPr>
                          <m:ctrlPr>
                            <a:rPr lang="en-US" altLang="zh-CN" sz="2400" b="1" i="1" dirty="0" smtClean="0">
                              <a:latin typeface="Cambria Math" panose="02040503050406030204" pitchFamily="18" charset="0"/>
                            </a:rPr>
                          </m:ctrlPr>
                        </m:fPr>
                        <m:num>
                          <m:r>
                            <a:rPr lang="en-US" altLang="zh-CN" sz="2400" b="1" i="1" dirty="0" smtClean="0">
                              <a:latin typeface="Cambria Math" panose="02040503050406030204" pitchFamily="18" charset="0"/>
                            </a:rPr>
                            <m:t>𝟏</m:t>
                          </m:r>
                        </m:num>
                        <m:den>
                          <m:r>
                            <a:rPr lang="en-US" altLang="zh-CN" sz="2400" b="1" i="1" dirty="0" smtClean="0">
                              <a:latin typeface="Cambria Math" panose="02040503050406030204" pitchFamily="18" charset="0"/>
                            </a:rPr>
                            <m:t>𝒏</m:t>
                          </m:r>
                        </m:den>
                      </m:f>
                      <m:nary>
                        <m:naryPr>
                          <m:chr m:val="∑"/>
                          <m:supHide m:val="on"/>
                          <m:ctrlPr>
                            <a:rPr lang="en-US" altLang="zh-CN" sz="2400" b="1" i="1" dirty="0" smtClean="0">
                              <a:latin typeface="Cambria Math" panose="02040503050406030204" pitchFamily="18" charset="0"/>
                            </a:rPr>
                          </m:ctrlPr>
                        </m:naryPr>
                        <m:sub>
                          <m:r>
                            <m:rPr>
                              <m:brk m:alnAt="23"/>
                            </m:rPr>
                            <a:rPr lang="en-US" altLang="zh-CN" sz="2400" b="1" i="1" dirty="0" smtClean="0">
                              <a:latin typeface="Cambria Math" panose="02040503050406030204" pitchFamily="18" charset="0"/>
                            </a:rPr>
                            <m:t>𝒊</m:t>
                          </m:r>
                          <m:r>
                            <a:rPr lang="en-US" altLang="zh-CN" sz="2400" b="1" i="1" dirty="0" smtClean="0">
                              <a:latin typeface="Cambria Math" panose="02040503050406030204" pitchFamily="18" charset="0"/>
                            </a:rPr>
                            <m:t>=</m:t>
                          </m:r>
                          <m:r>
                            <a:rPr lang="en-US" altLang="zh-CN" sz="2400" b="1" i="1" dirty="0" smtClean="0">
                              <a:latin typeface="Cambria Math" panose="02040503050406030204" pitchFamily="18" charset="0"/>
                            </a:rPr>
                            <m:t>𝒏</m:t>
                          </m:r>
                        </m:sub>
                        <m:sup/>
                        <m:e>
                          <m:r>
                            <a:rPr lang="en-US" altLang="zh-CN" sz="2400" b="1" i="1" dirty="0" smtClean="0">
                              <a:latin typeface="Cambria Math" panose="02040503050406030204" pitchFamily="18" charset="0"/>
                            </a:rPr>
                            <m:t>𝑳</m:t>
                          </m:r>
                          <m:r>
                            <a:rPr lang="en-US" altLang="zh-CN" sz="2400" b="1" i="1" dirty="0">
                              <a:latin typeface="Cambria Math" panose="02040503050406030204" pitchFamily="18" charset="0"/>
                            </a:rPr>
                            <m:t>(</m:t>
                          </m:r>
                          <m:sSup>
                            <m:sSupPr>
                              <m:ctrlPr>
                                <a:rPr lang="en-US" altLang="zh-CN" sz="2400" b="1" i="1" dirty="0">
                                  <a:latin typeface="Cambria Math" panose="02040503050406030204" pitchFamily="18" charset="0"/>
                                </a:rPr>
                              </m:ctrlPr>
                            </m:sSupPr>
                            <m:e>
                              <m:acc>
                                <m:accPr>
                                  <m:chr m:val="̂"/>
                                  <m:ctrlPr>
                                    <a:rPr lang="en-US" altLang="zh-CN" sz="2400" b="1" i="1" dirty="0">
                                      <a:latin typeface="Cambria Math" panose="02040503050406030204" pitchFamily="18" charset="0"/>
                                    </a:rPr>
                                  </m:ctrlPr>
                                </m:accPr>
                                <m:e>
                                  <m:r>
                                    <a:rPr lang="en-US" altLang="zh-CN" sz="2400" b="1" i="1" dirty="0">
                                      <a:latin typeface="Cambria Math" panose="02040503050406030204" pitchFamily="18" charset="0"/>
                                    </a:rPr>
                                    <m:t>𝒚</m:t>
                                  </m:r>
                                </m:e>
                              </m:acc>
                            </m:e>
                            <m:sup>
                              <m:r>
                                <a:rPr lang="en-US" altLang="zh-CN" sz="2400" b="1" i="1" dirty="0">
                                  <a:latin typeface="Cambria Math" panose="02040503050406030204" pitchFamily="18" charset="0"/>
                                </a:rPr>
                                <m:t>(</m:t>
                              </m:r>
                              <m:r>
                                <a:rPr lang="en-US" altLang="zh-CN" sz="2400" b="1" i="1" dirty="0">
                                  <a:latin typeface="Cambria Math" panose="02040503050406030204" pitchFamily="18" charset="0"/>
                                </a:rPr>
                                <m:t>𝒊</m:t>
                              </m:r>
                              <m:r>
                                <a:rPr lang="en-US" altLang="zh-CN" sz="2400" b="1" i="1" dirty="0">
                                  <a:latin typeface="Cambria Math" panose="02040503050406030204" pitchFamily="18" charset="0"/>
                                </a:rPr>
                                <m:t>)</m:t>
                              </m:r>
                            </m:sup>
                          </m:sSup>
                          <m:r>
                            <a:rPr lang="en-US" altLang="zh-CN" sz="2400" b="1">
                              <a:latin typeface="Cambria Math" panose="02040503050406030204" pitchFamily="18" charset="0"/>
                            </a:rPr>
                            <m:t>,</m:t>
                          </m:r>
                          <m:sSup>
                            <m:sSupPr>
                              <m:ctrlPr>
                                <a:rPr lang="en-US" altLang="zh-CN" sz="2400" b="1" i="1">
                                  <a:latin typeface="Cambria Math" panose="02040503050406030204" pitchFamily="18" charset="0"/>
                                  <a:sym typeface="Wingdings" pitchFamily="2" charset="2"/>
                                </a:rPr>
                              </m:ctrlPr>
                            </m:sSupPr>
                            <m:e>
                              <m:r>
                                <a:rPr lang="en-US" altLang="zh-CN" sz="2400" b="1" i="1">
                                  <a:latin typeface="Cambria Math" panose="02040503050406030204" pitchFamily="18" charset="0"/>
                                  <a:sym typeface="Wingdings" pitchFamily="2" charset="2"/>
                                </a:rPr>
                                <m:t>𝒚</m:t>
                              </m:r>
                            </m:e>
                            <m:sup>
                              <m:r>
                                <a:rPr lang="en-US" altLang="zh-CN" sz="2400" b="1" i="1">
                                  <a:latin typeface="Cambria Math" panose="02040503050406030204" pitchFamily="18" charset="0"/>
                                  <a:sym typeface="Wingdings" pitchFamily="2" charset="2"/>
                                </a:rPr>
                                <m:t>(</m:t>
                              </m:r>
                              <m:r>
                                <a:rPr lang="en-US" altLang="zh-CN" sz="2400" b="1" i="1" smtClean="0">
                                  <a:latin typeface="Cambria Math" panose="02040503050406030204" pitchFamily="18" charset="0"/>
                                  <a:sym typeface="Wingdings" pitchFamily="2" charset="2"/>
                                </a:rPr>
                                <m:t>𝒊</m:t>
                              </m:r>
                              <m:r>
                                <a:rPr lang="en-US" altLang="zh-CN" sz="2400" b="1" i="1">
                                  <a:latin typeface="Cambria Math" panose="02040503050406030204" pitchFamily="18" charset="0"/>
                                  <a:sym typeface="Wingdings" pitchFamily="2" charset="2"/>
                                </a:rPr>
                                <m:t>)</m:t>
                              </m:r>
                            </m:sup>
                          </m:sSup>
                          <m:r>
                            <a:rPr lang="en-US" altLang="zh-CN" sz="2400" b="1" i="1" dirty="0">
                              <a:latin typeface="Cambria Math" panose="02040503050406030204" pitchFamily="18" charset="0"/>
                            </a:rPr>
                            <m:t>)</m:t>
                          </m:r>
                        </m:e>
                      </m:nary>
                    </m:oMath>
                  </m:oMathPara>
                </a14:m>
                <a:endParaRPr lang="en-US" altLang="zh-CN" sz="2400" b="1" dirty="0"/>
              </a:p>
              <a:p>
                <a:r>
                  <a:rPr lang="en-US" altLang="zh-CN" sz="2400" b="1" dirty="0"/>
                  <a:t>        </a:t>
                </a:r>
              </a:p>
              <a:p>
                <a:r>
                  <a:rPr lang="en-US" altLang="zh-CN" sz="2400" b="1" dirty="0"/>
                  <a:t>        = </a:t>
                </a:r>
                <a14:m>
                  <m:oMath xmlns:m="http://schemas.openxmlformats.org/officeDocument/2006/math">
                    <m:r>
                      <a:rPr lang="en-US" altLang="zh-CN" sz="2400" b="1" i="1" dirty="0">
                        <a:latin typeface="Cambria Math" panose="02040503050406030204" pitchFamily="18" charset="0"/>
                      </a:rPr>
                      <m:t>− </m:t>
                    </m:r>
                    <m:f>
                      <m:fPr>
                        <m:ctrlPr>
                          <a:rPr lang="en-US" altLang="zh-CN" sz="2400" b="1" i="1" dirty="0">
                            <a:latin typeface="Cambria Math" panose="02040503050406030204" pitchFamily="18" charset="0"/>
                          </a:rPr>
                        </m:ctrlPr>
                      </m:fPr>
                      <m:num>
                        <m:r>
                          <a:rPr lang="en-US" altLang="zh-CN" sz="2400" b="1" i="1" dirty="0">
                            <a:latin typeface="Cambria Math" panose="02040503050406030204" pitchFamily="18" charset="0"/>
                          </a:rPr>
                          <m:t>𝟏</m:t>
                        </m:r>
                      </m:num>
                      <m:den>
                        <m:r>
                          <a:rPr lang="en-US" altLang="zh-CN" sz="2400" b="1" i="1" dirty="0" smtClean="0">
                            <a:latin typeface="Cambria Math" panose="02040503050406030204" pitchFamily="18" charset="0"/>
                          </a:rPr>
                          <m:t>𝒏</m:t>
                        </m:r>
                      </m:den>
                    </m:f>
                    <m:nary>
                      <m:naryPr>
                        <m:chr m:val="∑"/>
                        <m:ctrlPr>
                          <a:rPr lang="en-US" altLang="zh-CN" sz="2400" b="1" i="1" dirty="0">
                            <a:latin typeface="Cambria Math" panose="02040503050406030204" pitchFamily="18" charset="0"/>
                          </a:rPr>
                        </m:ctrlPr>
                      </m:naryPr>
                      <m:sub>
                        <m:r>
                          <m:rPr>
                            <m:brk m:alnAt="23"/>
                          </m:rPr>
                          <a:rPr lang="en-US" altLang="zh-CN" sz="2400" b="1" i="1" dirty="0">
                            <a:latin typeface="Cambria Math" panose="02040503050406030204" pitchFamily="18" charset="0"/>
                          </a:rPr>
                          <m:t>𝒊</m:t>
                        </m:r>
                        <m:r>
                          <a:rPr lang="en-US" altLang="zh-CN" sz="2400" b="1" i="1" dirty="0">
                            <a:latin typeface="Cambria Math" panose="02040503050406030204" pitchFamily="18" charset="0"/>
                          </a:rPr>
                          <m:t>=</m:t>
                        </m:r>
                        <m:r>
                          <a:rPr lang="en-US" altLang="zh-CN" sz="2400" b="1" i="1" dirty="0">
                            <a:latin typeface="Cambria Math" panose="02040503050406030204" pitchFamily="18" charset="0"/>
                          </a:rPr>
                          <m:t>𝟏</m:t>
                        </m:r>
                      </m:sub>
                      <m:sup>
                        <m:r>
                          <a:rPr lang="en-US" altLang="zh-CN" sz="2400" b="1" i="1" dirty="0" smtClean="0">
                            <a:latin typeface="Cambria Math" panose="02040503050406030204" pitchFamily="18" charset="0"/>
                          </a:rPr>
                          <m:t>𝒏</m:t>
                        </m:r>
                      </m:sup>
                      <m:e>
                        <m:r>
                          <a:rPr lang="en-US" altLang="zh-CN" sz="2400" b="1" i="1" dirty="0" smtClean="0">
                            <a:latin typeface="Cambria Math" panose="02040503050406030204" pitchFamily="18" charset="0"/>
                          </a:rPr>
                          <m:t>[</m:t>
                        </m:r>
                        <m:sSup>
                          <m:sSupPr>
                            <m:ctrlPr>
                              <a:rPr lang="en-US" altLang="zh-CN" sz="2400" b="1" i="1">
                                <a:latin typeface="Cambria Math" panose="02040503050406030204" pitchFamily="18" charset="0"/>
                                <a:sym typeface="Wingdings" pitchFamily="2" charset="2"/>
                              </a:rPr>
                            </m:ctrlPr>
                          </m:sSupPr>
                          <m:e>
                            <m:r>
                              <a:rPr lang="en-US" altLang="zh-CN" sz="2400" b="1" i="1">
                                <a:latin typeface="Cambria Math" panose="02040503050406030204" pitchFamily="18" charset="0"/>
                                <a:sym typeface="Wingdings" pitchFamily="2" charset="2"/>
                              </a:rPr>
                              <m:t>𝒚</m:t>
                            </m:r>
                          </m:e>
                          <m:sup>
                            <m:d>
                              <m:dPr>
                                <m:ctrlPr>
                                  <a:rPr lang="en-US" altLang="zh-CN" sz="2400" b="1" i="1">
                                    <a:latin typeface="Cambria Math" panose="02040503050406030204" pitchFamily="18" charset="0"/>
                                    <a:sym typeface="Wingdings" pitchFamily="2" charset="2"/>
                                  </a:rPr>
                                </m:ctrlPr>
                              </m:dPr>
                              <m:e>
                                <m:r>
                                  <a:rPr lang="en-US" altLang="zh-CN" sz="2400" b="1" i="1">
                                    <a:latin typeface="Cambria Math" panose="02040503050406030204" pitchFamily="18" charset="0"/>
                                    <a:sym typeface="Wingdings" pitchFamily="2" charset="2"/>
                                  </a:rPr>
                                  <m:t>𝒊</m:t>
                                </m:r>
                              </m:e>
                            </m:d>
                          </m:sup>
                        </m:sSup>
                        <m:r>
                          <a:rPr lang="en-US" altLang="zh-CN" sz="2400" b="1" i="1" dirty="0">
                            <a:latin typeface="Cambria Math" panose="02040503050406030204" pitchFamily="18" charset="0"/>
                          </a:rPr>
                          <m:t>𝒍</m:t>
                        </m:r>
                        <m:r>
                          <a:rPr lang="en-US" altLang="zh-CN" sz="2400" b="1" i="1" dirty="0" smtClean="0">
                            <a:latin typeface="Cambria Math" panose="02040503050406030204" pitchFamily="18" charset="0"/>
                          </a:rPr>
                          <m:t>𝒏</m:t>
                        </m:r>
                        <m:d>
                          <m:dPr>
                            <m:ctrlPr>
                              <a:rPr lang="en-US" altLang="zh-CN" sz="2400" b="1" i="1" dirty="0">
                                <a:latin typeface="Cambria Math" panose="02040503050406030204" pitchFamily="18" charset="0"/>
                              </a:rPr>
                            </m:ctrlPr>
                          </m:dPr>
                          <m:e>
                            <m:sSup>
                              <m:sSupPr>
                                <m:ctrlPr>
                                  <a:rPr lang="en-US" altLang="zh-CN" sz="2400" b="1" i="1" dirty="0" smtClean="0">
                                    <a:latin typeface="Cambria Math" panose="02040503050406030204" pitchFamily="18" charset="0"/>
                                  </a:rPr>
                                </m:ctrlPr>
                              </m:sSupPr>
                              <m:e>
                                <m:acc>
                                  <m:accPr>
                                    <m:chr m:val="̂"/>
                                    <m:ctrlPr>
                                      <a:rPr lang="en-US" altLang="zh-CN" sz="2400" b="1" i="1" dirty="0">
                                        <a:latin typeface="Cambria Math" panose="02040503050406030204" pitchFamily="18" charset="0"/>
                                      </a:rPr>
                                    </m:ctrlPr>
                                  </m:accPr>
                                  <m:e>
                                    <m:r>
                                      <a:rPr lang="en-US" altLang="zh-CN" sz="2400" b="1" i="1" dirty="0">
                                        <a:latin typeface="Cambria Math" panose="02040503050406030204" pitchFamily="18" charset="0"/>
                                      </a:rPr>
                                      <m:t>𝒚</m:t>
                                    </m:r>
                                  </m:e>
                                </m:acc>
                              </m:e>
                              <m:sup>
                                <m:d>
                                  <m:dPr>
                                    <m:ctrlPr>
                                      <a:rPr lang="en-US" altLang="zh-CN" sz="2400" b="1" i="1" dirty="0" smtClean="0">
                                        <a:latin typeface="Cambria Math" panose="02040503050406030204" pitchFamily="18" charset="0"/>
                                      </a:rPr>
                                    </m:ctrlPr>
                                  </m:dPr>
                                  <m:e>
                                    <m:r>
                                      <a:rPr lang="en-US" altLang="zh-CN" sz="2400" b="1" i="1" dirty="0" smtClean="0">
                                        <a:latin typeface="Cambria Math" panose="02040503050406030204" pitchFamily="18" charset="0"/>
                                      </a:rPr>
                                      <m:t>𝒊</m:t>
                                    </m:r>
                                  </m:e>
                                </m:d>
                              </m:sup>
                            </m:sSup>
                          </m:e>
                        </m:d>
                        <m:r>
                          <m:rPr>
                            <m:nor/>
                          </m:rPr>
                          <a:rPr lang="en-US" altLang="zh-CN" sz="2400" b="1" dirty="0"/>
                          <m:t> </m:t>
                        </m:r>
                        <m:r>
                          <a:rPr lang="en-US" altLang="zh-CN" sz="2400" b="1" i="1" dirty="0" smtClean="0">
                            <a:latin typeface="Cambria Math" panose="02040503050406030204" pitchFamily="18" charset="0"/>
                          </a:rPr>
                          <m:t>+</m:t>
                        </m:r>
                        <m:r>
                          <a:rPr lang="zh-CN" altLang="en-US" sz="2400" b="1" i="1" dirty="0">
                            <a:latin typeface="Cambria Math" panose="02040503050406030204" pitchFamily="18" charset="0"/>
                          </a:rPr>
                          <m:t> </m:t>
                        </m:r>
                        <m:r>
                          <m:rPr>
                            <m:nor/>
                          </m:rPr>
                          <a:rPr lang="en-US" altLang="zh-CN" sz="2400" b="1" dirty="0"/>
                          <m:t>(1 </m:t>
                        </m:r>
                        <m:r>
                          <a:rPr lang="en-US" altLang="zh-CN" sz="2400" b="1" i="1" dirty="0">
                            <a:latin typeface="Cambria Math" panose="02040503050406030204" pitchFamily="18" charset="0"/>
                          </a:rPr>
                          <m:t>−</m:t>
                        </m:r>
                        <m:sSup>
                          <m:sSupPr>
                            <m:ctrlPr>
                              <a:rPr lang="en-US" altLang="zh-CN" sz="2400" b="1" i="1">
                                <a:latin typeface="Cambria Math" panose="02040503050406030204" pitchFamily="18" charset="0"/>
                                <a:sym typeface="Wingdings" pitchFamily="2" charset="2"/>
                              </a:rPr>
                            </m:ctrlPr>
                          </m:sSupPr>
                          <m:e>
                            <m:r>
                              <a:rPr lang="en-US" altLang="zh-CN" sz="2400" b="1" i="1">
                                <a:latin typeface="Cambria Math" panose="02040503050406030204" pitchFamily="18" charset="0"/>
                                <a:sym typeface="Wingdings" pitchFamily="2" charset="2"/>
                              </a:rPr>
                              <m:t>𝒚</m:t>
                            </m:r>
                          </m:e>
                          <m:sup>
                            <m:r>
                              <a:rPr lang="en-US" altLang="zh-CN" sz="2400" b="1" i="1">
                                <a:latin typeface="Cambria Math" panose="02040503050406030204" pitchFamily="18" charset="0"/>
                                <a:sym typeface="Wingdings" pitchFamily="2" charset="2"/>
                              </a:rPr>
                              <m:t>(</m:t>
                            </m:r>
                            <m:r>
                              <a:rPr lang="en-US" altLang="zh-CN" sz="2400" b="1" i="1">
                                <a:latin typeface="Cambria Math" panose="02040503050406030204" pitchFamily="18" charset="0"/>
                                <a:sym typeface="Wingdings" pitchFamily="2" charset="2"/>
                              </a:rPr>
                              <m:t>𝒊</m:t>
                            </m:r>
                            <m:r>
                              <a:rPr lang="en-US" altLang="zh-CN" sz="2400" b="1" i="1">
                                <a:latin typeface="Cambria Math" panose="02040503050406030204" pitchFamily="18" charset="0"/>
                                <a:sym typeface="Wingdings" pitchFamily="2" charset="2"/>
                              </a:rPr>
                              <m:t>)</m:t>
                            </m:r>
                          </m:sup>
                        </m:sSup>
                        <m:r>
                          <m:rPr>
                            <m:nor/>
                          </m:rPr>
                          <a:rPr lang="en-US" altLang="zh-CN" sz="2400" b="1" dirty="0"/>
                          <m:t>)</m:t>
                        </m:r>
                        <m:r>
                          <a:rPr lang="en-US" altLang="zh-CN" sz="2400" b="1" i="1" dirty="0">
                            <a:latin typeface="Cambria Math" panose="02040503050406030204" pitchFamily="18" charset="0"/>
                          </a:rPr>
                          <m:t>𝒍</m:t>
                        </m:r>
                        <m:r>
                          <a:rPr lang="en-US" altLang="zh-CN" sz="2400" b="1" i="1" dirty="0" smtClean="0">
                            <a:latin typeface="Cambria Math" panose="02040503050406030204" pitchFamily="18" charset="0"/>
                          </a:rPr>
                          <m:t>𝒏</m:t>
                        </m:r>
                        <m:d>
                          <m:dPr>
                            <m:ctrlPr>
                              <a:rPr lang="en-US" altLang="zh-CN" sz="2400" b="1" i="1" dirty="0">
                                <a:latin typeface="Cambria Math" panose="02040503050406030204" pitchFamily="18" charset="0"/>
                              </a:rPr>
                            </m:ctrlPr>
                          </m:dPr>
                          <m:e>
                            <m:r>
                              <a:rPr lang="en-US" altLang="zh-CN" sz="2400" b="1" i="1" dirty="0">
                                <a:latin typeface="Cambria Math" panose="02040503050406030204" pitchFamily="18" charset="0"/>
                              </a:rPr>
                              <m:t>𝟏</m:t>
                            </m:r>
                            <m:r>
                              <a:rPr lang="en-US" altLang="zh-CN" sz="2400" b="1" i="1" dirty="0">
                                <a:latin typeface="Cambria Math" panose="02040503050406030204" pitchFamily="18" charset="0"/>
                              </a:rPr>
                              <m:t>−</m:t>
                            </m:r>
                            <m:sSup>
                              <m:sSupPr>
                                <m:ctrlPr>
                                  <a:rPr lang="en-US" altLang="zh-CN" sz="2400" b="1" i="1" dirty="0">
                                    <a:latin typeface="Cambria Math" panose="02040503050406030204" pitchFamily="18" charset="0"/>
                                  </a:rPr>
                                </m:ctrlPr>
                              </m:sSupPr>
                              <m:e>
                                <m:acc>
                                  <m:accPr>
                                    <m:chr m:val="̂"/>
                                    <m:ctrlPr>
                                      <a:rPr lang="en-US" altLang="zh-CN" sz="2400" b="1" i="1" dirty="0">
                                        <a:latin typeface="Cambria Math" panose="02040503050406030204" pitchFamily="18" charset="0"/>
                                      </a:rPr>
                                    </m:ctrlPr>
                                  </m:accPr>
                                  <m:e>
                                    <m:r>
                                      <a:rPr lang="en-US" altLang="zh-CN" sz="2400" b="1" i="1" dirty="0">
                                        <a:latin typeface="Cambria Math" panose="02040503050406030204" pitchFamily="18" charset="0"/>
                                      </a:rPr>
                                      <m:t>𝒚</m:t>
                                    </m:r>
                                  </m:e>
                                </m:acc>
                              </m:e>
                              <m:sup>
                                <m:r>
                                  <a:rPr lang="en-US" altLang="zh-CN" sz="2400" b="1" i="1" dirty="0">
                                    <a:latin typeface="Cambria Math" panose="02040503050406030204" pitchFamily="18" charset="0"/>
                                  </a:rPr>
                                  <m:t>(</m:t>
                                </m:r>
                                <m:r>
                                  <a:rPr lang="en-US" altLang="zh-CN" sz="2400" b="1" i="1" dirty="0">
                                    <a:latin typeface="Cambria Math" panose="02040503050406030204" pitchFamily="18" charset="0"/>
                                  </a:rPr>
                                  <m:t>𝒊</m:t>
                                </m:r>
                                <m:r>
                                  <a:rPr lang="en-US" altLang="zh-CN" sz="2400" b="1" i="1" dirty="0">
                                    <a:latin typeface="Cambria Math" panose="02040503050406030204" pitchFamily="18" charset="0"/>
                                  </a:rPr>
                                  <m:t>)</m:t>
                                </m:r>
                              </m:sup>
                            </m:sSup>
                          </m:e>
                        </m:d>
                        <m:r>
                          <a:rPr lang="en-US" altLang="zh-CN" sz="2400" b="1" i="1" dirty="0" smtClean="0">
                            <a:latin typeface="Cambria Math" panose="02040503050406030204" pitchFamily="18" charset="0"/>
                          </a:rPr>
                          <m:t>]</m:t>
                        </m:r>
                      </m:e>
                    </m:nary>
                  </m:oMath>
                </a14:m>
                <a:endParaRPr lang="en-US" altLang="zh-CN" sz="2400" b="1" dirty="0"/>
              </a:p>
            </p:txBody>
          </p:sp>
        </mc:Choice>
        <mc:Fallback xmlns="">
          <p:sp>
            <p:nvSpPr>
              <p:cNvPr id="4" name="文本框 3">
                <a:extLst>
                  <a:ext uri="{FF2B5EF4-FFF2-40B4-BE49-F238E27FC236}">
                    <a16:creationId xmlns:a16="http://schemas.microsoft.com/office/drawing/2014/main" id="{7DB48FCC-8BD2-FB7E-BA25-4F0DC1BA662A}"/>
                  </a:ext>
                </a:extLst>
              </p:cNvPr>
              <p:cNvSpPr txBox="1">
                <a:spLocks noRot="1" noChangeAspect="1" noMove="1" noResize="1" noEditPoints="1" noAdjustHandles="1" noChangeArrowheads="1" noChangeShapeType="1" noTextEdit="1"/>
              </p:cNvSpPr>
              <p:nvPr/>
            </p:nvSpPr>
            <p:spPr>
              <a:xfrm>
                <a:off x="836141" y="4224746"/>
                <a:ext cx="8956078" cy="2260427"/>
              </a:xfrm>
              <a:prstGeom prst="rect">
                <a:avLst/>
              </a:prstGeom>
              <a:blipFill>
                <a:blip r:embed="rId4"/>
                <a:stretch>
                  <a:fillRect l="-992" t="-40782" b="-396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9258A47-C0D6-3C3B-1332-84C3CF781E74}"/>
                  </a:ext>
                </a:extLst>
              </p:cNvPr>
              <p:cNvSpPr txBox="1"/>
              <p:nvPr/>
            </p:nvSpPr>
            <p:spPr>
              <a:xfrm>
                <a:off x="6506727" y="3841633"/>
                <a:ext cx="2789674" cy="7145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2000" b="1" i="1" dirty="0" smtClean="0">
                              <a:latin typeface="Cambria Math" panose="02040503050406030204" pitchFamily="18" charset="0"/>
                            </a:rPr>
                          </m:ctrlPr>
                        </m:sSupPr>
                        <m:e>
                          <m:acc>
                            <m:accPr>
                              <m:chr m:val="̂"/>
                              <m:ctrlPr>
                                <a:rPr lang="en-US" altLang="zh-CN" sz="2000" b="1" i="1" dirty="0">
                                  <a:latin typeface="Cambria Math" panose="02040503050406030204" pitchFamily="18" charset="0"/>
                                </a:rPr>
                              </m:ctrlPr>
                            </m:accPr>
                            <m:e>
                              <m:r>
                                <a:rPr lang="en-US" altLang="zh-CN" sz="2000" b="1" i="1" dirty="0">
                                  <a:latin typeface="Cambria Math" panose="02040503050406030204" pitchFamily="18" charset="0"/>
                                </a:rPr>
                                <m:t>𝒚</m:t>
                              </m:r>
                            </m:e>
                          </m:acc>
                        </m:e>
                        <m:sup>
                          <m:r>
                            <a:rPr lang="en-US" altLang="zh-CN" sz="2000" b="1" i="1" dirty="0">
                              <a:latin typeface="Cambria Math" panose="02040503050406030204" pitchFamily="18" charset="0"/>
                            </a:rPr>
                            <m:t>(</m:t>
                          </m:r>
                          <m:r>
                            <a:rPr lang="en-US" altLang="zh-CN" sz="2000" b="1" i="1" dirty="0">
                              <a:latin typeface="Cambria Math" panose="02040503050406030204" pitchFamily="18" charset="0"/>
                            </a:rPr>
                            <m:t>𝒊</m:t>
                          </m:r>
                          <m:r>
                            <a:rPr lang="en-US" altLang="zh-CN" sz="2000" b="1" i="1" dirty="0">
                              <a:latin typeface="Cambria Math" panose="02040503050406030204" pitchFamily="18" charset="0"/>
                            </a:rPr>
                            <m:t>)</m:t>
                          </m:r>
                        </m:sup>
                      </m:sSup>
                      <m:r>
                        <a:rPr lang="en-US" altLang="zh-CN" sz="2000" b="1" i="1" dirty="0">
                          <a:latin typeface="Cambria Math" panose="02040503050406030204" pitchFamily="18" charset="0"/>
                        </a:rPr>
                        <m:t> </m:t>
                      </m:r>
                      <m:r>
                        <a:rPr lang="en-US" altLang="zh-CN" sz="2000" b="0" i="0" smtClean="0">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1+</m:t>
                          </m:r>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𝑒</m:t>
                              </m:r>
                            </m:e>
                            <m:sup>
                              <m:r>
                                <a:rPr lang="en-US" altLang="zh-CN" sz="2000" i="1">
                                  <a:latin typeface="Cambria Math" panose="02040503050406030204" pitchFamily="18" charset="0"/>
                                </a:rPr>
                                <m:t>−(</m:t>
                              </m:r>
                              <m:sSup>
                                <m:sSupPr>
                                  <m:ctrlPr>
                                    <a:rPr lang="en-US" altLang="zh-CN" sz="2000" i="1">
                                      <a:latin typeface="Cambria Math" panose="02040503050406030204" pitchFamily="18" charset="0"/>
                                    </a:rPr>
                                  </m:ctrlPr>
                                </m:sSupPr>
                                <m:e>
                                  <m:r>
                                    <a:rPr lang="en-US" altLang="zh-CN" sz="2000" i="1">
                                      <a:latin typeface="Cambria Math" panose="02040503050406030204" pitchFamily="18" charset="0"/>
                                      <a:ea typeface="Cambria Math" panose="02040503050406030204" pitchFamily="18" charset="0"/>
                                    </a:rPr>
                                    <m:t>𝜃</m:t>
                                  </m:r>
                                </m:e>
                                <m:sup>
                                  <m:r>
                                    <a:rPr lang="en-US" altLang="zh-CN" sz="2000" i="1">
                                      <a:latin typeface="Cambria Math" panose="02040503050406030204" pitchFamily="18" charset="0"/>
                                    </a:rPr>
                                    <m:t>𝑇</m:t>
                                  </m:r>
                                </m:sup>
                              </m:sSup>
                              <m:sSup>
                                <m:sSupPr>
                                  <m:ctrlPr>
                                    <a:rPr lang="en-US" altLang="zh-CN" sz="2000" i="1">
                                      <a:latin typeface="Cambria Math" panose="02040503050406030204" pitchFamily="18" charset="0"/>
                                      <a:sym typeface="Wingdings" pitchFamily="2" charset="2"/>
                                    </a:rPr>
                                  </m:ctrlPr>
                                </m:sSupPr>
                                <m:e>
                                  <m:r>
                                    <a:rPr lang="en-US" altLang="zh-CN" sz="2000" b="0" i="1" smtClean="0">
                                      <a:latin typeface="Cambria Math" panose="02040503050406030204" pitchFamily="18" charset="0"/>
                                      <a:sym typeface="Wingdings" pitchFamily="2" charset="2"/>
                                    </a:rPr>
                                    <m:t>𝑋</m:t>
                                  </m:r>
                                </m:e>
                                <m:sup>
                                  <m:r>
                                    <a:rPr lang="en-US" altLang="zh-CN" sz="2000" i="1">
                                      <a:latin typeface="Cambria Math" panose="02040503050406030204" pitchFamily="18" charset="0"/>
                                      <a:sym typeface="Wingdings" pitchFamily="2" charset="2"/>
                                    </a:rPr>
                                    <m:t>(</m:t>
                                  </m:r>
                                  <m:r>
                                    <a:rPr lang="en-US" altLang="zh-CN" sz="2000" b="0" i="1" smtClean="0">
                                      <a:latin typeface="Cambria Math" panose="02040503050406030204" pitchFamily="18" charset="0"/>
                                      <a:sym typeface="Wingdings" pitchFamily="2" charset="2"/>
                                    </a:rPr>
                                    <m:t>𝑖</m:t>
                                  </m:r>
                                  <m:r>
                                    <a:rPr lang="en-US" altLang="zh-CN" sz="2000" i="1">
                                      <a:latin typeface="Cambria Math" panose="02040503050406030204" pitchFamily="18" charset="0"/>
                                      <a:sym typeface="Wingdings" pitchFamily="2" charset="2"/>
                                    </a:rPr>
                                    <m:t>)</m:t>
                                  </m:r>
                                </m:sup>
                              </m:sSup>
                              <m:r>
                                <a:rPr lang="en-US" altLang="zh-CN" sz="2000" i="1">
                                  <a:latin typeface="Cambria Math" panose="02040503050406030204" pitchFamily="18" charset="0"/>
                                </a:rPr>
                                <m:t>+</m:t>
                              </m:r>
                              <m:r>
                                <a:rPr lang="en-US" altLang="zh-CN" sz="2000" i="1">
                                  <a:latin typeface="Cambria Math" panose="02040503050406030204" pitchFamily="18" charset="0"/>
                                </a:rPr>
                                <m:t>𝑏</m:t>
                              </m:r>
                              <m:r>
                                <a:rPr lang="en-US" altLang="zh-CN" sz="2000" i="1">
                                  <a:latin typeface="Cambria Math" panose="02040503050406030204" pitchFamily="18" charset="0"/>
                                </a:rPr>
                                <m:t>)</m:t>
                              </m:r>
                            </m:sup>
                          </m:sSup>
                        </m:den>
                      </m:f>
                    </m:oMath>
                  </m:oMathPara>
                </a14:m>
                <a:endParaRPr lang="zh-CN" altLang="en-US" sz="2000" dirty="0"/>
              </a:p>
            </p:txBody>
          </p:sp>
        </mc:Choice>
        <mc:Fallback xmlns="">
          <p:sp>
            <p:nvSpPr>
              <p:cNvPr id="14" name="文本框 13">
                <a:extLst>
                  <a:ext uri="{FF2B5EF4-FFF2-40B4-BE49-F238E27FC236}">
                    <a16:creationId xmlns:a16="http://schemas.microsoft.com/office/drawing/2014/main" id="{19258A47-C0D6-3C3B-1332-84C3CF781E74}"/>
                  </a:ext>
                </a:extLst>
              </p:cNvPr>
              <p:cNvSpPr txBox="1">
                <a:spLocks noRot="1" noChangeAspect="1" noMove="1" noResize="1" noEditPoints="1" noAdjustHandles="1" noChangeArrowheads="1" noChangeShapeType="1" noTextEdit="1"/>
              </p:cNvSpPr>
              <p:nvPr/>
            </p:nvSpPr>
            <p:spPr>
              <a:xfrm>
                <a:off x="6506727" y="3841633"/>
                <a:ext cx="2789674" cy="714555"/>
              </a:xfrm>
              <a:prstGeom prst="rect">
                <a:avLst/>
              </a:prstGeom>
              <a:blipFill>
                <a:blip r:embed="rId5"/>
                <a:stretch>
                  <a:fillRect b="-5263"/>
                </a:stretch>
              </a:blipFill>
            </p:spPr>
            <p:txBody>
              <a:bodyPr/>
              <a:lstStyle/>
              <a:p>
                <a:r>
                  <a:rPr lang="zh-CN" altLang="en-US">
                    <a:noFill/>
                  </a:rPr>
                  <a:t> </a:t>
                </a:r>
              </a:p>
            </p:txBody>
          </p:sp>
        </mc:Fallback>
      </mc:AlternateContent>
      <p:cxnSp>
        <p:nvCxnSpPr>
          <p:cNvPr id="15" name="直接箭头连接符 7">
            <a:extLst>
              <a:ext uri="{FF2B5EF4-FFF2-40B4-BE49-F238E27FC236}">
                <a16:creationId xmlns:a16="http://schemas.microsoft.com/office/drawing/2014/main" id="{9B673EB5-9FA7-FCBB-CB47-32DC3E3614F7}"/>
              </a:ext>
            </a:extLst>
          </p:cNvPr>
          <p:cNvCxnSpPr>
            <a:cxnSpLocks/>
          </p:cNvCxnSpPr>
          <p:nvPr/>
        </p:nvCxnSpPr>
        <p:spPr>
          <a:xfrm flipH="1">
            <a:off x="4373217" y="5179917"/>
            <a:ext cx="19236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4AB6BFC5-3AC5-BC0C-9C01-311EE5113773}"/>
              </a:ext>
            </a:extLst>
          </p:cNvPr>
          <p:cNvSpPr txBox="1"/>
          <p:nvPr/>
        </p:nvSpPr>
        <p:spPr>
          <a:xfrm>
            <a:off x="6389657" y="4861806"/>
            <a:ext cx="1871189" cy="584775"/>
          </a:xfrm>
          <a:prstGeom prst="rect">
            <a:avLst/>
          </a:prstGeom>
          <a:noFill/>
        </p:spPr>
        <p:txBody>
          <a:bodyPr wrap="square" rtlCol="0">
            <a:spAutoFit/>
          </a:bodyPr>
          <a:lstStyle/>
          <a:p>
            <a:r>
              <a:rPr lang="zh-CN" altLang="en-US" sz="3200" b="1" dirty="0">
                <a:solidFill>
                  <a:srgbClr val="C00000"/>
                </a:solidFill>
              </a:rPr>
              <a:t>越小越好</a:t>
            </a:r>
          </a:p>
        </p:txBody>
      </p:sp>
    </p:spTree>
    <p:extLst>
      <p:ext uri="{BB962C8B-B14F-4D97-AF65-F5344CB8AC3E}">
        <p14:creationId xmlns:p14="http://schemas.microsoft.com/office/powerpoint/2010/main" val="4170187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b="1" dirty="0"/>
              <a:t>参数求解</a:t>
            </a:r>
          </a:p>
        </p:txBody>
      </p:sp>
      <mc:AlternateContent xmlns:mc="http://schemas.openxmlformats.org/markup-compatibility/2006" xmlns:a14="http://schemas.microsoft.com/office/drawing/2010/main">
        <mc:Choice Requires="a14">
          <p:sp>
            <p:nvSpPr>
              <p:cNvPr id="4" name="文本框 3"/>
              <p:cNvSpPr txBox="1"/>
              <p:nvPr/>
            </p:nvSpPr>
            <p:spPr>
              <a:xfrm>
                <a:off x="744718" y="1272618"/>
                <a:ext cx="8033633" cy="109889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b="1" i="1" smtClean="0">
                          <a:latin typeface="Cambria Math" panose="02040503050406030204" pitchFamily="18" charset="0"/>
                        </a:rPr>
                        <m:t>J</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𝜽</m:t>
                      </m:r>
                      <m:r>
                        <a:rPr lang="en-US" altLang="zh-CN" sz="2400" b="1" i="1" smtClean="0">
                          <a:latin typeface="Cambria Math" panose="02040503050406030204" pitchFamily="18" charset="0"/>
                        </a:rPr>
                        <m:t>)=</m:t>
                      </m:r>
                      <m:r>
                        <m:rPr>
                          <m:nor/>
                        </m:rPr>
                        <a:rPr lang="en-US" altLang="zh-CN" sz="2400" b="1" dirty="0"/>
                        <m:t>= </m:t>
                      </m:r>
                      <m:r>
                        <a:rPr lang="en-US" altLang="zh-CN" sz="2400" b="1" i="1" dirty="0">
                          <a:latin typeface="Cambria Math" panose="02040503050406030204" pitchFamily="18" charset="0"/>
                        </a:rPr>
                        <m:t>− </m:t>
                      </m:r>
                      <m:f>
                        <m:fPr>
                          <m:ctrlPr>
                            <a:rPr lang="en-US" altLang="zh-CN" sz="2400" b="1" i="1" dirty="0">
                              <a:latin typeface="Cambria Math" panose="02040503050406030204" pitchFamily="18" charset="0"/>
                            </a:rPr>
                          </m:ctrlPr>
                        </m:fPr>
                        <m:num>
                          <m:r>
                            <a:rPr lang="en-US" altLang="zh-CN" sz="2400" b="1" i="1" dirty="0">
                              <a:latin typeface="Cambria Math" panose="02040503050406030204" pitchFamily="18" charset="0"/>
                            </a:rPr>
                            <m:t>𝟏</m:t>
                          </m:r>
                        </m:num>
                        <m:den>
                          <m:r>
                            <a:rPr lang="en-US" altLang="zh-CN" sz="2400" b="1" i="1" dirty="0">
                              <a:latin typeface="Cambria Math" panose="02040503050406030204" pitchFamily="18" charset="0"/>
                            </a:rPr>
                            <m:t>𝒎</m:t>
                          </m:r>
                        </m:den>
                      </m:f>
                      <m:nary>
                        <m:naryPr>
                          <m:chr m:val="∑"/>
                          <m:ctrlPr>
                            <a:rPr lang="en-US" altLang="zh-CN" sz="2400" b="1" i="1" dirty="0">
                              <a:latin typeface="Cambria Math" panose="02040503050406030204" pitchFamily="18" charset="0"/>
                            </a:rPr>
                          </m:ctrlPr>
                        </m:naryPr>
                        <m:sub>
                          <m:r>
                            <m:rPr>
                              <m:brk m:alnAt="23"/>
                            </m:rPr>
                            <a:rPr lang="en-US" altLang="zh-CN" sz="2400" b="1" i="1" dirty="0">
                              <a:latin typeface="Cambria Math" panose="02040503050406030204" pitchFamily="18" charset="0"/>
                            </a:rPr>
                            <m:t>𝒊</m:t>
                          </m:r>
                          <m:r>
                            <a:rPr lang="en-US" altLang="zh-CN" sz="2400" b="1" i="1" dirty="0">
                              <a:latin typeface="Cambria Math" panose="02040503050406030204" pitchFamily="18" charset="0"/>
                            </a:rPr>
                            <m:t>=</m:t>
                          </m:r>
                          <m:r>
                            <a:rPr lang="en-US" altLang="zh-CN" sz="2400" b="1" i="1" dirty="0">
                              <a:latin typeface="Cambria Math" panose="02040503050406030204" pitchFamily="18" charset="0"/>
                            </a:rPr>
                            <m:t>𝟏</m:t>
                          </m:r>
                        </m:sub>
                        <m:sup>
                          <m:r>
                            <a:rPr lang="en-US" altLang="zh-CN" sz="2400" b="1" i="1" dirty="0">
                              <a:latin typeface="Cambria Math" panose="02040503050406030204" pitchFamily="18" charset="0"/>
                            </a:rPr>
                            <m:t>𝒎</m:t>
                          </m:r>
                        </m:sup>
                        <m:e>
                          <m:r>
                            <a:rPr lang="en-US" altLang="zh-CN" sz="2400" b="1" i="1" dirty="0">
                              <a:latin typeface="Cambria Math" panose="02040503050406030204" pitchFamily="18" charset="0"/>
                            </a:rPr>
                            <m:t>[</m:t>
                          </m:r>
                          <m:sSup>
                            <m:sSupPr>
                              <m:ctrlPr>
                                <a:rPr lang="en-US" altLang="zh-CN" sz="2400" b="1" i="1">
                                  <a:latin typeface="Cambria Math" panose="02040503050406030204" pitchFamily="18" charset="0"/>
                                  <a:sym typeface="Wingdings" pitchFamily="2" charset="2"/>
                                </a:rPr>
                              </m:ctrlPr>
                            </m:sSupPr>
                            <m:e>
                              <m:r>
                                <a:rPr lang="en-US" altLang="zh-CN" sz="2400" b="1" i="1">
                                  <a:latin typeface="Cambria Math" panose="02040503050406030204" pitchFamily="18" charset="0"/>
                                  <a:sym typeface="Wingdings" pitchFamily="2" charset="2"/>
                                </a:rPr>
                                <m:t>𝒚</m:t>
                              </m:r>
                            </m:e>
                            <m:sup>
                              <m:d>
                                <m:dPr>
                                  <m:ctrlPr>
                                    <a:rPr lang="en-US" altLang="zh-CN" sz="2400" b="1" i="1">
                                      <a:latin typeface="Cambria Math" panose="02040503050406030204" pitchFamily="18" charset="0"/>
                                      <a:sym typeface="Wingdings" pitchFamily="2" charset="2"/>
                                    </a:rPr>
                                  </m:ctrlPr>
                                </m:dPr>
                                <m:e>
                                  <m:r>
                                    <a:rPr lang="en-US" altLang="zh-CN" sz="2400" b="1" i="1">
                                      <a:latin typeface="Cambria Math" panose="02040503050406030204" pitchFamily="18" charset="0"/>
                                      <a:sym typeface="Wingdings" pitchFamily="2" charset="2"/>
                                    </a:rPr>
                                    <m:t>𝒊</m:t>
                                  </m:r>
                                </m:e>
                              </m:d>
                            </m:sup>
                          </m:sSup>
                          <m:r>
                            <a:rPr lang="en-US" altLang="zh-CN" sz="2400" b="1" i="1" dirty="0">
                              <a:latin typeface="Cambria Math" panose="02040503050406030204" pitchFamily="18" charset="0"/>
                            </a:rPr>
                            <m:t>𝒍𝒏</m:t>
                          </m:r>
                          <m:d>
                            <m:dPr>
                              <m:ctrlPr>
                                <a:rPr lang="en-US" altLang="zh-CN" sz="2400" b="1" i="1" dirty="0">
                                  <a:latin typeface="Cambria Math" panose="02040503050406030204" pitchFamily="18" charset="0"/>
                                </a:rPr>
                              </m:ctrlPr>
                            </m:dPr>
                            <m:e>
                              <m:sSup>
                                <m:sSupPr>
                                  <m:ctrlPr>
                                    <a:rPr lang="en-US" altLang="zh-CN" sz="2400" b="1" i="1" dirty="0">
                                      <a:latin typeface="Cambria Math" panose="02040503050406030204" pitchFamily="18" charset="0"/>
                                    </a:rPr>
                                  </m:ctrlPr>
                                </m:sSupPr>
                                <m:e>
                                  <m:acc>
                                    <m:accPr>
                                      <m:chr m:val="̂"/>
                                      <m:ctrlPr>
                                        <a:rPr lang="en-US" altLang="zh-CN" sz="2400" b="1" i="1" dirty="0">
                                          <a:latin typeface="Cambria Math" panose="02040503050406030204" pitchFamily="18" charset="0"/>
                                        </a:rPr>
                                      </m:ctrlPr>
                                    </m:accPr>
                                    <m:e>
                                      <m:r>
                                        <a:rPr lang="en-US" altLang="zh-CN" sz="2400" b="1" i="1" dirty="0">
                                          <a:latin typeface="Cambria Math" panose="02040503050406030204" pitchFamily="18" charset="0"/>
                                        </a:rPr>
                                        <m:t>𝒚</m:t>
                                      </m:r>
                                    </m:e>
                                  </m:acc>
                                </m:e>
                                <m:sup>
                                  <m:d>
                                    <m:dPr>
                                      <m:ctrlPr>
                                        <a:rPr lang="en-US" altLang="zh-CN" sz="2400" b="1" i="1" dirty="0">
                                          <a:latin typeface="Cambria Math" panose="02040503050406030204" pitchFamily="18" charset="0"/>
                                        </a:rPr>
                                      </m:ctrlPr>
                                    </m:dPr>
                                    <m:e>
                                      <m:r>
                                        <a:rPr lang="en-US" altLang="zh-CN" sz="2400" b="1" i="1" dirty="0">
                                          <a:latin typeface="Cambria Math" panose="02040503050406030204" pitchFamily="18" charset="0"/>
                                        </a:rPr>
                                        <m:t>𝒊</m:t>
                                      </m:r>
                                    </m:e>
                                  </m:d>
                                </m:sup>
                              </m:sSup>
                            </m:e>
                          </m:d>
                          <m:r>
                            <m:rPr>
                              <m:nor/>
                            </m:rPr>
                            <a:rPr lang="en-US" altLang="zh-CN" sz="2400" b="1" dirty="0"/>
                            <m:t> </m:t>
                          </m:r>
                          <m:r>
                            <a:rPr lang="en-US" altLang="zh-CN" sz="2400" b="1" i="1" dirty="0">
                              <a:latin typeface="Cambria Math" panose="02040503050406030204" pitchFamily="18" charset="0"/>
                            </a:rPr>
                            <m:t>+</m:t>
                          </m:r>
                          <m:r>
                            <a:rPr lang="zh-CN" altLang="en-US" sz="2400" b="1" i="1" dirty="0">
                              <a:latin typeface="Cambria Math" panose="02040503050406030204" pitchFamily="18" charset="0"/>
                            </a:rPr>
                            <m:t> </m:t>
                          </m:r>
                          <m:r>
                            <m:rPr>
                              <m:nor/>
                            </m:rPr>
                            <a:rPr lang="en-US" altLang="zh-CN" sz="2400" b="1" dirty="0"/>
                            <m:t>(1 </m:t>
                          </m:r>
                          <m:r>
                            <a:rPr lang="en-US" altLang="zh-CN" sz="2400" b="1" i="1" dirty="0">
                              <a:latin typeface="Cambria Math" panose="02040503050406030204" pitchFamily="18" charset="0"/>
                            </a:rPr>
                            <m:t>−</m:t>
                          </m:r>
                          <m:sSup>
                            <m:sSupPr>
                              <m:ctrlPr>
                                <a:rPr lang="en-US" altLang="zh-CN" sz="2400" b="1" i="1">
                                  <a:latin typeface="Cambria Math" panose="02040503050406030204" pitchFamily="18" charset="0"/>
                                  <a:sym typeface="Wingdings" pitchFamily="2" charset="2"/>
                                </a:rPr>
                              </m:ctrlPr>
                            </m:sSupPr>
                            <m:e>
                              <m:r>
                                <a:rPr lang="en-US" altLang="zh-CN" sz="2400" b="1" i="1">
                                  <a:latin typeface="Cambria Math" panose="02040503050406030204" pitchFamily="18" charset="0"/>
                                  <a:sym typeface="Wingdings" pitchFamily="2" charset="2"/>
                                </a:rPr>
                                <m:t>𝒚</m:t>
                              </m:r>
                            </m:e>
                            <m:sup>
                              <m:r>
                                <a:rPr lang="en-US" altLang="zh-CN" sz="2400" b="1" i="1">
                                  <a:latin typeface="Cambria Math" panose="02040503050406030204" pitchFamily="18" charset="0"/>
                                  <a:sym typeface="Wingdings" pitchFamily="2" charset="2"/>
                                </a:rPr>
                                <m:t>(</m:t>
                              </m:r>
                              <m:r>
                                <a:rPr lang="en-US" altLang="zh-CN" sz="2400" b="1" i="1">
                                  <a:latin typeface="Cambria Math" panose="02040503050406030204" pitchFamily="18" charset="0"/>
                                  <a:sym typeface="Wingdings" pitchFamily="2" charset="2"/>
                                </a:rPr>
                                <m:t>𝒊</m:t>
                              </m:r>
                              <m:r>
                                <a:rPr lang="en-US" altLang="zh-CN" sz="2400" b="1" i="1">
                                  <a:latin typeface="Cambria Math" panose="02040503050406030204" pitchFamily="18" charset="0"/>
                                  <a:sym typeface="Wingdings" pitchFamily="2" charset="2"/>
                                </a:rPr>
                                <m:t>)</m:t>
                              </m:r>
                            </m:sup>
                          </m:sSup>
                          <m:r>
                            <m:rPr>
                              <m:nor/>
                            </m:rPr>
                            <a:rPr lang="en-US" altLang="zh-CN" sz="2400" b="1" dirty="0"/>
                            <m:t>)</m:t>
                          </m:r>
                          <m:r>
                            <a:rPr lang="en-US" altLang="zh-CN" sz="2400" b="1" i="1" dirty="0">
                              <a:latin typeface="Cambria Math" panose="02040503050406030204" pitchFamily="18" charset="0"/>
                            </a:rPr>
                            <m:t>𝒍𝒏</m:t>
                          </m:r>
                          <m:d>
                            <m:dPr>
                              <m:ctrlPr>
                                <a:rPr lang="en-US" altLang="zh-CN" sz="2400" b="1" i="1" dirty="0">
                                  <a:latin typeface="Cambria Math" panose="02040503050406030204" pitchFamily="18" charset="0"/>
                                </a:rPr>
                              </m:ctrlPr>
                            </m:dPr>
                            <m:e>
                              <m:r>
                                <a:rPr lang="en-US" altLang="zh-CN" sz="2400" b="1" i="1" dirty="0">
                                  <a:latin typeface="Cambria Math" panose="02040503050406030204" pitchFamily="18" charset="0"/>
                                </a:rPr>
                                <m:t>𝟏</m:t>
                              </m:r>
                              <m:r>
                                <a:rPr lang="en-US" altLang="zh-CN" sz="2400" b="1" i="1" dirty="0">
                                  <a:latin typeface="Cambria Math" panose="02040503050406030204" pitchFamily="18" charset="0"/>
                                </a:rPr>
                                <m:t>−</m:t>
                              </m:r>
                              <m:sSup>
                                <m:sSupPr>
                                  <m:ctrlPr>
                                    <a:rPr lang="en-US" altLang="zh-CN" sz="2400" b="1" i="1" dirty="0">
                                      <a:latin typeface="Cambria Math" panose="02040503050406030204" pitchFamily="18" charset="0"/>
                                    </a:rPr>
                                  </m:ctrlPr>
                                </m:sSupPr>
                                <m:e>
                                  <m:acc>
                                    <m:accPr>
                                      <m:chr m:val="̂"/>
                                      <m:ctrlPr>
                                        <a:rPr lang="en-US" altLang="zh-CN" sz="2400" b="1" i="1" dirty="0">
                                          <a:latin typeface="Cambria Math" panose="02040503050406030204" pitchFamily="18" charset="0"/>
                                        </a:rPr>
                                      </m:ctrlPr>
                                    </m:accPr>
                                    <m:e>
                                      <m:r>
                                        <a:rPr lang="en-US" altLang="zh-CN" sz="2400" b="1" i="1" dirty="0">
                                          <a:latin typeface="Cambria Math" panose="02040503050406030204" pitchFamily="18" charset="0"/>
                                        </a:rPr>
                                        <m:t>𝒚</m:t>
                                      </m:r>
                                    </m:e>
                                  </m:acc>
                                </m:e>
                                <m:sup>
                                  <m:r>
                                    <a:rPr lang="en-US" altLang="zh-CN" sz="2400" b="1" i="1" dirty="0">
                                      <a:latin typeface="Cambria Math" panose="02040503050406030204" pitchFamily="18" charset="0"/>
                                    </a:rPr>
                                    <m:t>(</m:t>
                                  </m:r>
                                  <m:r>
                                    <a:rPr lang="en-US" altLang="zh-CN" sz="2400" b="1" i="1" dirty="0">
                                      <a:latin typeface="Cambria Math" panose="02040503050406030204" pitchFamily="18" charset="0"/>
                                    </a:rPr>
                                    <m:t>𝒊</m:t>
                                  </m:r>
                                  <m:r>
                                    <a:rPr lang="en-US" altLang="zh-CN" sz="2400" b="1" i="1" dirty="0">
                                      <a:latin typeface="Cambria Math" panose="02040503050406030204" pitchFamily="18" charset="0"/>
                                    </a:rPr>
                                    <m:t>)</m:t>
                                  </m:r>
                                </m:sup>
                              </m:sSup>
                            </m:e>
                          </m:d>
                          <m:r>
                            <a:rPr lang="en-US" altLang="zh-CN" sz="2400" b="1" i="1" dirty="0">
                              <a:latin typeface="Cambria Math" panose="02040503050406030204" pitchFamily="18" charset="0"/>
                            </a:rPr>
                            <m:t>]</m:t>
                          </m:r>
                        </m:e>
                      </m:nary>
                    </m:oMath>
                  </m:oMathPara>
                </a14:m>
                <a:endParaRPr lang="zh-CN" altLang="en-US" sz="2400" b="1" dirty="0"/>
              </a:p>
            </p:txBody>
          </p:sp>
        </mc:Choice>
        <mc:Fallback xmlns="">
          <p:sp>
            <p:nvSpPr>
              <p:cNvPr id="4" name="文本框 3"/>
              <p:cNvSpPr txBox="1">
                <a:spLocks noRot="1" noChangeAspect="1" noMove="1" noResize="1" noEditPoints="1" noAdjustHandles="1" noChangeArrowheads="1" noChangeShapeType="1" noTextEdit="1"/>
              </p:cNvSpPr>
              <p:nvPr/>
            </p:nvSpPr>
            <p:spPr>
              <a:xfrm>
                <a:off x="744718" y="1272618"/>
                <a:ext cx="8033633" cy="1098891"/>
              </a:xfrm>
              <a:prstGeom prst="rect">
                <a:avLst/>
              </a:prstGeom>
              <a:blipFill>
                <a:blip r:embed="rId3"/>
                <a:stretch>
                  <a:fillRect t="-104494" b="-159551"/>
                </a:stretch>
              </a:blipFill>
            </p:spPr>
            <p:txBody>
              <a:bodyPr/>
              <a:lstStyle/>
              <a:p>
                <a:r>
                  <a:rPr lang="zh-CN" altLang="en-US">
                    <a:noFill/>
                  </a:rPr>
                  <a:t> </a:t>
                </a:r>
              </a:p>
            </p:txBody>
          </p:sp>
        </mc:Fallback>
      </mc:AlternateContent>
      <p:cxnSp>
        <p:nvCxnSpPr>
          <p:cNvPr id="8" name="直接箭头连接符 7"/>
          <p:cNvCxnSpPr>
            <a:cxnSpLocks/>
            <a:stCxn id="9" idx="1"/>
          </p:cNvCxnSpPr>
          <p:nvPr/>
        </p:nvCxnSpPr>
        <p:spPr>
          <a:xfrm flipH="1" flipV="1">
            <a:off x="8647734" y="2371509"/>
            <a:ext cx="554688" cy="8092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9202422" y="2888360"/>
            <a:ext cx="1871189" cy="584775"/>
          </a:xfrm>
          <a:prstGeom prst="rect">
            <a:avLst/>
          </a:prstGeom>
          <a:noFill/>
        </p:spPr>
        <p:txBody>
          <a:bodyPr wrap="square" rtlCol="0">
            <a:spAutoFit/>
          </a:bodyPr>
          <a:lstStyle/>
          <a:p>
            <a:r>
              <a:rPr lang="zh-CN" altLang="en-US" sz="3200" b="1" dirty="0"/>
              <a:t>越小越好</a:t>
            </a:r>
          </a:p>
        </p:txBody>
      </p:sp>
      <p:sp>
        <p:nvSpPr>
          <p:cNvPr id="11" name="文本框 10">
            <a:extLst>
              <a:ext uri="{FF2B5EF4-FFF2-40B4-BE49-F238E27FC236}">
                <a16:creationId xmlns:a16="http://schemas.microsoft.com/office/drawing/2014/main" id="{2C019B56-7FBE-FCC5-0827-B972143F55D1}"/>
              </a:ext>
            </a:extLst>
          </p:cNvPr>
          <p:cNvSpPr txBox="1"/>
          <p:nvPr/>
        </p:nvSpPr>
        <p:spPr>
          <a:xfrm>
            <a:off x="616227" y="2719083"/>
            <a:ext cx="6135756" cy="461665"/>
          </a:xfrm>
          <a:prstGeom prst="rect">
            <a:avLst/>
          </a:prstGeom>
          <a:noFill/>
        </p:spPr>
        <p:txBody>
          <a:bodyPr wrap="square">
            <a:spAutoFit/>
          </a:bodyPr>
          <a:lstStyle/>
          <a:p>
            <a:r>
              <a:rPr lang="zh-CN" altLang="en-US" sz="2400" b="1" dirty="0"/>
              <a:t>梯度下降参数求解：</a:t>
            </a:r>
            <a:endParaRPr lang="zh-CN" altLang="en-US" sz="2400" dirty="0"/>
          </a:p>
        </p:txBody>
      </p:sp>
      <p:pic>
        <p:nvPicPr>
          <p:cNvPr id="12" name="图片 11">
            <a:extLst>
              <a:ext uri="{FF2B5EF4-FFF2-40B4-BE49-F238E27FC236}">
                <a16:creationId xmlns:a16="http://schemas.microsoft.com/office/drawing/2014/main" id="{F01578CA-483D-FFD6-EF4D-92E0BC6A4E3F}"/>
              </a:ext>
            </a:extLst>
          </p:cNvPr>
          <p:cNvPicPr>
            <a:picLocks noChangeAspect="1"/>
          </p:cNvPicPr>
          <p:nvPr/>
        </p:nvPicPr>
        <p:blipFill>
          <a:blip r:embed="rId4"/>
          <a:stretch>
            <a:fillRect/>
          </a:stretch>
        </p:blipFill>
        <p:spPr>
          <a:xfrm>
            <a:off x="875334" y="3353087"/>
            <a:ext cx="7772400" cy="3016155"/>
          </a:xfrm>
          <a:prstGeom prst="rect">
            <a:avLst/>
          </a:prstGeom>
        </p:spPr>
      </p:pic>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835D2963-17CE-0188-86A4-A0C5AE118E8F}"/>
                  </a:ext>
                </a:extLst>
              </p:cNvPr>
              <p:cNvSpPr txBox="1"/>
              <p:nvPr/>
            </p:nvSpPr>
            <p:spPr>
              <a:xfrm>
                <a:off x="5391741" y="5444304"/>
                <a:ext cx="1035563" cy="47699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2400" b="1" i="1" dirty="0" smtClean="0">
                              <a:solidFill>
                                <a:srgbClr val="FF0000"/>
                              </a:solidFill>
                              <a:latin typeface="Cambria Math" panose="02040503050406030204" pitchFamily="18" charset="0"/>
                            </a:rPr>
                          </m:ctrlPr>
                        </m:sSupPr>
                        <m:e>
                          <m:acc>
                            <m:accPr>
                              <m:chr m:val="̂"/>
                              <m:ctrlPr>
                                <a:rPr lang="en-US" altLang="zh-CN" sz="2400" b="1" i="1" dirty="0">
                                  <a:solidFill>
                                    <a:srgbClr val="FF0000"/>
                                  </a:solidFill>
                                  <a:latin typeface="Cambria Math" panose="02040503050406030204" pitchFamily="18" charset="0"/>
                                </a:rPr>
                              </m:ctrlPr>
                            </m:accPr>
                            <m:e>
                              <m:r>
                                <a:rPr lang="en-US" altLang="zh-CN" sz="2400" b="1" i="1" dirty="0">
                                  <a:solidFill>
                                    <a:srgbClr val="FF0000"/>
                                  </a:solidFill>
                                  <a:latin typeface="Cambria Math" panose="02040503050406030204" pitchFamily="18" charset="0"/>
                                </a:rPr>
                                <m:t>𝒚</m:t>
                              </m:r>
                            </m:e>
                          </m:acc>
                        </m:e>
                        <m:sup>
                          <m:r>
                            <a:rPr lang="en-US" altLang="zh-CN" sz="2400" b="1" i="1" dirty="0">
                              <a:solidFill>
                                <a:srgbClr val="FF0000"/>
                              </a:solidFill>
                              <a:latin typeface="Cambria Math" panose="02040503050406030204" pitchFamily="18" charset="0"/>
                            </a:rPr>
                            <m:t>(</m:t>
                          </m:r>
                          <m:r>
                            <a:rPr lang="en-US" altLang="zh-CN" sz="2400" b="1" i="1" dirty="0">
                              <a:solidFill>
                                <a:srgbClr val="FF0000"/>
                              </a:solidFill>
                              <a:latin typeface="Cambria Math" panose="02040503050406030204" pitchFamily="18" charset="0"/>
                            </a:rPr>
                            <m:t>𝒊</m:t>
                          </m:r>
                          <m:r>
                            <a:rPr lang="en-US" altLang="zh-CN" sz="2400" b="1" i="1" dirty="0">
                              <a:solidFill>
                                <a:srgbClr val="FF0000"/>
                              </a:solidFill>
                              <a:latin typeface="Cambria Math" panose="02040503050406030204" pitchFamily="18" charset="0"/>
                            </a:rPr>
                            <m:t>)</m:t>
                          </m:r>
                        </m:sup>
                      </m:sSup>
                    </m:oMath>
                  </m:oMathPara>
                </a14:m>
                <a:endParaRPr lang="zh-CN" altLang="en-US" sz="2400" dirty="0">
                  <a:solidFill>
                    <a:srgbClr val="FF0000"/>
                  </a:solidFill>
                </a:endParaRPr>
              </a:p>
            </p:txBody>
          </p:sp>
        </mc:Choice>
        <mc:Fallback xmlns="">
          <p:sp>
            <p:nvSpPr>
              <p:cNvPr id="14" name="文本框 13">
                <a:extLst>
                  <a:ext uri="{FF2B5EF4-FFF2-40B4-BE49-F238E27FC236}">
                    <a16:creationId xmlns:a16="http://schemas.microsoft.com/office/drawing/2014/main" id="{835D2963-17CE-0188-86A4-A0C5AE118E8F}"/>
                  </a:ext>
                </a:extLst>
              </p:cNvPr>
              <p:cNvSpPr txBox="1">
                <a:spLocks noRot="1" noChangeAspect="1" noMove="1" noResize="1" noEditPoints="1" noAdjustHandles="1" noChangeArrowheads="1" noChangeShapeType="1" noTextEdit="1"/>
              </p:cNvSpPr>
              <p:nvPr/>
            </p:nvSpPr>
            <p:spPr>
              <a:xfrm>
                <a:off x="5391741" y="5444304"/>
                <a:ext cx="1035563" cy="476990"/>
              </a:xfrm>
              <a:prstGeom prst="rect">
                <a:avLst/>
              </a:prstGeom>
              <a:blipFill>
                <a:blip r:embed="rId5"/>
                <a:stretch>
                  <a:fillRect b="-769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39541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b="1" dirty="0"/>
              <a:t>交叉熵损失（多分类任务）</a:t>
            </a:r>
          </a:p>
        </p:txBody>
      </p:sp>
      <p:sp>
        <p:nvSpPr>
          <p:cNvPr id="14" name="文本框 13">
            <a:extLst>
              <a:ext uri="{FF2B5EF4-FFF2-40B4-BE49-F238E27FC236}">
                <a16:creationId xmlns:a16="http://schemas.microsoft.com/office/drawing/2014/main" id="{83189B33-4B48-47C6-FEB4-D59BF7F38E18}"/>
              </a:ext>
            </a:extLst>
          </p:cNvPr>
          <p:cNvSpPr txBox="1"/>
          <p:nvPr/>
        </p:nvSpPr>
        <p:spPr>
          <a:xfrm>
            <a:off x="566804" y="4924157"/>
            <a:ext cx="7901333" cy="830997"/>
          </a:xfrm>
          <a:prstGeom prst="rect">
            <a:avLst/>
          </a:prstGeom>
          <a:noFill/>
        </p:spPr>
        <p:txBody>
          <a:bodyPr wrap="square">
            <a:spAutoFit/>
          </a:bodyPr>
          <a:lstStyle/>
          <a:p>
            <a:r>
              <a:rPr lang="zh-CN" altLang="en-US" sz="2400" b="1" dirty="0"/>
              <a:t>当类别数量为</a:t>
            </a:r>
            <a:r>
              <a:rPr lang="en-US" altLang="zh-CN" sz="2400" b="1" dirty="0"/>
              <a:t>2</a:t>
            </a:r>
            <a:r>
              <a:rPr lang="zh-CN" altLang="en-US" sz="2400" b="1" dirty="0"/>
              <a:t>时（二分类），就是逻辑回归损失函数：</a:t>
            </a:r>
            <a:endParaRPr lang="en-US" altLang="zh-CN" sz="2400" b="1" dirty="0"/>
          </a:p>
          <a:p>
            <a:endParaRPr lang="zh-CN" altLang="en-US" sz="2400" dirty="0"/>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59F29F4B-0D0F-501E-B2A4-151CBC101F15}"/>
                  </a:ext>
                </a:extLst>
              </p:cNvPr>
              <p:cNvSpPr txBox="1"/>
              <p:nvPr/>
            </p:nvSpPr>
            <p:spPr>
              <a:xfrm>
                <a:off x="841511" y="5688884"/>
                <a:ext cx="7901333" cy="10988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dirty="0" smtClean="0">
                          <a:latin typeface="Cambria Math" panose="02040503050406030204" pitchFamily="18" charset="0"/>
                        </a:rPr>
                        <m:t>𝑳</m:t>
                      </m:r>
                      <m:r>
                        <a:rPr lang="en-US" altLang="zh-CN" sz="2400" b="1" i="1" dirty="0" smtClean="0">
                          <a:latin typeface="Cambria Math" panose="02040503050406030204" pitchFamily="18" charset="0"/>
                        </a:rPr>
                        <m:t>(</m:t>
                      </m:r>
                      <m:acc>
                        <m:accPr>
                          <m:chr m:val="̂"/>
                          <m:ctrlPr>
                            <a:rPr lang="en-US" altLang="zh-CN" sz="2400" b="1" i="1" dirty="0">
                              <a:latin typeface="Cambria Math" panose="02040503050406030204" pitchFamily="18" charset="0"/>
                            </a:rPr>
                          </m:ctrlPr>
                        </m:accPr>
                        <m:e>
                          <m:r>
                            <a:rPr lang="en-US" altLang="zh-CN" sz="2400" b="1" i="1" dirty="0">
                              <a:latin typeface="Cambria Math" panose="02040503050406030204" pitchFamily="18" charset="0"/>
                            </a:rPr>
                            <m:t>𝒚</m:t>
                          </m:r>
                        </m:e>
                      </m:acc>
                      <m:r>
                        <a:rPr lang="en-US" altLang="zh-CN" sz="2400" b="1" i="0" smtClean="0">
                          <a:latin typeface="Cambria Math" panose="02040503050406030204" pitchFamily="18" charset="0"/>
                        </a:rPr>
                        <m:t>,</m:t>
                      </m:r>
                      <m:r>
                        <a:rPr lang="en-US" altLang="zh-CN" sz="2400" b="1" i="0" smtClean="0">
                          <a:latin typeface="Cambria Math" panose="02040503050406030204" pitchFamily="18" charset="0"/>
                        </a:rPr>
                        <m:t>𝐲</m:t>
                      </m:r>
                      <m:r>
                        <a:rPr lang="en-US" altLang="zh-CN" sz="2400" b="1" i="1" dirty="0" smtClean="0">
                          <a:latin typeface="Cambria Math" panose="02040503050406030204" pitchFamily="18" charset="0"/>
                        </a:rPr>
                        <m:t>)=</m:t>
                      </m:r>
                      <m:r>
                        <a:rPr lang="en-US" altLang="zh-CN" sz="2400" b="1" i="1" dirty="0">
                          <a:latin typeface="Cambria Math" panose="02040503050406030204" pitchFamily="18" charset="0"/>
                        </a:rPr>
                        <m:t>− </m:t>
                      </m:r>
                      <m:f>
                        <m:fPr>
                          <m:ctrlPr>
                            <a:rPr lang="en-US" altLang="zh-CN" sz="2400" b="1" i="1" dirty="0">
                              <a:latin typeface="Cambria Math" panose="02040503050406030204" pitchFamily="18" charset="0"/>
                            </a:rPr>
                          </m:ctrlPr>
                        </m:fPr>
                        <m:num>
                          <m:r>
                            <a:rPr lang="en-US" altLang="zh-CN" sz="2400" b="1" i="1" dirty="0">
                              <a:latin typeface="Cambria Math" panose="02040503050406030204" pitchFamily="18" charset="0"/>
                            </a:rPr>
                            <m:t>𝟏</m:t>
                          </m:r>
                        </m:num>
                        <m:den>
                          <m:r>
                            <a:rPr lang="en-US" altLang="zh-CN" sz="2400" b="1" i="1" dirty="0">
                              <a:latin typeface="Cambria Math" panose="02040503050406030204" pitchFamily="18" charset="0"/>
                            </a:rPr>
                            <m:t>𝒏</m:t>
                          </m:r>
                        </m:den>
                      </m:f>
                      <m:nary>
                        <m:naryPr>
                          <m:chr m:val="∑"/>
                          <m:ctrlPr>
                            <a:rPr lang="en-US" altLang="zh-CN" sz="2400" b="1" i="1" dirty="0">
                              <a:latin typeface="Cambria Math" panose="02040503050406030204" pitchFamily="18" charset="0"/>
                            </a:rPr>
                          </m:ctrlPr>
                        </m:naryPr>
                        <m:sub>
                          <m:r>
                            <m:rPr>
                              <m:brk m:alnAt="23"/>
                            </m:rPr>
                            <a:rPr lang="en-US" altLang="zh-CN" sz="2400" b="1" i="1" dirty="0">
                              <a:latin typeface="Cambria Math" panose="02040503050406030204" pitchFamily="18" charset="0"/>
                            </a:rPr>
                            <m:t>𝒊</m:t>
                          </m:r>
                          <m:r>
                            <a:rPr lang="en-US" altLang="zh-CN" sz="2400" b="1" i="1" dirty="0">
                              <a:latin typeface="Cambria Math" panose="02040503050406030204" pitchFamily="18" charset="0"/>
                            </a:rPr>
                            <m:t>=</m:t>
                          </m:r>
                          <m:r>
                            <a:rPr lang="en-US" altLang="zh-CN" sz="2400" b="1" i="1" dirty="0">
                              <a:latin typeface="Cambria Math" panose="02040503050406030204" pitchFamily="18" charset="0"/>
                            </a:rPr>
                            <m:t>𝟏</m:t>
                          </m:r>
                        </m:sub>
                        <m:sup>
                          <m:r>
                            <a:rPr lang="en-US" altLang="zh-CN" sz="2400" b="1" i="1" dirty="0">
                              <a:latin typeface="Cambria Math" panose="02040503050406030204" pitchFamily="18" charset="0"/>
                            </a:rPr>
                            <m:t>𝒏</m:t>
                          </m:r>
                        </m:sup>
                        <m:e>
                          <m:r>
                            <a:rPr lang="en-US" altLang="zh-CN" sz="2400" b="1" i="1" dirty="0">
                              <a:latin typeface="Cambria Math" panose="02040503050406030204" pitchFamily="18" charset="0"/>
                            </a:rPr>
                            <m:t>[</m:t>
                          </m:r>
                          <m:sSup>
                            <m:sSupPr>
                              <m:ctrlPr>
                                <a:rPr lang="en-US" altLang="zh-CN" sz="2400" b="1" i="1">
                                  <a:latin typeface="Cambria Math" panose="02040503050406030204" pitchFamily="18" charset="0"/>
                                  <a:sym typeface="Wingdings" pitchFamily="2" charset="2"/>
                                </a:rPr>
                              </m:ctrlPr>
                            </m:sSupPr>
                            <m:e>
                              <m:r>
                                <a:rPr lang="en-US" altLang="zh-CN" sz="2400" b="1" i="1">
                                  <a:latin typeface="Cambria Math" panose="02040503050406030204" pitchFamily="18" charset="0"/>
                                  <a:sym typeface="Wingdings" pitchFamily="2" charset="2"/>
                                </a:rPr>
                                <m:t>𝒚</m:t>
                              </m:r>
                            </m:e>
                            <m:sup>
                              <m:d>
                                <m:dPr>
                                  <m:ctrlPr>
                                    <a:rPr lang="en-US" altLang="zh-CN" sz="2400" b="1" i="1">
                                      <a:latin typeface="Cambria Math" panose="02040503050406030204" pitchFamily="18" charset="0"/>
                                      <a:sym typeface="Wingdings" pitchFamily="2" charset="2"/>
                                    </a:rPr>
                                  </m:ctrlPr>
                                </m:dPr>
                                <m:e>
                                  <m:r>
                                    <a:rPr lang="en-US" altLang="zh-CN" sz="2400" b="1" i="1">
                                      <a:latin typeface="Cambria Math" panose="02040503050406030204" pitchFamily="18" charset="0"/>
                                      <a:sym typeface="Wingdings" pitchFamily="2" charset="2"/>
                                    </a:rPr>
                                    <m:t>𝒊</m:t>
                                  </m:r>
                                </m:e>
                              </m:d>
                            </m:sup>
                          </m:sSup>
                          <m:r>
                            <a:rPr lang="en-US" altLang="zh-CN" sz="2400" b="1" i="1" dirty="0">
                              <a:latin typeface="Cambria Math" panose="02040503050406030204" pitchFamily="18" charset="0"/>
                            </a:rPr>
                            <m:t>𝒍𝒏</m:t>
                          </m:r>
                          <m:d>
                            <m:dPr>
                              <m:ctrlPr>
                                <a:rPr lang="en-US" altLang="zh-CN" sz="2400" b="1" i="1" dirty="0">
                                  <a:latin typeface="Cambria Math" panose="02040503050406030204" pitchFamily="18" charset="0"/>
                                </a:rPr>
                              </m:ctrlPr>
                            </m:dPr>
                            <m:e>
                              <m:sSup>
                                <m:sSupPr>
                                  <m:ctrlPr>
                                    <a:rPr lang="en-US" altLang="zh-CN" sz="2400" b="1" i="1" dirty="0">
                                      <a:latin typeface="Cambria Math" panose="02040503050406030204" pitchFamily="18" charset="0"/>
                                    </a:rPr>
                                  </m:ctrlPr>
                                </m:sSupPr>
                                <m:e>
                                  <m:acc>
                                    <m:accPr>
                                      <m:chr m:val="̂"/>
                                      <m:ctrlPr>
                                        <a:rPr lang="en-US" altLang="zh-CN" sz="2400" b="1" i="1" dirty="0">
                                          <a:latin typeface="Cambria Math" panose="02040503050406030204" pitchFamily="18" charset="0"/>
                                        </a:rPr>
                                      </m:ctrlPr>
                                    </m:accPr>
                                    <m:e>
                                      <m:r>
                                        <a:rPr lang="en-US" altLang="zh-CN" sz="2400" b="1" i="1" dirty="0">
                                          <a:latin typeface="Cambria Math" panose="02040503050406030204" pitchFamily="18" charset="0"/>
                                        </a:rPr>
                                        <m:t>𝒚</m:t>
                                      </m:r>
                                    </m:e>
                                  </m:acc>
                                </m:e>
                                <m:sup>
                                  <m:d>
                                    <m:dPr>
                                      <m:ctrlPr>
                                        <a:rPr lang="en-US" altLang="zh-CN" sz="2400" b="1" i="1" dirty="0">
                                          <a:latin typeface="Cambria Math" panose="02040503050406030204" pitchFamily="18" charset="0"/>
                                        </a:rPr>
                                      </m:ctrlPr>
                                    </m:dPr>
                                    <m:e>
                                      <m:r>
                                        <a:rPr lang="en-US" altLang="zh-CN" sz="2400" b="1" i="1" dirty="0">
                                          <a:latin typeface="Cambria Math" panose="02040503050406030204" pitchFamily="18" charset="0"/>
                                        </a:rPr>
                                        <m:t>𝒊</m:t>
                                      </m:r>
                                    </m:e>
                                  </m:d>
                                </m:sup>
                              </m:sSup>
                            </m:e>
                          </m:d>
                          <m:r>
                            <m:rPr>
                              <m:nor/>
                            </m:rPr>
                            <a:rPr lang="en-US" altLang="zh-CN" sz="2400" b="1" dirty="0"/>
                            <m:t> </m:t>
                          </m:r>
                          <m:r>
                            <a:rPr lang="en-US" altLang="zh-CN" sz="2400" b="1" i="1" dirty="0">
                              <a:latin typeface="Cambria Math" panose="02040503050406030204" pitchFamily="18" charset="0"/>
                            </a:rPr>
                            <m:t>+</m:t>
                          </m:r>
                          <m:r>
                            <a:rPr lang="zh-CN" altLang="en-US" sz="2400" b="1" i="1" dirty="0">
                              <a:latin typeface="Cambria Math" panose="02040503050406030204" pitchFamily="18" charset="0"/>
                            </a:rPr>
                            <m:t> </m:t>
                          </m:r>
                          <m:r>
                            <m:rPr>
                              <m:nor/>
                            </m:rPr>
                            <a:rPr lang="en-US" altLang="zh-CN" sz="2400" b="1" dirty="0"/>
                            <m:t>(1 </m:t>
                          </m:r>
                          <m:r>
                            <a:rPr lang="en-US" altLang="zh-CN" sz="2400" b="1" i="1" dirty="0">
                              <a:latin typeface="Cambria Math" panose="02040503050406030204" pitchFamily="18" charset="0"/>
                            </a:rPr>
                            <m:t>−</m:t>
                          </m:r>
                          <m:sSup>
                            <m:sSupPr>
                              <m:ctrlPr>
                                <a:rPr lang="en-US" altLang="zh-CN" sz="2400" b="1" i="1">
                                  <a:latin typeface="Cambria Math" panose="02040503050406030204" pitchFamily="18" charset="0"/>
                                  <a:sym typeface="Wingdings" pitchFamily="2" charset="2"/>
                                </a:rPr>
                              </m:ctrlPr>
                            </m:sSupPr>
                            <m:e>
                              <m:r>
                                <a:rPr lang="en-US" altLang="zh-CN" sz="2400" b="1" i="1">
                                  <a:latin typeface="Cambria Math" panose="02040503050406030204" pitchFamily="18" charset="0"/>
                                  <a:sym typeface="Wingdings" pitchFamily="2" charset="2"/>
                                </a:rPr>
                                <m:t>𝒚</m:t>
                              </m:r>
                            </m:e>
                            <m:sup>
                              <m:r>
                                <a:rPr lang="en-US" altLang="zh-CN" sz="2400" b="1" i="1">
                                  <a:latin typeface="Cambria Math" panose="02040503050406030204" pitchFamily="18" charset="0"/>
                                  <a:sym typeface="Wingdings" pitchFamily="2" charset="2"/>
                                </a:rPr>
                                <m:t>(</m:t>
                              </m:r>
                              <m:r>
                                <a:rPr lang="en-US" altLang="zh-CN" sz="2400" b="1" i="1">
                                  <a:latin typeface="Cambria Math" panose="02040503050406030204" pitchFamily="18" charset="0"/>
                                  <a:sym typeface="Wingdings" pitchFamily="2" charset="2"/>
                                </a:rPr>
                                <m:t>𝒊</m:t>
                              </m:r>
                              <m:r>
                                <a:rPr lang="en-US" altLang="zh-CN" sz="2400" b="1" i="1">
                                  <a:latin typeface="Cambria Math" panose="02040503050406030204" pitchFamily="18" charset="0"/>
                                  <a:sym typeface="Wingdings" pitchFamily="2" charset="2"/>
                                </a:rPr>
                                <m:t>)</m:t>
                              </m:r>
                            </m:sup>
                          </m:sSup>
                          <m:r>
                            <m:rPr>
                              <m:nor/>
                            </m:rPr>
                            <a:rPr lang="en-US" altLang="zh-CN" sz="2400" b="1" dirty="0"/>
                            <m:t>)</m:t>
                          </m:r>
                          <m:r>
                            <a:rPr lang="en-US" altLang="zh-CN" sz="2400" b="1" i="1" dirty="0">
                              <a:latin typeface="Cambria Math" panose="02040503050406030204" pitchFamily="18" charset="0"/>
                            </a:rPr>
                            <m:t>𝒍𝒏</m:t>
                          </m:r>
                          <m:d>
                            <m:dPr>
                              <m:ctrlPr>
                                <a:rPr lang="en-US" altLang="zh-CN" sz="2400" b="1" i="1" dirty="0">
                                  <a:latin typeface="Cambria Math" panose="02040503050406030204" pitchFamily="18" charset="0"/>
                                </a:rPr>
                              </m:ctrlPr>
                            </m:dPr>
                            <m:e>
                              <m:r>
                                <a:rPr lang="en-US" altLang="zh-CN" sz="2400" b="1" i="1" dirty="0">
                                  <a:latin typeface="Cambria Math" panose="02040503050406030204" pitchFamily="18" charset="0"/>
                                </a:rPr>
                                <m:t>𝟏</m:t>
                              </m:r>
                              <m:r>
                                <a:rPr lang="en-US" altLang="zh-CN" sz="2400" b="1" i="1" dirty="0">
                                  <a:latin typeface="Cambria Math" panose="02040503050406030204" pitchFamily="18" charset="0"/>
                                </a:rPr>
                                <m:t>−</m:t>
                              </m:r>
                              <m:sSup>
                                <m:sSupPr>
                                  <m:ctrlPr>
                                    <a:rPr lang="en-US" altLang="zh-CN" sz="2400" b="1" i="1" dirty="0">
                                      <a:latin typeface="Cambria Math" panose="02040503050406030204" pitchFamily="18" charset="0"/>
                                    </a:rPr>
                                  </m:ctrlPr>
                                </m:sSupPr>
                                <m:e>
                                  <m:acc>
                                    <m:accPr>
                                      <m:chr m:val="̂"/>
                                      <m:ctrlPr>
                                        <a:rPr lang="en-US" altLang="zh-CN" sz="2400" b="1" i="1" dirty="0">
                                          <a:latin typeface="Cambria Math" panose="02040503050406030204" pitchFamily="18" charset="0"/>
                                        </a:rPr>
                                      </m:ctrlPr>
                                    </m:accPr>
                                    <m:e>
                                      <m:r>
                                        <a:rPr lang="en-US" altLang="zh-CN" sz="2400" b="1" i="1" dirty="0">
                                          <a:latin typeface="Cambria Math" panose="02040503050406030204" pitchFamily="18" charset="0"/>
                                        </a:rPr>
                                        <m:t>𝒚</m:t>
                                      </m:r>
                                    </m:e>
                                  </m:acc>
                                </m:e>
                                <m:sup>
                                  <m:r>
                                    <a:rPr lang="en-US" altLang="zh-CN" sz="2400" b="1" i="1" dirty="0">
                                      <a:latin typeface="Cambria Math" panose="02040503050406030204" pitchFamily="18" charset="0"/>
                                    </a:rPr>
                                    <m:t>(</m:t>
                                  </m:r>
                                  <m:r>
                                    <a:rPr lang="en-US" altLang="zh-CN" sz="2400" b="1" i="1" dirty="0">
                                      <a:latin typeface="Cambria Math" panose="02040503050406030204" pitchFamily="18" charset="0"/>
                                    </a:rPr>
                                    <m:t>𝒊</m:t>
                                  </m:r>
                                  <m:r>
                                    <a:rPr lang="en-US" altLang="zh-CN" sz="2400" b="1" i="1" dirty="0">
                                      <a:latin typeface="Cambria Math" panose="02040503050406030204" pitchFamily="18" charset="0"/>
                                    </a:rPr>
                                    <m:t>)</m:t>
                                  </m:r>
                                </m:sup>
                              </m:sSup>
                            </m:e>
                          </m:d>
                          <m:r>
                            <a:rPr lang="en-US" altLang="zh-CN" sz="2400" b="1" i="1" dirty="0">
                              <a:latin typeface="Cambria Math" panose="02040503050406030204" pitchFamily="18" charset="0"/>
                            </a:rPr>
                            <m:t>]</m:t>
                          </m:r>
                        </m:e>
                      </m:nary>
                    </m:oMath>
                  </m:oMathPara>
                </a14:m>
                <a:endParaRPr lang="zh-CN" altLang="en-US" sz="2400" dirty="0"/>
              </a:p>
            </p:txBody>
          </p:sp>
        </mc:Choice>
        <mc:Fallback xmlns="">
          <p:sp>
            <p:nvSpPr>
              <p:cNvPr id="16" name="文本框 15">
                <a:extLst>
                  <a:ext uri="{FF2B5EF4-FFF2-40B4-BE49-F238E27FC236}">
                    <a16:creationId xmlns:a16="http://schemas.microsoft.com/office/drawing/2014/main" id="{59F29F4B-0D0F-501E-B2A4-151CBC101F15}"/>
                  </a:ext>
                </a:extLst>
              </p:cNvPr>
              <p:cNvSpPr txBox="1">
                <a:spLocks noRot="1" noChangeAspect="1" noMove="1" noResize="1" noEditPoints="1" noAdjustHandles="1" noChangeArrowheads="1" noChangeShapeType="1" noTextEdit="1"/>
              </p:cNvSpPr>
              <p:nvPr/>
            </p:nvSpPr>
            <p:spPr>
              <a:xfrm>
                <a:off x="841511" y="5688884"/>
                <a:ext cx="7901333" cy="1098891"/>
              </a:xfrm>
              <a:prstGeom prst="rect">
                <a:avLst/>
              </a:prstGeom>
              <a:blipFill>
                <a:blip r:embed="rId2"/>
                <a:stretch>
                  <a:fillRect t="-105682" b="-161364"/>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11F856E1-5D95-3E9D-5D29-13EF738983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269" y="1677187"/>
            <a:ext cx="7551531" cy="3139556"/>
          </a:xfrm>
          <a:prstGeom prst="rect">
            <a:avLst/>
          </a:prstGeom>
        </p:spPr>
      </p:pic>
      <p:sp>
        <p:nvSpPr>
          <p:cNvPr id="18" name="文本框 17">
            <a:extLst>
              <a:ext uri="{FF2B5EF4-FFF2-40B4-BE49-F238E27FC236}">
                <a16:creationId xmlns:a16="http://schemas.microsoft.com/office/drawing/2014/main" id="{72FFBB97-258C-8BED-E0F9-2D020F87DADA}"/>
              </a:ext>
            </a:extLst>
          </p:cNvPr>
          <p:cNvSpPr txBox="1"/>
          <p:nvPr/>
        </p:nvSpPr>
        <p:spPr>
          <a:xfrm>
            <a:off x="841511" y="1242818"/>
            <a:ext cx="6135756" cy="461665"/>
          </a:xfrm>
          <a:prstGeom prst="rect">
            <a:avLst/>
          </a:prstGeom>
          <a:noFill/>
        </p:spPr>
        <p:txBody>
          <a:bodyPr wrap="square">
            <a:spAutoFit/>
          </a:bodyPr>
          <a:lstStyle/>
          <a:p>
            <a:r>
              <a:rPr lang="zh-CN" altLang="en-US" sz="2400" b="1" dirty="0"/>
              <a:t>交叉熵损失函数：</a:t>
            </a:r>
            <a:endParaRPr lang="zh-CN" altLang="en-US" sz="2400" dirty="0"/>
          </a:p>
        </p:txBody>
      </p:sp>
    </p:spTree>
    <p:extLst>
      <p:ext uri="{BB962C8B-B14F-4D97-AF65-F5344CB8AC3E}">
        <p14:creationId xmlns:p14="http://schemas.microsoft.com/office/powerpoint/2010/main" val="374559991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6656</TotalTime>
  <Words>643</Words>
  <Application>Microsoft Macintosh PowerPoint</Application>
  <PresentationFormat>宽屏</PresentationFormat>
  <Paragraphs>116</Paragraphs>
  <Slides>11</Slides>
  <Notes>5</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11</vt:i4>
      </vt:variant>
    </vt:vector>
  </HeadingPairs>
  <TitlesOfParts>
    <vt:vector size="23" baseType="lpstr">
      <vt:lpstr>-apple-system</vt:lpstr>
      <vt:lpstr>等线</vt:lpstr>
      <vt:lpstr>等线 Light</vt:lpstr>
      <vt:lpstr>微软雅黑</vt:lpstr>
      <vt:lpstr>PingFang-SC-Regular</vt:lpstr>
      <vt:lpstr>Arial</vt:lpstr>
      <vt:lpstr>Calibri</vt:lpstr>
      <vt:lpstr>Cambria Math</vt:lpstr>
      <vt:lpstr>Times New Roman</vt:lpstr>
      <vt:lpstr>Wingdings</vt:lpstr>
      <vt:lpstr>Office 主题​​</vt:lpstr>
      <vt:lpstr>公式</vt:lpstr>
      <vt:lpstr>PowerPoint 演示文稿</vt:lpstr>
      <vt:lpstr>Part One 模型设计</vt:lpstr>
      <vt:lpstr>案例引入</vt:lpstr>
      <vt:lpstr>线性回归-分类</vt:lpstr>
      <vt:lpstr>逻辑回归</vt:lpstr>
      <vt:lpstr>逻辑回归函数</vt:lpstr>
      <vt:lpstr>Part Two 模型求解</vt:lpstr>
      <vt:lpstr>损失函数</vt:lpstr>
      <vt:lpstr>目标函数</vt:lpstr>
      <vt:lpstr>参数求解</vt:lpstr>
      <vt:lpstr>交叉熵损失（多分类任务）</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说课 ——《动力工程测控技术》</dc:title>
  <dc:creator>陈 冰虹</dc:creator>
  <cp:lastModifiedBy>Microsoft Office User</cp:lastModifiedBy>
  <cp:revision>744</cp:revision>
  <dcterms:created xsi:type="dcterms:W3CDTF">2021-11-17T13:21:01Z</dcterms:created>
  <dcterms:modified xsi:type="dcterms:W3CDTF">2025-07-26T13:58:55Z</dcterms:modified>
</cp:coreProperties>
</file>
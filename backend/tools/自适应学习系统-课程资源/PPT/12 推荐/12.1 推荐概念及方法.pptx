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73" r:id="rId3"/>
    <p:sldId id="274" r:id="rId4"/>
    <p:sldId id="275" r:id="rId5"/>
    <p:sldId id="276" r:id="rId6"/>
    <p:sldId id="277" r:id="rId7"/>
    <p:sldId id="278" r:id="rId8"/>
    <p:sldId id="279" r:id="rId9"/>
    <p:sldId id="280" r:id="rId10"/>
    <p:sldId id="281" r:id="rId11"/>
    <p:sldId id="282" r:id="rId12"/>
    <p:sldId id="382" r:id="rId13"/>
    <p:sldId id="383" r:id="rId14"/>
    <p:sldId id="384" r:id="rId15"/>
    <p:sldId id="385" r:id="rId16"/>
    <p:sldId id="386"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419B"/>
    <a:srgbClr val="116A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794" autoAdjust="0"/>
    <p:restoredTop sz="94660"/>
  </p:normalViewPr>
  <p:slideViewPr>
    <p:cSldViewPr snapToGrid="0" showGuides="1">
      <p:cViewPr varScale="1">
        <p:scale>
          <a:sx n="105" d="100"/>
          <a:sy n="105" d="100"/>
        </p:scale>
        <p:origin x="200" y="656"/>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34611B-D63D-4827-9508-62293A02981D}" type="datetimeFigureOut">
              <a:rPr lang="zh-CN" altLang="en-US" smtClean="0"/>
              <a:t>2025/7/26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FB7F5E-4F88-4111-B208-2F260B30BFD4}" type="slidenum">
              <a:rPr lang="zh-CN" altLang="en-US" smtClean="0"/>
              <a:t>‹#›</a:t>
            </a:fld>
            <a:endParaRPr lang="zh-CN" altLang="en-US"/>
          </a:p>
        </p:txBody>
      </p:sp>
    </p:spTree>
    <p:extLst>
      <p:ext uri="{BB962C8B-B14F-4D97-AF65-F5344CB8AC3E}">
        <p14:creationId xmlns:p14="http://schemas.microsoft.com/office/powerpoint/2010/main" val="2588663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9118720A-802B-4124-A8FE-D6F5FDE41EA1}"/>
              </a:ext>
            </a:extLst>
          </p:cNvPr>
          <p:cNvSpPr>
            <a:spLocks noGrp="1"/>
          </p:cNvSpPr>
          <p:nvPr>
            <p:ph type="sldNum" sz="quarter" idx="12"/>
          </p:nvPr>
        </p:nvSpPr>
        <p:spPr/>
        <p:txBody>
          <a:bodyPr/>
          <a:lstStyle/>
          <a:p>
            <a:fld id="{292A5E09-60C7-49E8-A9DF-8D1D9F6D10CD}" type="slidenum">
              <a:rPr lang="zh-CN" altLang="en-US" smtClean="0"/>
              <a:t>‹#›</a:t>
            </a:fld>
            <a:endParaRPr lang="zh-CN" altLang="en-US"/>
          </a:p>
        </p:txBody>
      </p:sp>
      <p:cxnSp>
        <p:nvCxnSpPr>
          <p:cNvPr id="5" name="直接连接符 4">
            <a:extLst>
              <a:ext uri="{FF2B5EF4-FFF2-40B4-BE49-F238E27FC236}">
                <a16:creationId xmlns:a16="http://schemas.microsoft.com/office/drawing/2014/main" id="{C1B39824-60B1-4087-9654-852D1F012284}"/>
              </a:ext>
            </a:extLst>
          </p:cNvPr>
          <p:cNvCxnSpPr>
            <a:cxnSpLocks/>
          </p:cNvCxnSpPr>
          <p:nvPr userDrawn="1"/>
        </p:nvCxnSpPr>
        <p:spPr>
          <a:xfrm>
            <a:off x="0" y="829334"/>
            <a:ext cx="9525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980355FC-FEB3-439F-8098-5C06013AAE42}"/>
              </a:ext>
            </a:extLst>
          </p:cNvPr>
          <p:cNvSpPr/>
          <p:nvPr userDrawn="1"/>
        </p:nvSpPr>
        <p:spPr>
          <a:xfrm>
            <a:off x="0" y="829334"/>
            <a:ext cx="1028700" cy="275566"/>
          </a:xfrm>
          <a:prstGeom prst="rect">
            <a:avLst/>
          </a:prstGeom>
          <a:solidFill>
            <a:srgbClr val="0B419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占位符 1">
            <a:extLst>
              <a:ext uri="{FF2B5EF4-FFF2-40B4-BE49-F238E27FC236}">
                <a16:creationId xmlns:a16="http://schemas.microsoft.com/office/drawing/2014/main" id="{E097D3BA-A3ED-4163-977C-3D2326AEAF0A}"/>
              </a:ext>
            </a:extLst>
          </p:cNvPr>
          <p:cNvSpPr>
            <a:spLocks noGrp="1"/>
          </p:cNvSpPr>
          <p:nvPr>
            <p:ph type="title"/>
          </p:nvPr>
        </p:nvSpPr>
        <p:spPr>
          <a:xfrm>
            <a:off x="133941" y="110649"/>
            <a:ext cx="10515600" cy="570979"/>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2227705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A50960-1701-48AC-A59F-767B6056322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C5D7F4C-19FA-4DBB-8E0E-50D86708BE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3CEF640-BE20-4B67-A136-5F55CD33FFA3}"/>
              </a:ext>
            </a:extLst>
          </p:cNvPr>
          <p:cNvSpPr>
            <a:spLocks noGrp="1"/>
          </p:cNvSpPr>
          <p:nvPr>
            <p:ph type="dt" sz="half" idx="10"/>
          </p:nvPr>
        </p:nvSpPr>
        <p:spPr/>
        <p:txBody>
          <a:bodyPr/>
          <a:lstStyle/>
          <a:p>
            <a:fld id="{D44008CB-7359-4598-88B6-8073612796AA}" type="datetimeFigureOut">
              <a:rPr lang="zh-CN" altLang="en-US" smtClean="0"/>
              <a:t>2025/7/26</a:t>
            </a:fld>
            <a:endParaRPr lang="zh-CN" altLang="en-US"/>
          </a:p>
        </p:txBody>
      </p:sp>
      <p:sp>
        <p:nvSpPr>
          <p:cNvPr id="5" name="页脚占位符 4">
            <a:extLst>
              <a:ext uri="{FF2B5EF4-FFF2-40B4-BE49-F238E27FC236}">
                <a16:creationId xmlns:a16="http://schemas.microsoft.com/office/drawing/2014/main" id="{93DE3503-87F1-4CF7-A256-C5FB9A222AB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849AA02-E14A-4B76-9C38-2F9B89BBF602}"/>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472034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0C072B-542B-4EB4-AE3E-3962BC96CA5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07FC81C-17BC-4E49-801A-5535D52E3DF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6EC2DB2-8954-4FAC-BDAC-A41CB9FD1E9C}"/>
              </a:ext>
            </a:extLst>
          </p:cNvPr>
          <p:cNvSpPr>
            <a:spLocks noGrp="1"/>
          </p:cNvSpPr>
          <p:nvPr>
            <p:ph type="dt" sz="half" idx="10"/>
          </p:nvPr>
        </p:nvSpPr>
        <p:spPr/>
        <p:txBody>
          <a:bodyPr/>
          <a:lstStyle/>
          <a:p>
            <a:fld id="{D44008CB-7359-4598-88B6-8073612796AA}" type="datetimeFigureOut">
              <a:rPr lang="zh-CN" altLang="en-US" smtClean="0"/>
              <a:t>2025/7/26</a:t>
            </a:fld>
            <a:endParaRPr lang="zh-CN" altLang="en-US"/>
          </a:p>
        </p:txBody>
      </p:sp>
      <p:sp>
        <p:nvSpPr>
          <p:cNvPr id="5" name="页脚占位符 4">
            <a:extLst>
              <a:ext uri="{FF2B5EF4-FFF2-40B4-BE49-F238E27FC236}">
                <a16:creationId xmlns:a16="http://schemas.microsoft.com/office/drawing/2014/main" id="{FF45D9FA-8B05-43CE-A8C6-57D4B1B3398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22FB343-9089-4A86-8CDC-D72C628B1D49}"/>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674520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6AC339-9979-439E-AD47-69A80F8343D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0B08C4E-EFCC-422B-A0CC-66BF074855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4044901-1417-472E-9D15-16ECC0743305}"/>
              </a:ext>
            </a:extLst>
          </p:cNvPr>
          <p:cNvSpPr>
            <a:spLocks noGrp="1"/>
          </p:cNvSpPr>
          <p:nvPr>
            <p:ph type="dt" sz="half" idx="10"/>
          </p:nvPr>
        </p:nvSpPr>
        <p:spPr/>
        <p:txBody>
          <a:bodyPr/>
          <a:lstStyle/>
          <a:p>
            <a:fld id="{D44008CB-7359-4598-88B6-8073612796AA}" type="datetimeFigureOut">
              <a:rPr lang="zh-CN" altLang="en-US" smtClean="0"/>
              <a:t>2025/7/26</a:t>
            </a:fld>
            <a:endParaRPr lang="zh-CN" altLang="en-US"/>
          </a:p>
        </p:txBody>
      </p:sp>
      <p:sp>
        <p:nvSpPr>
          <p:cNvPr id="5" name="页脚占位符 4">
            <a:extLst>
              <a:ext uri="{FF2B5EF4-FFF2-40B4-BE49-F238E27FC236}">
                <a16:creationId xmlns:a16="http://schemas.microsoft.com/office/drawing/2014/main" id="{8D930AA9-002C-4348-9998-8027E3DF513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758E8C9-BD1B-4A76-A9CB-27277C579657}"/>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1727328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A2C584-3CAE-47D4-911B-4E66212208F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637A965-7AFF-413E-B0F9-9B383F4D7F7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72C38DE-AED2-4131-8C10-FF03B22F8B1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F95F5FA-8460-4FB5-BECF-082CB763FED1}"/>
              </a:ext>
            </a:extLst>
          </p:cNvPr>
          <p:cNvSpPr>
            <a:spLocks noGrp="1"/>
          </p:cNvSpPr>
          <p:nvPr>
            <p:ph type="dt" sz="half" idx="10"/>
          </p:nvPr>
        </p:nvSpPr>
        <p:spPr/>
        <p:txBody>
          <a:bodyPr/>
          <a:lstStyle/>
          <a:p>
            <a:fld id="{D44008CB-7359-4598-88B6-8073612796AA}" type="datetimeFigureOut">
              <a:rPr lang="zh-CN" altLang="en-US" smtClean="0"/>
              <a:t>2025/7/26</a:t>
            </a:fld>
            <a:endParaRPr lang="zh-CN" altLang="en-US"/>
          </a:p>
        </p:txBody>
      </p:sp>
      <p:sp>
        <p:nvSpPr>
          <p:cNvPr id="6" name="页脚占位符 5">
            <a:extLst>
              <a:ext uri="{FF2B5EF4-FFF2-40B4-BE49-F238E27FC236}">
                <a16:creationId xmlns:a16="http://schemas.microsoft.com/office/drawing/2014/main" id="{00ECCEA3-CC62-4601-B76C-37ADB4AFA8A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ADFF4BD-83FA-48E8-9D3F-095F4C7C0D06}"/>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3081516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C6E1C5-ECAF-42BE-9623-BCADD634BCC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E1EBD31-3B49-47F1-94AD-B0C6385A0F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8F1D851-B286-458B-B0FF-37C11425C5C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EB0DAC4-251D-4CAB-AAC8-1816BA2EDE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B3CAE68-B059-48A9-8FEA-AE16FDCBB65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91B7C04-5F54-4995-8205-02AE75A6B65C}"/>
              </a:ext>
            </a:extLst>
          </p:cNvPr>
          <p:cNvSpPr>
            <a:spLocks noGrp="1"/>
          </p:cNvSpPr>
          <p:nvPr>
            <p:ph type="dt" sz="half" idx="10"/>
          </p:nvPr>
        </p:nvSpPr>
        <p:spPr/>
        <p:txBody>
          <a:bodyPr/>
          <a:lstStyle/>
          <a:p>
            <a:fld id="{D44008CB-7359-4598-88B6-8073612796AA}" type="datetimeFigureOut">
              <a:rPr lang="zh-CN" altLang="en-US" smtClean="0"/>
              <a:t>2025/7/26</a:t>
            </a:fld>
            <a:endParaRPr lang="zh-CN" altLang="en-US"/>
          </a:p>
        </p:txBody>
      </p:sp>
      <p:sp>
        <p:nvSpPr>
          <p:cNvPr id="8" name="页脚占位符 7">
            <a:extLst>
              <a:ext uri="{FF2B5EF4-FFF2-40B4-BE49-F238E27FC236}">
                <a16:creationId xmlns:a16="http://schemas.microsoft.com/office/drawing/2014/main" id="{243733C5-CACD-4D73-88DF-0FE47AEB4C0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3CC8BD8-3103-46D8-B238-FEE49AA89B3C}"/>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1065697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381B53-CFBA-4ED9-A856-C7F31BDC6B6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F65807F-966E-4869-8987-657949B8D6F2}"/>
              </a:ext>
            </a:extLst>
          </p:cNvPr>
          <p:cNvSpPr>
            <a:spLocks noGrp="1"/>
          </p:cNvSpPr>
          <p:nvPr>
            <p:ph type="dt" sz="half" idx="10"/>
          </p:nvPr>
        </p:nvSpPr>
        <p:spPr/>
        <p:txBody>
          <a:bodyPr/>
          <a:lstStyle/>
          <a:p>
            <a:fld id="{D44008CB-7359-4598-88B6-8073612796AA}" type="datetimeFigureOut">
              <a:rPr lang="zh-CN" altLang="en-US" smtClean="0"/>
              <a:t>2025/7/26</a:t>
            </a:fld>
            <a:endParaRPr lang="zh-CN" altLang="en-US"/>
          </a:p>
        </p:txBody>
      </p:sp>
      <p:sp>
        <p:nvSpPr>
          <p:cNvPr id="4" name="页脚占位符 3">
            <a:extLst>
              <a:ext uri="{FF2B5EF4-FFF2-40B4-BE49-F238E27FC236}">
                <a16:creationId xmlns:a16="http://schemas.microsoft.com/office/drawing/2014/main" id="{0610A72C-1EA5-4B8F-99BE-2B5DF012BE2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90E1FBD-CDF9-4E91-99E5-A833BABA4AD6}"/>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3180404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E3F8982-6037-4234-AD00-3123D01C4A35}"/>
              </a:ext>
            </a:extLst>
          </p:cNvPr>
          <p:cNvSpPr>
            <a:spLocks noGrp="1"/>
          </p:cNvSpPr>
          <p:nvPr>
            <p:ph type="dt" sz="half" idx="10"/>
          </p:nvPr>
        </p:nvSpPr>
        <p:spPr/>
        <p:txBody>
          <a:bodyPr/>
          <a:lstStyle/>
          <a:p>
            <a:fld id="{D44008CB-7359-4598-88B6-8073612796AA}" type="datetimeFigureOut">
              <a:rPr lang="zh-CN" altLang="en-US" smtClean="0"/>
              <a:t>2025/7/26</a:t>
            </a:fld>
            <a:endParaRPr lang="zh-CN" altLang="en-US"/>
          </a:p>
        </p:txBody>
      </p:sp>
      <p:sp>
        <p:nvSpPr>
          <p:cNvPr id="3" name="页脚占位符 2">
            <a:extLst>
              <a:ext uri="{FF2B5EF4-FFF2-40B4-BE49-F238E27FC236}">
                <a16:creationId xmlns:a16="http://schemas.microsoft.com/office/drawing/2014/main" id="{E94F0542-C8F2-4C1F-BB00-D0D13270757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B6AEC53-34BE-4C4A-856B-8411CD692B7A}"/>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3623614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CAC9EE-3E5D-4DAD-862D-E4971473ADF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9160C9A-3E3A-47B4-A1B2-682A69B925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7AB7B40-FEFE-403A-A042-FE872B9EF9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71366DE-EBE6-4AFE-B2AF-4C25890EC85A}"/>
              </a:ext>
            </a:extLst>
          </p:cNvPr>
          <p:cNvSpPr>
            <a:spLocks noGrp="1"/>
          </p:cNvSpPr>
          <p:nvPr>
            <p:ph type="dt" sz="half" idx="10"/>
          </p:nvPr>
        </p:nvSpPr>
        <p:spPr/>
        <p:txBody>
          <a:bodyPr/>
          <a:lstStyle/>
          <a:p>
            <a:fld id="{D44008CB-7359-4598-88B6-8073612796AA}" type="datetimeFigureOut">
              <a:rPr lang="zh-CN" altLang="en-US" smtClean="0"/>
              <a:t>2025/7/26</a:t>
            </a:fld>
            <a:endParaRPr lang="zh-CN" altLang="en-US"/>
          </a:p>
        </p:txBody>
      </p:sp>
      <p:sp>
        <p:nvSpPr>
          <p:cNvPr id="6" name="页脚占位符 5">
            <a:extLst>
              <a:ext uri="{FF2B5EF4-FFF2-40B4-BE49-F238E27FC236}">
                <a16:creationId xmlns:a16="http://schemas.microsoft.com/office/drawing/2014/main" id="{5E2082D5-0599-48B5-8819-634575D362B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6555D9C-1A7C-4534-A584-4472E3B816D5}"/>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2538075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087C38-82A2-4C25-AC3F-F06B1F23898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D8ADE65-B3BE-4A96-890D-E7A188D83D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C79A9D3-7F46-42D0-B4ED-1773CC9262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4080096-90BF-4736-A77E-82348CC61653}"/>
              </a:ext>
            </a:extLst>
          </p:cNvPr>
          <p:cNvSpPr>
            <a:spLocks noGrp="1"/>
          </p:cNvSpPr>
          <p:nvPr>
            <p:ph type="dt" sz="half" idx="10"/>
          </p:nvPr>
        </p:nvSpPr>
        <p:spPr/>
        <p:txBody>
          <a:bodyPr/>
          <a:lstStyle/>
          <a:p>
            <a:fld id="{D44008CB-7359-4598-88B6-8073612796AA}" type="datetimeFigureOut">
              <a:rPr lang="zh-CN" altLang="en-US" smtClean="0"/>
              <a:t>2025/7/26</a:t>
            </a:fld>
            <a:endParaRPr lang="zh-CN" altLang="en-US"/>
          </a:p>
        </p:txBody>
      </p:sp>
      <p:sp>
        <p:nvSpPr>
          <p:cNvPr id="6" name="页脚占位符 5">
            <a:extLst>
              <a:ext uri="{FF2B5EF4-FFF2-40B4-BE49-F238E27FC236}">
                <a16:creationId xmlns:a16="http://schemas.microsoft.com/office/drawing/2014/main" id="{D9485590-E6CB-4FD1-A1EC-A9509A34652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DDA4A82-6CE2-4CA5-BD5B-08DCB7A0D776}"/>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3094983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CCFA93-FCE2-44E4-878C-8FEFA6018A7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06DA7C2-F2E1-4F67-8B34-F05CBFC08CE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5C967AE-CDF3-4D67-A190-E46F86D01174}"/>
              </a:ext>
            </a:extLst>
          </p:cNvPr>
          <p:cNvSpPr>
            <a:spLocks noGrp="1"/>
          </p:cNvSpPr>
          <p:nvPr>
            <p:ph type="dt" sz="half" idx="10"/>
          </p:nvPr>
        </p:nvSpPr>
        <p:spPr/>
        <p:txBody>
          <a:bodyPr/>
          <a:lstStyle/>
          <a:p>
            <a:fld id="{D44008CB-7359-4598-88B6-8073612796AA}" type="datetimeFigureOut">
              <a:rPr lang="zh-CN" altLang="en-US" smtClean="0"/>
              <a:t>2025/7/26</a:t>
            </a:fld>
            <a:endParaRPr lang="zh-CN" altLang="en-US"/>
          </a:p>
        </p:txBody>
      </p:sp>
      <p:sp>
        <p:nvSpPr>
          <p:cNvPr id="5" name="页脚占位符 4">
            <a:extLst>
              <a:ext uri="{FF2B5EF4-FFF2-40B4-BE49-F238E27FC236}">
                <a16:creationId xmlns:a16="http://schemas.microsoft.com/office/drawing/2014/main" id="{129B9F83-0BEE-42D3-99B3-055F58EB0FD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516528D-DEBF-45D5-AA5C-2081D9B29428}"/>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22246939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DBCEB34-32B0-4BD7-B39A-0AC8E1769C9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0086A30-6588-4D1F-833A-33C5E70663C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EEA0ED4-AAED-4792-99F8-043A8A82BA14}"/>
              </a:ext>
            </a:extLst>
          </p:cNvPr>
          <p:cNvSpPr>
            <a:spLocks noGrp="1"/>
          </p:cNvSpPr>
          <p:nvPr>
            <p:ph type="dt" sz="half" idx="10"/>
          </p:nvPr>
        </p:nvSpPr>
        <p:spPr/>
        <p:txBody>
          <a:bodyPr/>
          <a:lstStyle/>
          <a:p>
            <a:fld id="{D44008CB-7359-4598-88B6-8073612796AA}" type="datetimeFigureOut">
              <a:rPr lang="zh-CN" altLang="en-US" smtClean="0"/>
              <a:t>2025/7/26</a:t>
            </a:fld>
            <a:endParaRPr lang="zh-CN" altLang="en-US"/>
          </a:p>
        </p:txBody>
      </p:sp>
      <p:sp>
        <p:nvSpPr>
          <p:cNvPr id="5" name="页脚占位符 4">
            <a:extLst>
              <a:ext uri="{FF2B5EF4-FFF2-40B4-BE49-F238E27FC236}">
                <a16:creationId xmlns:a16="http://schemas.microsoft.com/office/drawing/2014/main" id="{B247DCE7-E18C-4FD7-A653-9FE1C3A98E0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A9F1929-4F93-4E60-A024-16E632D7A1A0}"/>
              </a:ext>
            </a:extLst>
          </p:cNvPr>
          <p:cNvSpPr>
            <a:spLocks noGrp="1"/>
          </p:cNvSpPr>
          <p:nvPr>
            <p:ph type="sldNum" sz="quarter" idx="12"/>
          </p:nvPr>
        </p:nvSpPr>
        <p:spPr/>
        <p:txBody>
          <a:body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8583676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cxnSp>
        <p:nvCxnSpPr>
          <p:cNvPr id="3" name="直接连接符 2"/>
          <p:cNvCxnSpPr/>
          <p:nvPr userDrawn="1"/>
        </p:nvCxnSpPr>
        <p:spPr>
          <a:xfrm>
            <a:off x="0" y="1174279"/>
            <a:ext cx="7920203" cy="0"/>
          </a:xfrm>
          <a:prstGeom prst="line">
            <a:avLst/>
          </a:prstGeom>
          <a:ln w="15875">
            <a:gradFill>
              <a:gsLst>
                <a:gs pos="13000">
                  <a:schemeClr val="accent2"/>
                </a:gs>
                <a:gs pos="100000">
                  <a:schemeClr val="accent2">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8" name="文本占位符 7"/>
          <p:cNvSpPr>
            <a:spLocks noGrp="1"/>
          </p:cNvSpPr>
          <p:nvPr>
            <p:ph type="body" sz="quarter" idx="10"/>
          </p:nvPr>
        </p:nvSpPr>
        <p:spPr>
          <a:xfrm>
            <a:off x="487333" y="296901"/>
            <a:ext cx="9792824" cy="649287"/>
          </a:xfrm>
        </p:spPr>
        <p:txBody>
          <a:bodyPr>
            <a:noAutofit/>
          </a:bodyPr>
          <a:lstStyle>
            <a:lvl1pPr marL="0" indent="0">
              <a:buNone/>
              <a:defRPr sz="4400" b="1">
                <a:solidFill>
                  <a:schemeClr val="accent2"/>
                </a:solidFill>
                <a:latin typeface="+mj-ea"/>
                <a:ea typeface="+mj-ea"/>
              </a:defRPr>
            </a:lvl1pPr>
          </a:lstStyle>
          <a:p>
            <a:pPr lvl="0"/>
            <a:r>
              <a:rPr lang="zh-CN" altLang="en-US" dirty="0"/>
              <a:t>单击此处编辑母版文本样式</a:t>
            </a:r>
          </a:p>
        </p:txBody>
      </p:sp>
    </p:spTree>
    <p:extLst>
      <p:ext uri="{BB962C8B-B14F-4D97-AF65-F5344CB8AC3E}">
        <p14:creationId xmlns:p14="http://schemas.microsoft.com/office/powerpoint/2010/main" val="262970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097D3BA-A3ED-4163-977C-3D2326AEAF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68A68784-9CD4-4F13-B6FF-DAFB8F5FA9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D20A121-C4E0-491B-B35A-1ABE4E2B76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4008CB-7359-4598-88B6-8073612796AA}" type="datetimeFigureOut">
              <a:rPr lang="zh-CN" altLang="en-US" smtClean="0"/>
              <a:t>2025/7/26</a:t>
            </a:fld>
            <a:endParaRPr lang="zh-CN" altLang="en-US"/>
          </a:p>
        </p:txBody>
      </p:sp>
      <p:sp>
        <p:nvSpPr>
          <p:cNvPr id="5" name="页脚占位符 4">
            <a:extLst>
              <a:ext uri="{FF2B5EF4-FFF2-40B4-BE49-F238E27FC236}">
                <a16:creationId xmlns:a16="http://schemas.microsoft.com/office/drawing/2014/main" id="{714455DE-3A94-44C9-BD40-E9A302C186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52AF917-03E6-4637-A084-DE343516BE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AA1697-F06E-4BB0-B00C-7E744E72D27B}" type="slidenum">
              <a:rPr lang="zh-CN" altLang="en-US" smtClean="0"/>
              <a:t>‹#›</a:t>
            </a:fld>
            <a:endParaRPr lang="zh-CN" altLang="en-US"/>
          </a:p>
        </p:txBody>
      </p:sp>
    </p:spTree>
    <p:extLst>
      <p:ext uri="{BB962C8B-B14F-4D97-AF65-F5344CB8AC3E}">
        <p14:creationId xmlns:p14="http://schemas.microsoft.com/office/powerpoint/2010/main" val="819589618"/>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0E3C0872-64D7-4B76-9B19-E1DAFDFDD242}"/>
              </a:ext>
            </a:extLst>
          </p:cNvPr>
          <p:cNvCxnSpPr>
            <a:cxnSpLocks/>
          </p:cNvCxnSpPr>
          <p:nvPr/>
        </p:nvCxnSpPr>
        <p:spPr>
          <a:xfrm>
            <a:off x="1422400" y="6113732"/>
            <a:ext cx="90932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C1B39824-60B1-4087-9654-852D1F012284}"/>
              </a:ext>
            </a:extLst>
          </p:cNvPr>
          <p:cNvCxnSpPr>
            <a:cxnSpLocks/>
          </p:cNvCxnSpPr>
          <p:nvPr/>
        </p:nvCxnSpPr>
        <p:spPr>
          <a:xfrm>
            <a:off x="0" y="829334"/>
            <a:ext cx="9525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980355FC-FEB3-439F-8098-5C06013AAE42}"/>
              </a:ext>
            </a:extLst>
          </p:cNvPr>
          <p:cNvSpPr/>
          <p:nvPr/>
        </p:nvSpPr>
        <p:spPr>
          <a:xfrm>
            <a:off x="0" y="829334"/>
            <a:ext cx="1028700" cy="275566"/>
          </a:xfrm>
          <a:prstGeom prst="rect">
            <a:avLst/>
          </a:prstGeom>
          <a:solidFill>
            <a:srgbClr val="0B419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61D4805B-0FE8-4E82-B102-EE270173D087}"/>
              </a:ext>
            </a:extLst>
          </p:cNvPr>
          <p:cNvSpPr txBox="1"/>
          <p:nvPr/>
        </p:nvSpPr>
        <p:spPr>
          <a:xfrm>
            <a:off x="4793318" y="2552789"/>
            <a:ext cx="2441694" cy="769441"/>
          </a:xfrm>
          <a:prstGeom prst="rect">
            <a:avLst/>
          </a:prstGeom>
          <a:noFill/>
        </p:spPr>
        <p:txBody>
          <a:bodyPr wrap="none" rtlCol="0">
            <a:spAutoFit/>
          </a:bodyPr>
          <a:lstStyle/>
          <a:p>
            <a:pPr algn="ctr"/>
            <a:r>
              <a:rPr lang="zh-CN" altLang="en-US" sz="4400" b="1" dirty="0">
                <a:solidFill>
                  <a:schemeClr val="accent1">
                    <a:lumMod val="75000"/>
                  </a:schemeClr>
                </a:solidFill>
              </a:rPr>
              <a:t>推荐系统</a:t>
            </a:r>
          </a:p>
        </p:txBody>
      </p:sp>
    </p:spTree>
    <p:extLst>
      <p:ext uri="{BB962C8B-B14F-4D97-AF65-F5344CB8AC3E}">
        <p14:creationId xmlns:p14="http://schemas.microsoft.com/office/powerpoint/2010/main" val="3994329357"/>
      </p:ext>
    </p:extLst>
  </p:cSld>
  <p:clrMapOvr>
    <a:masterClrMapping/>
  </p:clrMapOvr>
  <mc:AlternateContent xmlns:mc="http://schemas.openxmlformats.org/markup-compatibility/2006" xmlns:p14="http://schemas.microsoft.com/office/powerpoint/2010/main">
    <mc:Choice Requires="p14">
      <p:transition spd="slow" p14:dur="2000" advTm="10176"/>
    </mc:Choice>
    <mc:Fallback xmlns="">
      <p:transition spd="slow" advTm="1017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推荐系统（</a:t>
            </a:r>
            <a:r>
              <a:rPr lang="en-US" altLang="zh-CN" dirty="0"/>
              <a:t>Recommender System</a:t>
            </a:r>
            <a:r>
              <a:rPr lang="zh-CN" altLang="en-US" dirty="0"/>
              <a:t>）</a:t>
            </a:r>
          </a:p>
        </p:txBody>
      </p:sp>
      <p:sp>
        <p:nvSpPr>
          <p:cNvPr id="3" name="文本框 2">
            <a:extLst>
              <a:ext uri="{FF2B5EF4-FFF2-40B4-BE49-F238E27FC236}">
                <a16:creationId xmlns:a16="http://schemas.microsoft.com/office/drawing/2014/main" id="{3FD40233-C365-E08B-0863-3472080D027F}"/>
              </a:ext>
            </a:extLst>
          </p:cNvPr>
          <p:cNvSpPr txBox="1"/>
          <p:nvPr/>
        </p:nvSpPr>
        <p:spPr>
          <a:xfrm>
            <a:off x="227652" y="1257982"/>
            <a:ext cx="5515926" cy="4141134"/>
          </a:xfrm>
          <a:prstGeom prst="rect">
            <a:avLst/>
          </a:prstGeom>
          <a:noFill/>
        </p:spPr>
        <p:txBody>
          <a:bodyPr wrap="square" rtlCol="0">
            <a:spAutoFit/>
          </a:bodyPr>
          <a:lstStyle/>
          <a:p>
            <a:pPr marL="360045"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软件</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工具</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技术</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45" lvl="1"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为用户提供</a:t>
            </a:r>
            <a:r>
              <a:rPr lang="zh-CN" altLang="en-US" sz="2200" b="1" dirty="0">
                <a:solidFill>
                  <a:srgbClr val="FF6600"/>
                </a:solidFill>
                <a:latin typeface="Times New Roman" panose="02020603050405020304" pitchFamily="18" charset="0"/>
                <a:ea typeface="微软雅黑" panose="020B0503020204020204" pitchFamily="34" charset="-122"/>
                <a:cs typeface="+mn-ea"/>
                <a:sym typeface="Times New Roman" panose="02020603050405020304" pitchFamily="18" charset="0"/>
              </a:rPr>
              <a:t>选择项目</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的决策支持</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45" lvl="1"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购买商品、听歌、新闻</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45"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大多数推荐系统专注一种类型的项目</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45" lvl="1"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Amazon/</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当当</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45" lvl="1"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Expedia/</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携程</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45" lvl="1"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IMDB/</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豆瓣</a:t>
            </a:r>
          </a:p>
        </p:txBody>
      </p:sp>
      <p:pic>
        <p:nvPicPr>
          <p:cNvPr id="7" name="图片 6">
            <a:extLst>
              <a:ext uri="{FF2B5EF4-FFF2-40B4-BE49-F238E27FC236}">
                <a16:creationId xmlns:a16="http://schemas.microsoft.com/office/drawing/2014/main" id="{D9406FF8-26D5-AC39-D317-1D6E6379F8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3107" y="1766114"/>
            <a:ext cx="5929949" cy="3833904"/>
          </a:xfrm>
          <a:prstGeom prst="rect">
            <a:avLst/>
          </a:prstGeom>
        </p:spPr>
      </p:pic>
    </p:spTree>
    <p:extLst>
      <p:ext uri="{BB962C8B-B14F-4D97-AF65-F5344CB8AC3E}">
        <p14:creationId xmlns:p14="http://schemas.microsoft.com/office/powerpoint/2010/main" val="1192127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97F810-835E-47A7-DCAA-080BEF203C11}"/>
              </a:ext>
            </a:extLst>
          </p:cNvPr>
          <p:cNvSpPr>
            <a:spLocks noGrp="1"/>
          </p:cNvSpPr>
          <p:nvPr>
            <p:ph type="title"/>
          </p:nvPr>
        </p:nvSpPr>
        <p:spPr/>
        <p:txBody>
          <a:bodyPr>
            <a:normAutofit fontScale="90000"/>
          </a:bodyPr>
          <a:lstStyle/>
          <a:p>
            <a:r>
              <a:rPr kumimoji="1" lang="en-US" altLang="zh-CN" dirty="0"/>
              <a:t>RS</a:t>
            </a:r>
            <a:r>
              <a:rPr kumimoji="1" lang="zh-CN" altLang="en-US" dirty="0"/>
              <a:t>类型</a:t>
            </a:r>
          </a:p>
        </p:txBody>
      </p:sp>
      <p:sp>
        <p:nvSpPr>
          <p:cNvPr id="4" name="文本框 3">
            <a:extLst>
              <a:ext uri="{FF2B5EF4-FFF2-40B4-BE49-F238E27FC236}">
                <a16:creationId xmlns:a16="http://schemas.microsoft.com/office/drawing/2014/main" id="{D7C4661E-C4CD-04A1-BF7A-88DE6B6C21F1}"/>
              </a:ext>
            </a:extLst>
          </p:cNvPr>
          <p:cNvSpPr txBox="1"/>
          <p:nvPr/>
        </p:nvSpPr>
        <p:spPr>
          <a:xfrm>
            <a:off x="1285876" y="1364698"/>
            <a:ext cx="6143624" cy="3509359"/>
          </a:xfrm>
          <a:prstGeom prst="rect">
            <a:avLst/>
          </a:prstGeom>
          <a:noFill/>
        </p:spPr>
        <p:txBody>
          <a:bodyPr wrap="square">
            <a:spAutoFit/>
          </a:bodyPr>
          <a:lstStyle/>
          <a:p>
            <a:pPr marL="360045"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构建</a:t>
            </a:r>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FS</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的五种类型：</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45" lvl="1"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基于流行程度的</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RS</a:t>
            </a:r>
          </a:p>
          <a:p>
            <a:pPr marL="817245" lvl="1"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基于内容的</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RS</a:t>
            </a:r>
          </a:p>
          <a:p>
            <a:pPr marL="817245" lvl="1"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基于协同过滤的</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RS</a:t>
            </a:r>
          </a:p>
          <a:p>
            <a:pPr marL="817245" lvl="1"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混合</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RS</a:t>
            </a:r>
          </a:p>
          <a:p>
            <a:pPr marL="817245" lvl="1"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基于关联规则</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RS</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（不讲）</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3060398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4396CF-F5C9-7C82-9DA5-9B895160AD8E}"/>
              </a:ext>
            </a:extLst>
          </p:cNvPr>
          <p:cNvSpPr>
            <a:spLocks noGrp="1"/>
          </p:cNvSpPr>
          <p:nvPr>
            <p:ph type="title"/>
          </p:nvPr>
        </p:nvSpPr>
        <p:spPr/>
        <p:txBody>
          <a:bodyPr>
            <a:normAutofit fontScale="90000"/>
          </a:bodyPr>
          <a:lstStyle/>
          <a:p>
            <a:r>
              <a:rPr lang="zh-CN" altLang="en-US" sz="4400" dirty="0">
                <a:latin typeface="Times New Roman" panose="02020603050405020304" pitchFamily="18" charset="0"/>
                <a:ea typeface="微软雅黑" panose="020B0503020204020204" pitchFamily="34" charset="-122"/>
                <a:cs typeface="+mn-ea"/>
                <a:sym typeface="Times New Roman" panose="02020603050405020304" pitchFamily="18" charset="0"/>
              </a:rPr>
              <a:t>基于流行程度的</a:t>
            </a:r>
            <a:r>
              <a:rPr lang="en-US" altLang="zh-CN" sz="4400" dirty="0">
                <a:latin typeface="Times New Roman" panose="02020603050405020304" pitchFamily="18" charset="0"/>
                <a:ea typeface="微软雅黑" panose="020B0503020204020204" pitchFamily="34" charset="-122"/>
                <a:cs typeface="+mn-ea"/>
                <a:sym typeface="Times New Roman" panose="02020603050405020304" pitchFamily="18" charset="0"/>
              </a:rPr>
              <a:t>RS</a:t>
            </a:r>
            <a:endParaRPr kumimoji="1" lang="zh-CN" altLang="en-US" dirty="0"/>
          </a:p>
        </p:txBody>
      </p:sp>
      <p:sp>
        <p:nvSpPr>
          <p:cNvPr id="4" name="文本框 3">
            <a:extLst>
              <a:ext uri="{FF2B5EF4-FFF2-40B4-BE49-F238E27FC236}">
                <a16:creationId xmlns:a16="http://schemas.microsoft.com/office/drawing/2014/main" id="{92C0E0AB-7D58-D6FE-BF08-2D4F90D19B41}"/>
              </a:ext>
            </a:extLst>
          </p:cNvPr>
          <p:cNvSpPr txBox="1"/>
          <p:nvPr/>
        </p:nvSpPr>
        <p:spPr>
          <a:xfrm>
            <a:off x="728661" y="1371842"/>
            <a:ext cx="10615613" cy="2925416"/>
          </a:xfrm>
          <a:prstGeom prst="rect">
            <a:avLst/>
          </a:prstGeom>
          <a:noFill/>
        </p:spPr>
        <p:txBody>
          <a:bodyPr wrap="square">
            <a:spAutoFit/>
          </a:bodyPr>
          <a:lstStyle/>
          <a:p>
            <a:pPr marL="360045"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最简单</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基础的</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RS</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，基于各种参数对</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item</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（条目）排序，推荐排名靠前的</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items</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45"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可以按照以下参数</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内容进行排序：</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45" lvl="1"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下载次数</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 购买次数</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 浏览次数</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 评分最高</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 分享次数</a:t>
            </a:r>
            <a:r>
              <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 收藏次数</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45"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优点：向顾客推销最畅销（购买最多）产品，简单，有效</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45"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200" dirty="0">
                <a:latin typeface="Times New Roman" panose="02020603050405020304" pitchFamily="18" charset="0"/>
                <a:ea typeface="微软雅黑" panose="020B0503020204020204" pitchFamily="34" charset="-122"/>
                <a:cs typeface="+mn-ea"/>
                <a:sym typeface="Times New Roman" panose="02020603050405020304" pitchFamily="18" charset="0"/>
              </a:rPr>
              <a:t>缺点：非高度个性化</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1830939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A040BE-EA57-775F-8C07-D363AA8DBB68}"/>
              </a:ext>
            </a:extLst>
          </p:cNvPr>
          <p:cNvSpPr>
            <a:spLocks noGrp="1"/>
          </p:cNvSpPr>
          <p:nvPr>
            <p:ph type="title"/>
          </p:nvPr>
        </p:nvSpPr>
        <p:spPr/>
        <p:txBody>
          <a:bodyPr>
            <a:normAutofit fontScale="90000"/>
          </a:bodyPr>
          <a:lstStyle/>
          <a:p>
            <a:r>
              <a:rPr lang="zh-CN" altLang="en-US" sz="4400" dirty="0">
                <a:latin typeface="Times New Roman" panose="02020603050405020304" pitchFamily="18" charset="0"/>
                <a:ea typeface="微软雅黑" panose="020B0503020204020204" pitchFamily="34" charset="-122"/>
                <a:cs typeface="+mn-ea"/>
                <a:sym typeface="Times New Roman" panose="02020603050405020304" pitchFamily="18" charset="0"/>
              </a:rPr>
              <a:t>基于内容的</a:t>
            </a:r>
            <a:r>
              <a:rPr lang="en-US" altLang="zh-CN" sz="4400" dirty="0">
                <a:latin typeface="Times New Roman" panose="02020603050405020304" pitchFamily="18" charset="0"/>
                <a:ea typeface="微软雅黑" panose="020B0503020204020204" pitchFamily="34" charset="-122"/>
                <a:cs typeface="+mn-ea"/>
                <a:sym typeface="Times New Roman" panose="02020603050405020304" pitchFamily="18" charset="0"/>
              </a:rPr>
              <a:t>RS</a:t>
            </a:r>
            <a:endParaRPr kumimoji="1" lang="zh-CN" altLang="en-US" dirty="0"/>
          </a:p>
        </p:txBody>
      </p:sp>
      <p:sp>
        <p:nvSpPr>
          <p:cNvPr id="3" name="文本框 2">
            <a:extLst>
              <a:ext uri="{FF2B5EF4-FFF2-40B4-BE49-F238E27FC236}">
                <a16:creationId xmlns:a16="http://schemas.microsoft.com/office/drawing/2014/main" id="{0E236A75-0666-6C86-AFF2-5D519F036E2D}"/>
              </a:ext>
            </a:extLst>
          </p:cNvPr>
          <p:cNvSpPr txBox="1"/>
          <p:nvPr/>
        </p:nvSpPr>
        <p:spPr>
          <a:xfrm>
            <a:off x="728661" y="1371842"/>
            <a:ext cx="10615613" cy="3104632"/>
          </a:xfrm>
          <a:prstGeom prst="rect">
            <a:avLst/>
          </a:prstGeom>
          <a:noFill/>
        </p:spPr>
        <p:txBody>
          <a:bodyPr wrap="square">
            <a:spAutoFit/>
          </a:bodyPr>
          <a:lstStyle/>
          <a:p>
            <a:pPr marL="360045"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基于用户过去喜好推荐产品。</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45"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基本思想：</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817245" lvl="1"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计算任意两个条目之间的相似度，基于用户的喜好资料向用户进行推荐</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45"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实现步骤：</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914400" lvl="1" indent="-457200" algn="just" fontAlgn="base">
              <a:lnSpc>
                <a:spcPct val="150000"/>
              </a:lnSpc>
              <a:spcBef>
                <a:spcPts val="600"/>
              </a:spcBef>
              <a:spcAft>
                <a:spcPct val="0"/>
              </a:spcAft>
              <a:buClr>
                <a:srgbClr val="FF6600"/>
              </a:buClr>
              <a:buSzPct val="80000"/>
              <a:buFont typeface="+mj-lt"/>
              <a:buAutoNum type="arabicPeriod"/>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创建条目（商品）向量</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5" name="图片 4">
            <a:extLst>
              <a:ext uri="{FF2B5EF4-FFF2-40B4-BE49-F238E27FC236}">
                <a16:creationId xmlns:a16="http://schemas.microsoft.com/office/drawing/2014/main" id="{356516EC-C422-304F-BE83-2AFF41CB50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9541" y="4626938"/>
            <a:ext cx="7264400" cy="1079500"/>
          </a:xfrm>
          <a:prstGeom prst="rect">
            <a:avLst/>
          </a:prstGeom>
        </p:spPr>
      </p:pic>
    </p:spTree>
    <p:extLst>
      <p:ext uri="{BB962C8B-B14F-4D97-AF65-F5344CB8AC3E}">
        <p14:creationId xmlns:p14="http://schemas.microsoft.com/office/powerpoint/2010/main" val="2212564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2F5CC-E363-9C95-060B-3394E33B2F4E}"/>
              </a:ext>
            </a:extLst>
          </p:cNvPr>
          <p:cNvSpPr>
            <a:spLocks noGrp="1"/>
          </p:cNvSpPr>
          <p:nvPr>
            <p:ph type="title"/>
          </p:nvPr>
        </p:nvSpPr>
        <p:spPr/>
        <p:txBody>
          <a:bodyPr>
            <a:normAutofit fontScale="90000"/>
          </a:bodyPr>
          <a:lstStyle/>
          <a:p>
            <a:r>
              <a:rPr lang="zh-CN" altLang="en-US" sz="4400" dirty="0">
                <a:latin typeface="Times New Roman" panose="02020603050405020304" pitchFamily="18" charset="0"/>
                <a:ea typeface="微软雅黑" panose="020B0503020204020204" pitchFamily="34" charset="-122"/>
                <a:cs typeface="+mn-ea"/>
                <a:sym typeface="Times New Roman" panose="02020603050405020304" pitchFamily="18" charset="0"/>
              </a:rPr>
              <a:t>基于内容的</a:t>
            </a:r>
            <a:r>
              <a:rPr lang="en-US" altLang="zh-CN" sz="4400" dirty="0">
                <a:latin typeface="Times New Roman" panose="02020603050405020304" pitchFamily="18" charset="0"/>
                <a:ea typeface="微软雅黑" panose="020B0503020204020204" pitchFamily="34" charset="-122"/>
                <a:cs typeface="+mn-ea"/>
                <a:sym typeface="Times New Roman" panose="02020603050405020304" pitchFamily="18" charset="0"/>
              </a:rPr>
              <a:t>RS</a:t>
            </a:r>
            <a:endParaRPr kumimoji="1" lang="zh-CN" altLang="en-US" dirty="0"/>
          </a:p>
        </p:txBody>
      </p:sp>
      <p:sp>
        <p:nvSpPr>
          <p:cNvPr id="4" name="文本框 3">
            <a:extLst>
              <a:ext uri="{FF2B5EF4-FFF2-40B4-BE49-F238E27FC236}">
                <a16:creationId xmlns:a16="http://schemas.microsoft.com/office/drawing/2014/main" id="{2D54075A-31FF-CB4F-D8B5-77B28C1FED13}"/>
              </a:ext>
            </a:extLst>
          </p:cNvPr>
          <p:cNvSpPr txBox="1"/>
          <p:nvPr/>
        </p:nvSpPr>
        <p:spPr>
          <a:xfrm>
            <a:off x="1217613" y="681628"/>
            <a:ext cx="6157912" cy="1841851"/>
          </a:xfrm>
          <a:prstGeom prst="rect">
            <a:avLst/>
          </a:prstGeom>
          <a:noFill/>
        </p:spPr>
        <p:txBody>
          <a:bodyPr wrap="square">
            <a:spAutoFit/>
          </a:bodyPr>
          <a:lstStyle/>
          <a:p>
            <a:pPr marL="360045"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实现步骤：</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914400" lvl="1" indent="-457200" algn="just" fontAlgn="base">
              <a:lnSpc>
                <a:spcPct val="150000"/>
              </a:lnSpc>
              <a:spcBef>
                <a:spcPts val="600"/>
              </a:spcBef>
              <a:spcAft>
                <a:spcPct val="0"/>
              </a:spcAft>
              <a:buClr>
                <a:srgbClr val="FF6600"/>
              </a:buClr>
              <a:buSzPct val="80000"/>
              <a:buFont typeface="+mj-lt"/>
              <a:buAutoNum type="arabicPeriod"/>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创建条目（商品）向量</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914400" lvl="1" indent="-457200" algn="just" fontAlgn="base">
              <a:lnSpc>
                <a:spcPct val="150000"/>
              </a:lnSpc>
              <a:spcBef>
                <a:spcPts val="600"/>
              </a:spcBef>
              <a:spcAft>
                <a:spcPct val="0"/>
              </a:spcAft>
              <a:buClr>
                <a:srgbClr val="FF6600"/>
              </a:buClr>
              <a:buSzPct val="80000"/>
              <a:buFont typeface="+mj-lt"/>
              <a:buAutoNum type="arabicPeriod"/>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创建用户喜好向量</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13" name="组合 12">
            <a:extLst>
              <a:ext uri="{FF2B5EF4-FFF2-40B4-BE49-F238E27FC236}">
                <a16:creationId xmlns:a16="http://schemas.microsoft.com/office/drawing/2014/main" id="{692B9770-A80A-93BE-E53B-8180DD467842}"/>
              </a:ext>
            </a:extLst>
          </p:cNvPr>
          <p:cNvGrpSpPr/>
          <p:nvPr/>
        </p:nvGrpSpPr>
        <p:grpSpPr>
          <a:xfrm>
            <a:off x="404812" y="2842240"/>
            <a:ext cx="6157912" cy="3146514"/>
            <a:chOff x="874713" y="2511338"/>
            <a:chExt cx="6157912" cy="3146514"/>
          </a:xfrm>
        </p:grpSpPr>
        <p:grpSp>
          <p:nvGrpSpPr>
            <p:cNvPr id="9" name="组合 8">
              <a:extLst>
                <a:ext uri="{FF2B5EF4-FFF2-40B4-BE49-F238E27FC236}">
                  <a16:creationId xmlns:a16="http://schemas.microsoft.com/office/drawing/2014/main" id="{1D3DE933-8E00-CCED-5503-7D0607729DB2}"/>
                </a:ext>
              </a:extLst>
            </p:cNvPr>
            <p:cNvGrpSpPr/>
            <p:nvPr/>
          </p:nvGrpSpPr>
          <p:grpSpPr>
            <a:xfrm>
              <a:off x="874713" y="2580631"/>
              <a:ext cx="6157912" cy="3077221"/>
              <a:chOff x="989013" y="2523479"/>
              <a:chExt cx="7772400" cy="3892038"/>
            </a:xfrm>
          </p:grpSpPr>
          <p:pic>
            <p:nvPicPr>
              <p:cNvPr id="6" name="图片 5">
                <a:extLst>
                  <a:ext uri="{FF2B5EF4-FFF2-40B4-BE49-F238E27FC236}">
                    <a16:creationId xmlns:a16="http://schemas.microsoft.com/office/drawing/2014/main" id="{C2D3BA8B-A410-39A8-2FBC-A6E40BFA18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9013" y="2523479"/>
                <a:ext cx="7772400" cy="2638151"/>
              </a:xfrm>
              <a:prstGeom prst="rect">
                <a:avLst/>
              </a:prstGeom>
            </p:spPr>
          </p:pic>
          <p:pic>
            <p:nvPicPr>
              <p:cNvPr id="8" name="图片 7">
                <a:extLst>
                  <a:ext uri="{FF2B5EF4-FFF2-40B4-BE49-F238E27FC236}">
                    <a16:creationId xmlns:a16="http://schemas.microsoft.com/office/drawing/2014/main" id="{53F4041A-DD6F-5A79-B84D-B26B5D28C9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589" y="5056895"/>
                <a:ext cx="7654925" cy="1358622"/>
              </a:xfrm>
              <a:prstGeom prst="rect">
                <a:avLst/>
              </a:prstGeom>
            </p:spPr>
          </p:pic>
        </p:grpSp>
        <p:sp>
          <p:nvSpPr>
            <p:cNvPr id="11" name="文本框 10">
              <a:extLst>
                <a:ext uri="{FF2B5EF4-FFF2-40B4-BE49-F238E27FC236}">
                  <a16:creationId xmlns:a16="http://schemas.microsoft.com/office/drawing/2014/main" id="{9F24E187-B09B-462D-24EC-2DCCAD6066B8}"/>
                </a:ext>
              </a:extLst>
            </p:cNvPr>
            <p:cNvSpPr txBox="1"/>
            <p:nvPr/>
          </p:nvSpPr>
          <p:spPr>
            <a:xfrm>
              <a:off x="2910681" y="2511338"/>
              <a:ext cx="2771775" cy="307777"/>
            </a:xfrm>
            <a:prstGeom prst="rect">
              <a:avLst/>
            </a:prstGeom>
            <a:solidFill>
              <a:schemeClr val="bg1"/>
            </a:solidFill>
          </p:spPr>
          <p:txBody>
            <a:bodyPr wrap="square">
              <a:spAutoFit/>
            </a:bodyPr>
            <a:lstStyle/>
            <a:p>
              <a:r>
                <a:rPr lang="zh-CN" altLang="en-US" sz="1400" dirty="0">
                  <a:latin typeface="Times New Roman" panose="02020603050405020304" pitchFamily="18" charset="0"/>
                  <a:ea typeface="微软雅黑" panose="020B0503020204020204" pitchFamily="34" charset="-122"/>
                  <a:cs typeface="+mn-ea"/>
                  <a:sym typeface="Times New Roman" panose="02020603050405020304" pitchFamily="18" charset="0"/>
                </a:rPr>
                <a:t>用户收藏的电影集合</a:t>
              </a:r>
              <a:endParaRPr lang="zh-CN" altLang="en-US" sz="1400" dirty="0"/>
            </a:p>
          </p:txBody>
        </p:sp>
      </p:grpSp>
      <p:sp>
        <p:nvSpPr>
          <p:cNvPr id="12" name="文本框 11">
            <a:extLst>
              <a:ext uri="{FF2B5EF4-FFF2-40B4-BE49-F238E27FC236}">
                <a16:creationId xmlns:a16="http://schemas.microsoft.com/office/drawing/2014/main" id="{50A08267-8001-BC5B-DCEB-78AC7FF3B9EE}"/>
              </a:ext>
            </a:extLst>
          </p:cNvPr>
          <p:cNvSpPr txBox="1"/>
          <p:nvPr/>
        </p:nvSpPr>
        <p:spPr>
          <a:xfrm>
            <a:off x="7200900" y="2426742"/>
            <a:ext cx="4586288" cy="830997"/>
          </a:xfrm>
          <a:prstGeom prst="rect">
            <a:avLst/>
          </a:prstGeom>
          <a:solidFill>
            <a:schemeClr val="bg1"/>
          </a:solidFill>
        </p:spPr>
        <p:txBody>
          <a:bodyPr wrap="square">
            <a:spAutoFit/>
          </a:bodyPr>
          <a:lstStyle/>
          <a:p>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用户条目喜好向量</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r>
              <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所有收藏的电影向量的均值</a:t>
            </a:r>
            <a:endParaRPr lang="zh-CN" altLang="en-US" sz="2400" dirty="0"/>
          </a:p>
        </p:txBody>
      </p:sp>
      <p:pic>
        <p:nvPicPr>
          <p:cNvPr id="15" name="图片 14">
            <a:extLst>
              <a:ext uri="{FF2B5EF4-FFF2-40B4-BE49-F238E27FC236}">
                <a16:creationId xmlns:a16="http://schemas.microsoft.com/office/drawing/2014/main" id="{712E1CCE-B94F-0034-BA14-3469164062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84134" y="3568130"/>
            <a:ext cx="5360229" cy="772646"/>
          </a:xfrm>
          <a:prstGeom prst="rect">
            <a:avLst/>
          </a:prstGeom>
        </p:spPr>
      </p:pic>
    </p:spTree>
    <p:extLst>
      <p:ext uri="{BB962C8B-B14F-4D97-AF65-F5344CB8AC3E}">
        <p14:creationId xmlns:p14="http://schemas.microsoft.com/office/powerpoint/2010/main" val="220141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D517FE-45CA-7BE2-52CB-5E2BE4EA5EA1}"/>
              </a:ext>
            </a:extLst>
          </p:cNvPr>
          <p:cNvSpPr>
            <a:spLocks noGrp="1"/>
          </p:cNvSpPr>
          <p:nvPr>
            <p:ph type="title"/>
          </p:nvPr>
        </p:nvSpPr>
        <p:spPr/>
        <p:txBody>
          <a:bodyPr>
            <a:normAutofit fontScale="90000"/>
          </a:bodyPr>
          <a:lstStyle/>
          <a:p>
            <a:r>
              <a:rPr lang="zh-CN" altLang="en-US" sz="4400" dirty="0">
                <a:latin typeface="Times New Roman" panose="02020603050405020304" pitchFamily="18" charset="0"/>
                <a:ea typeface="微软雅黑" panose="020B0503020204020204" pitchFamily="34" charset="-122"/>
                <a:cs typeface="+mn-ea"/>
                <a:sym typeface="Times New Roman" panose="02020603050405020304" pitchFamily="18" charset="0"/>
              </a:rPr>
              <a:t>基于内容的</a:t>
            </a:r>
            <a:r>
              <a:rPr lang="en-US" altLang="zh-CN" sz="4400" dirty="0">
                <a:latin typeface="Times New Roman" panose="02020603050405020304" pitchFamily="18" charset="0"/>
                <a:ea typeface="微软雅黑" panose="020B0503020204020204" pitchFamily="34" charset="-122"/>
                <a:cs typeface="+mn-ea"/>
                <a:sym typeface="Times New Roman" panose="02020603050405020304" pitchFamily="18" charset="0"/>
              </a:rPr>
              <a:t>RS</a:t>
            </a:r>
            <a:endParaRPr kumimoji="1" lang="zh-CN" altLang="en-US" dirty="0"/>
          </a:p>
        </p:txBody>
      </p:sp>
      <p:sp>
        <p:nvSpPr>
          <p:cNvPr id="4" name="文本框 3">
            <a:extLst>
              <a:ext uri="{FF2B5EF4-FFF2-40B4-BE49-F238E27FC236}">
                <a16:creationId xmlns:a16="http://schemas.microsoft.com/office/drawing/2014/main" id="{1E8ADEE9-F05A-54F6-9F7F-67D82A6BB5EB}"/>
              </a:ext>
            </a:extLst>
          </p:cNvPr>
          <p:cNvSpPr txBox="1"/>
          <p:nvPr/>
        </p:nvSpPr>
        <p:spPr>
          <a:xfrm>
            <a:off x="133941" y="1084795"/>
            <a:ext cx="10108407" cy="2473691"/>
          </a:xfrm>
          <a:prstGeom prst="rect">
            <a:avLst/>
          </a:prstGeom>
          <a:noFill/>
        </p:spPr>
        <p:txBody>
          <a:bodyPr wrap="square">
            <a:spAutoFit/>
          </a:bodyPr>
          <a:lstStyle/>
          <a:p>
            <a:pPr marL="360045"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实现步骤：</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914400" lvl="1" indent="-457200" algn="just" fontAlgn="base">
              <a:lnSpc>
                <a:spcPct val="150000"/>
              </a:lnSpc>
              <a:spcBef>
                <a:spcPts val="600"/>
              </a:spcBef>
              <a:spcAft>
                <a:spcPct val="0"/>
              </a:spcAft>
              <a:buClr>
                <a:srgbClr val="FF6600"/>
              </a:buClr>
              <a:buSzPct val="80000"/>
              <a:buFont typeface="+mj-lt"/>
              <a:buAutoNum type="arabicPeriod"/>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创建条目（商品）向量</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914400" lvl="1" indent="-457200" algn="just" fontAlgn="base">
              <a:lnSpc>
                <a:spcPct val="150000"/>
              </a:lnSpc>
              <a:spcBef>
                <a:spcPts val="600"/>
              </a:spcBef>
              <a:spcAft>
                <a:spcPct val="0"/>
              </a:spcAft>
              <a:buClr>
                <a:srgbClr val="FF6600"/>
              </a:buClr>
              <a:buSzPct val="80000"/>
              <a:buFont typeface="+mj-lt"/>
              <a:buAutoNum type="arabicPeriod"/>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创建用户喜好向量</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914400" lvl="1" indent="-457200" algn="just" fontAlgn="base">
              <a:lnSpc>
                <a:spcPct val="150000"/>
              </a:lnSpc>
              <a:spcBef>
                <a:spcPts val="600"/>
              </a:spcBef>
              <a:spcAft>
                <a:spcPct val="0"/>
              </a:spcAft>
              <a:buClr>
                <a:srgbClr val="FF6600"/>
              </a:buClr>
              <a:buSzPct val="80000"/>
              <a:buFont typeface="+mj-lt"/>
              <a:buAutoNum type="arabicPeriod"/>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计算用户喜好与商品向量的距离，推荐与用户喜好最接近的条目</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6" name="文本框 5">
            <a:extLst>
              <a:ext uri="{FF2B5EF4-FFF2-40B4-BE49-F238E27FC236}">
                <a16:creationId xmlns:a16="http://schemas.microsoft.com/office/drawing/2014/main" id="{200E4793-7AD7-9BD6-9118-8CF2A9431207}"/>
              </a:ext>
            </a:extLst>
          </p:cNvPr>
          <p:cNvSpPr txBox="1"/>
          <p:nvPr/>
        </p:nvSpPr>
        <p:spPr>
          <a:xfrm>
            <a:off x="884035" y="3583381"/>
            <a:ext cx="6286501" cy="499367"/>
          </a:xfrm>
          <a:prstGeom prst="rect">
            <a:avLst/>
          </a:prstGeom>
          <a:noFill/>
        </p:spPr>
        <p:txBody>
          <a:bodyPr wrap="square">
            <a:spAutoFit/>
          </a:bodyPr>
          <a:lstStyle/>
          <a:p>
            <a:pPr marL="360045"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欧氏距离（距离越大，相似度越低）：</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8" name="图片 7">
            <a:extLst>
              <a:ext uri="{FF2B5EF4-FFF2-40B4-BE49-F238E27FC236}">
                <a16:creationId xmlns:a16="http://schemas.microsoft.com/office/drawing/2014/main" id="{42ADD0CB-73E0-583D-C9B8-90125218F4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3377" y="4082748"/>
            <a:ext cx="4267200" cy="596900"/>
          </a:xfrm>
          <a:prstGeom prst="rect">
            <a:avLst/>
          </a:prstGeom>
        </p:spPr>
      </p:pic>
      <p:sp>
        <p:nvSpPr>
          <p:cNvPr id="9" name="文本框 8">
            <a:extLst>
              <a:ext uri="{FF2B5EF4-FFF2-40B4-BE49-F238E27FC236}">
                <a16:creationId xmlns:a16="http://schemas.microsoft.com/office/drawing/2014/main" id="{B81626B6-DED5-7750-87DC-4F6B65260850}"/>
              </a:ext>
            </a:extLst>
          </p:cNvPr>
          <p:cNvSpPr txBox="1"/>
          <p:nvPr/>
        </p:nvSpPr>
        <p:spPr>
          <a:xfrm>
            <a:off x="884034" y="4679648"/>
            <a:ext cx="6286501" cy="499367"/>
          </a:xfrm>
          <a:prstGeom prst="rect">
            <a:avLst/>
          </a:prstGeom>
          <a:noFill/>
        </p:spPr>
        <p:txBody>
          <a:bodyPr wrap="square">
            <a:spAutoFit/>
          </a:bodyPr>
          <a:lstStyle/>
          <a:p>
            <a:pPr marL="360045"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mn-ea"/>
                <a:sym typeface="Times New Roman" panose="02020603050405020304" pitchFamily="18" charset="0"/>
              </a:rPr>
              <a:t>余弦相似度（值越大，相似度越大）：</a:t>
            </a:r>
            <a:endParaRPr lang="en-US" altLang="zh-CN" sz="20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11" name="图片 10">
            <a:extLst>
              <a:ext uri="{FF2B5EF4-FFF2-40B4-BE49-F238E27FC236}">
                <a16:creationId xmlns:a16="http://schemas.microsoft.com/office/drawing/2014/main" id="{F7C5AD67-8722-7A83-CE6A-D94749B120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3377" y="5411878"/>
            <a:ext cx="4077209" cy="728073"/>
          </a:xfrm>
          <a:prstGeom prst="rect">
            <a:avLst/>
          </a:prstGeom>
        </p:spPr>
      </p:pic>
    </p:spTree>
    <p:extLst>
      <p:ext uri="{BB962C8B-B14F-4D97-AF65-F5344CB8AC3E}">
        <p14:creationId xmlns:p14="http://schemas.microsoft.com/office/powerpoint/2010/main" val="3173124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CE2982-7D6C-941F-6D34-A8CB29F86733}"/>
              </a:ext>
            </a:extLst>
          </p:cNvPr>
          <p:cNvSpPr>
            <a:spLocks noGrp="1"/>
          </p:cNvSpPr>
          <p:nvPr>
            <p:ph type="title"/>
          </p:nvPr>
        </p:nvSpPr>
        <p:spPr/>
        <p:txBody>
          <a:bodyPr>
            <a:normAutofit fontScale="90000"/>
          </a:bodyPr>
          <a:lstStyle/>
          <a:p>
            <a:r>
              <a:rPr kumimoji="1" lang="zh-CN" altLang="en-US" dirty="0"/>
              <a:t>余弦相似度</a:t>
            </a:r>
          </a:p>
        </p:txBody>
      </p:sp>
      <p:grpSp>
        <p:nvGrpSpPr>
          <p:cNvPr id="7" name="组合 6">
            <a:extLst>
              <a:ext uri="{FF2B5EF4-FFF2-40B4-BE49-F238E27FC236}">
                <a16:creationId xmlns:a16="http://schemas.microsoft.com/office/drawing/2014/main" id="{AED72342-CDA2-F3F9-395B-DBD69CE6E8CC}"/>
              </a:ext>
            </a:extLst>
          </p:cNvPr>
          <p:cNvGrpSpPr/>
          <p:nvPr/>
        </p:nvGrpSpPr>
        <p:grpSpPr>
          <a:xfrm>
            <a:off x="262528" y="1397396"/>
            <a:ext cx="11053994" cy="4063207"/>
            <a:chOff x="133941" y="1397396"/>
            <a:chExt cx="11053994" cy="4063207"/>
          </a:xfrm>
        </p:grpSpPr>
        <p:pic>
          <p:nvPicPr>
            <p:cNvPr id="3" name="Picture 2" descr="图片">
              <a:extLst>
                <a:ext uri="{FF2B5EF4-FFF2-40B4-BE49-F238E27FC236}">
                  <a16:creationId xmlns:a16="http://schemas.microsoft.com/office/drawing/2014/main" id="{2C1C5568-89A8-83B1-B99B-BF3A497713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941" y="1397396"/>
              <a:ext cx="11053994" cy="4063207"/>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A8E4FA1E-929A-F4A4-1610-84F2FDEBFC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10549" y="4743451"/>
              <a:ext cx="2733676" cy="670084"/>
            </a:xfrm>
            <a:prstGeom prst="rect">
              <a:avLst/>
            </a:prstGeom>
          </p:spPr>
        </p:pic>
        <p:pic>
          <p:nvPicPr>
            <p:cNvPr id="6" name="图片 5">
              <a:extLst>
                <a:ext uri="{FF2B5EF4-FFF2-40B4-BE49-F238E27FC236}">
                  <a16:creationId xmlns:a16="http://schemas.microsoft.com/office/drawing/2014/main" id="{6AA953B3-2230-83CC-B5DE-6736E4C710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2977" y="4714875"/>
              <a:ext cx="1366838" cy="335042"/>
            </a:xfrm>
            <a:prstGeom prst="rect">
              <a:avLst/>
            </a:prstGeom>
          </p:spPr>
        </p:pic>
      </p:grpSp>
    </p:spTree>
    <p:extLst>
      <p:ext uri="{BB962C8B-B14F-4D97-AF65-F5344CB8AC3E}">
        <p14:creationId xmlns:p14="http://schemas.microsoft.com/office/powerpoint/2010/main" val="2995832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91D55D-F279-FD94-E928-914534D9E038}"/>
              </a:ext>
            </a:extLst>
          </p:cNvPr>
          <p:cNvSpPr>
            <a:spLocks noGrp="1"/>
          </p:cNvSpPr>
          <p:nvPr>
            <p:ph type="title"/>
          </p:nvPr>
        </p:nvSpPr>
        <p:spPr/>
        <p:txBody>
          <a:bodyPr>
            <a:normAutofit fontScale="90000"/>
          </a:bodyPr>
          <a:lstStyle/>
          <a:p>
            <a:r>
              <a:rPr lang="zh-CN" altLang="en-US" sz="4400" dirty="0">
                <a:latin typeface="Times New Roman" panose="02020603050405020304" pitchFamily="18" charset="0"/>
                <a:ea typeface="微软雅黑" panose="020B0503020204020204" pitchFamily="34" charset="-122"/>
                <a:cs typeface="+mn-ea"/>
                <a:sym typeface="Times New Roman" panose="02020603050405020304" pitchFamily="18" charset="0"/>
              </a:rPr>
              <a:t>基于内容的</a:t>
            </a:r>
            <a:r>
              <a:rPr lang="en-US" altLang="zh-CN" sz="4400" dirty="0">
                <a:latin typeface="Times New Roman" panose="02020603050405020304" pitchFamily="18" charset="0"/>
                <a:ea typeface="微软雅黑" panose="020B0503020204020204" pitchFamily="34" charset="-122"/>
                <a:cs typeface="+mn-ea"/>
                <a:sym typeface="Times New Roman" panose="02020603050405020304" pitchFamily="18" charset="0"/>
              </a:rPr>
              <a:t>RS</a:t>
            </a:r>
            <a:endParaRPr kumimoji="1" lang="zh-CN" altLang="en-US" dirty="0"/>
          </a:p>
        </p:txBody>
      </p:sp>
      <p:sp>
        <p:nvSpPr>
          <p:cNvPr id="3" name="文本框 2">
            <a:extLst>
              <a:ext uri="{FF2B5EF4-FFF2-40B4-BE49-F238E27FC236}">
                <a16:creationId xmlns:a16="http://schemas.microsoft.com/office/drawing/2014/main" id="{607D9857-CC9F-DEBC-DDFD-001BD25FE964}"/>
              </a:ext>
            </a:extLst>
          </p:cNvPr>
          <p:cNvSpPr txBox="1"/>
          <p:nvPr/>
        </p:nvSpPr>
        <p:spPr>
          <a:xfrm>
            <a:off x="337537" y="1270533"/>
            <a:ext cx="10108407" cy="4324967"/>
          </a:xfrm>
          <a:prstGeom prst="rect">
            <a:avLst/>
          </a:prstGeom>
          <a:noFill/>
        </p:spPr>
        <p:txBody>
          <a:bodyPr wrap="square">
            <a:spAutoFit/>
          </a:bodyPr>
          <a:lstStyle/>
          <a:p>
            <a:pPr marL="360045"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优点：</a:t>
            </a:r>
          </a:p>
          <a:p>
            <a:pPr marL="914400" lvl="1" indent="-457200" algn="just" fontAlgn="base">
              <a:lnSpc>
                <a:spcPct val="150000"/>
              </a:lnSpc>
              <a:spcBef>
                <a:spcPts val="600"/>
              </a:spcBef>
              <a:spcAft>
                <a:spcPct val="0"/>
              </a:spcAft>
              <a:buClr>
                <a:srgbClr val="FF6600"/>
              </a:buClr>
              <a:buSzPct val="80000"/>
              <a:buFont typeface="Wingdings" pitchFamily="2" charset="2"/>
              <a:buChar char="ü"/>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运行机制与其他用户数据无关</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914400" lvl="1" indent="-457200" algn="just" fontAlgn="base">
              <a:lnSpc>
                <a:spcPct val="150000"/>
              </a:lnSpc>
              <a:spcBef>
                <a:spcPts val="600"/>
              </a:spcBef>
              <a:spcAft>
                <a:spcPct val="0"/>
              </a:spcAft>
              <a:buClr>
                <a:srgbClr val="FF6600"/>
              </a:buClr>
              <a:buSzPct val="80000"/>
              <a:buFont typeface="Wingdings" pitchFamily="2" charset="2"/>
              <a:buChar char="ü"/>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原理容易理解</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914400" lvl="1" indent="-457200" algn="just" fontAlgn="base">
              <a:lnSpc>
                <a:spcPct val="150000"/>
              </a:lnSpc>
              <a:spcBef>
                <a:spcPts val="600"/>
              </a:spcBef>
              <a:spcAft>
                <a:spcPct val="0"/>
              </a:spcAft>
              <a:buClr>
                <a:srgbClr val="FF6600"/>
              </a:buClr>
              <a:buSzPct val="80000"/>
              <a:buFont typeface="Wingdings" pitchFamily="2" charset="2"/>
              <a:buChar char="ü"/>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直接基于用户喜好推荐新的和未知条目</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360045"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缺点：</a:t>
            </a:r>
          </a:p>
          <a:p>
            <a:pPr marL="914400" lvl="1" indent="-457200" algn="just" fontAlgn="base">
              <a:lnSpc>
                <a:spcPct val="150000"/>
              </a:lnSpc>
              <a:spcBef>
                <a:spcPts val="600"/>
              </a:spcBef>
              <a:spcAft>
                <a:spcPct val="0"/>
              </a:spcAft>
              <a:buClr>
                <a:srgbClr val="FF6600"/>
              </a:buClr>
              <a:buSzPct val="80000"/>
              <a:buFont typeface="Wingdings" pitchFamily="2" charset="2"/>
              <a:buChar char="ü"/>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条目属性可能无法准确反映条目信息，导致不正确推荐</a:t>
            </a:r>
            <a:endParaRPr lang="en-US" altLang="zh-CN" sz="2400" dirty="0">
              <a:latin typeface="Times New Roman" panose="02020603050405020304" pitchFamily="18" charset="0"/>
              <a:ea typeface="微软雅黑" panose="020B0503020204020204" pitchFamily="34" charset="-122"/>
              <a:cs typeface="+mn-ea"/>
              <a:sym typeface="Times New Roman" panose="02020603050405020304" pitchFamily="18" charset="0"/>
            </a:endParaRPr>
          </a:p>
          <a:p>
            <a:pPr marL="914400" lvl="1" indent="-457200" algn="just" fontAlgn="base">
              <a:lnSpc>
                <a:spcPct val="150000"/>
              </a:lnSpc>
              <a:spcBef>
                <a:spcPts val="600"/>
              </a:spcBef>
              <a:spcAft>
                <a:spcPct val="0"/>
              </a:spcAft>
              <a:buClr>
                <a:srgbClr val="FF6600"/>
              </a:buClr>
              <a:buSzPct val="80000"/>
              <a:buFont typeface="Wingdings" pitchFamily="2" charset="2"/>
              <a:buChar char="ü"/>
            </a:pPr>
            <a:r>
              <a:rPr lang="zh-CN" altLang="en-US" sz="2400" dirty="0">
                <a:latin typeface="Times New Roman" panose="02020603050405020304" pitchFamily="18" charset="0"/>
                <a:ea typeface="微软雅黑" panose="020B0503020204020204" pitchFamily="34" charset="-122"/>
                <a:cs typeface="+mn-ea"/>
                <a:sym typeface="Times New Roman" panose="02020603050405020304" pitchFamily="18" charset="0"/>
              </a:rPr>
              <a:t>依赖用户历史数据，新用户无法推荐，或者用户新的喜好无法顾及</a:t>
            </a:r>
            <a:endParaRPr lang="en-US" altLang="zh-CN" sz="220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3795762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15FE33-A0EB-24B9-1B4C-6D96CAC56BD1}"/>
              </a:ext>
            </a:extLst>
          </p:cNvPr>
          <p:cNvSpPr>
            <a:spLocks noGrp="1"/>
          </p:cNvSpPr>
          <p:nvPr>
            <p:ph type="title"/>
          </p:nvPr>
        </p:nvSpPr>
        <p:spPr/>
        <p:txBody>
          <a:bodyPr>
            <a:normAutofit fontScale="90000"/>
          </a:bodyPr>
          <a:lstStyle/>
          <a:p>
            <a:r>
              <a:rPr kumimoji="1" lang="zh-CN" altLang="en-US" b="1" dirty="0"/>
              <a:t>基于协同过滤的</a:t>
            </a:r>
            <a:r>
              <a:rPr kumimoji="1" lang="en-US" altLang="zh-CN" b="1" dirty="0"/>
              <a:t>RS</a:t>
            </a:r>
            <a:endParaRPr kumimoji="1" lang="zh-CN" altLang="en-US" b="1" dirty="0"/>
          </a:p>
        </p:txBody>
      </p:sp>
      <p:sp>
        <p:nvSpPr>
          <p:cNvPr id="4" name="文本框 3">
            <a:extLst>
              <a:ext uri="{FF2B5EF4-FFF2-40B4-BE49-F238E27FC236}">
                <a16:creationId xmlns:a16="http://schemas.microsoft.com/office/drawing/2014/main" id="{67087FF8-2D60-AC49-97B0-2D5DE0005FD3}"/>
              </a:ext>
            </a:extLst>
          </p:cNvPr>
          <p:cNvSpPr txBox="1"/>
          <p:nvPr/>
        </p:nvSpPr>
        <p:spPr>
          <a:xfrm>
            <a:off x="1200149" y="1397867"/>
            <a:ext cx="9449391" cy="4929683"/>
          </a:xfrm>
          <a:prstGeom prst="rect">
            <a:avLst/>
          </a:prstGeom>
          <a:noFill/>
        </p:spPr>
        <p:txBody>
          <a:bodyPr wrap="square">
            <a:spAutoFit/>
          </a:bodyPr>
          <a:lstStyle/>
          <a:p>
            <a:pPr marL="360045"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t>基于</a:t>
            </a:r>
            <a:r>
              <a:rPr lang="en-US" altLang="zh-CN" sz="2400" dirty="0"/>
              <a:t>CF</a:t>
            </a:r>
            <a:r>
              <a:rPr lang="zh-CN" altLang="en-US" sz="2400" dirty="0"/>
              <a:t>（</a:t>
            </a:r>
            <a:r>
              <a:rPr lang="en-US" altLang="zh-CN" sz="2400" dirty="0"/>
              <a:t>Collaborative Filtering,</a:t>
            </a:r>
            <a:r>
              <a:rPr lang="zh-CN" altLang="en-US" sz="2400" dirty="0"/>
              <a:t> </a:t>
            </a:r>
            <a:r>
              <a:rPr lang="en-US" altLang="zh-CN" sz="2400" dirty="0"/>
              <a:t>CF</a:t>
            </a:r>
            <a:r>
              <a:rPr lang="zh-CN" altLang="en-US" sz="2400" dirty="0"/>
              <a:t>）的</a:t>
            </a:r>
            <a:r>
              <a:rPr lang="en-US" altLang="zh-CN" sz="2400" dirty="0"/>
              <a:t>RS</a:t>
            </a:r>
            <a:r>
              <a:rPr lang="zh-CN" altLang="en-US" sz="2400" dirty="0"/>
              <a:t>，推荐时不需要条目属性或者描述，基于用户交互行为（评分、购买、分享）进行推荐。</a:t>
            </a:r>
            <a:endParaRPr lang="en-US" altLang="zh-CN" sz="2400" dirty="0"/>
          </a:p>
          <a:p>
            <a:pPr marL="360045"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t>两种不同类型的协同过滤：</a:t>
            </a:r>
            <a:endParaRPr lang="en-US" altLang="zh-CN" sz="2400" dirty="0"/>
          </a:p>
          <a:p>
            <a:pPr marL="817245" lvl="1"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solidFill>
                  <a:srgbClr val="FF0000"/>
                </a:solidFill>
              </a:rPr>
              <a:t>基于最近邻居的</a:t>
            </a:r>
            <a:r>
              <a:rPr lang="en-US" altLang="zh-CN" sz="2400" dirty="0">
                <a:solidFill>
                  <a:srgbClr val="FF0000"/>
                </a:solidFill>
              </a:rPr>
              <a:t>CF</a:t>
            </a:r>
          </a:p>
          <a:p>
            <a:pPr marL="1274445" lvl="2"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t>基于用户的</a:t>
            </a:r>
            <a:r>
              <a:rPr lang="en-US" altLang="zh-CN" sz="2400" dirty="0"/>
              <a:t>CF</a:t>
            </a:r>
          </a:p>
          <a:p>
            <a:pPr marL="1274445" lvl="2"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t>基于商品的</a:t>
            </a:r>
            <a:r>
              <a:rPr lang="en-US" altLang="zh-CN" sz="2400" dirty="0"/>
              <a:t>CF</a:t>
            </a:r>
          </a:p>
          <a:p>
            <a:pPr marL="817245" lvl="1" indent="-360045" algn="just" fontAlgn="base">
              <a:lnSpc>
                <a:spcPct val="150000"/>
              </a:lnSpc>
              <a:spcBef>
                <a:spcPts val="600"/>
              </a:spcBef>
              <a:spcAft>
                <a:spcPct val="0"/>
              </a:spcAft>
              <a:buClr>
                <a:srgbClr val="FF6600"/>
              </a:buClr>
              <a:buSzPct val="80000"/>
              <a:buFont typeface="Wingdings" panose="05000000000000000000" pitchFamily="2" charset="2"/>
              <a:buChar char="l"/>
            </a:pPr>
            <a:r>
              <a:rPr lang="zh-CN" altLang="en-US" sz="2400" dirty="0"/>
              <a:t>基于潜在因子的</a:t>
            </a:r>
            <a:r>
              <a:rPr lang="en-US" altLang="zh-CN" sz="2400" dirty="0"/>
              <a:t>CF</a:t>
            </a:r>
          </a:p>
          <a:p>
            <a:pPr marL="360045" indent="-360045" algn="just" fontAlgn="base">
              <a:lnSpc>
                <a:spcPct val="150000"/>
              </a:lnSpc>
              <a:spcBef>
                <a:spcPts val="600"/>
              </a:spcBef>
              <a:spcAft>
                <a:spcPct val="0"/>
              </a:spcAft>
              <a:buClr>
                <a:srgbClr val="FF6600"/>
              </a:buClr>
              <a:buSzPct val="80000"/>
              <a:buFont typeface="Wingdings" panose="05000000000000000000" pitchFamily="2" charset="2"/>
              <a:buChar char="l"/>
            </a:pPr>
            <a:endParaRPr lang="zh-CN" altLang="en-US" sz="2400" dirty="0"/>
          </a:p>
        </p:txBody>
      </p:sp>
    </p:spTree>
    <p:extLst>
      <p:ext uri="{BB962C8B-B14F-4D97-AF65-F5344CB8AC3E}">
        <p14:creationId xmlns:p14="http://schemas.microsoft.com/office/powerpoint/2010/main" val="1097943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E19DA0-7D53-1520-8CF5-1A522559A1D3}"/>
              </a:ext>
            </a:extLst>
          </p:cNvPr>
          <p:cNvSpPr>
            <a:spLocks noGrp="1"/>
          </p:cNvSpPr>
          <p:nvPr>
            <p:ph type="title"/>
          </p:nvPr>
        </p:nvSpPr>
        <p:spPr/>
        <p:txBody>
          <a:bodyPr>
            <a:normAutofit fontScale="90000"/>
          </a:bodyPr>
          <a:lstStyle/>
          <a:p>
            <a:r>
              <a:rPr kumimoji="1" lang="zh-CN" altLang="en-US" dirty="0"/>
              <a:t>基于最近邻的</a:t>
            </a:r>
            <a:r>
              <a:rPr kumimoji="1" lang="en-US" altLang="zh-CN" dirty="0"/>
              <a:t>CF</a:t>
            </a:r>
            <a:endParaRPr kumimoji="1" lang="zh-CN" altLang="en-US" dirty="0"/>
          </a:p>
        </p:txBody>
      </p:sp>
      <p:pic>
        <p:nvPicPr>
          <p:cNvPr id="3" name="图片 5">
            <a:extLst>
              <a:ext uri="{FF2B5EF4-FFF2-40B4-BE49-F238E27FC236}">
                <a16:creationId xmlns:a16="http://schemas.microsoft.com/office/drawing/2014/main" id="{1EFEB7EC-33DC-80C0-4DC2-E98AAF1BB3E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695450"/>
            <a:ext cx="4918179" cy="371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内容占位符 1">
            <a:extLst>
              <a:ext uri="{FF2B5EF4-FFF2-40B4-BE49-F238E27FC236}">
                <a16:creationId xmlns:a16="http://schemas.microsoft.com/office/drawing/2014/main" id="{EA5AB00A-FF6C-DACD-1BDE-F9EAA78F1528}"/>
              </a:ext>
            </a:extLst>
          </p:cNvPr>
          <p:cNvSpPr txBox="1">
            <a:spLocks noChangeArrowheads="1"/>
          </p:cNvSpPr>
          <p:nvPr/>
        </p:nvSpPr>
        <p:spPr>
          <a:xfrm>
            <a:off x="744589" y="5519738"/>
            <a:ext cx="4648200" cy="563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1600" b="1" dirty="0"/>
              <a:t>基于用户的协同过滤（</a:t>
            </a:r>
            <a:r>
              <a:rPr lang="en-US" altLang="zh-CN" sz="1600" b="1" dirty="0"/>
              <a:t>User CF</a:t>
            </a:r>
            <a:r>
              <a:rPr lang="zh-CN" altLang="en-US" sz="1600" b="1" dirty="0"/>
              <a:t>）</a:t>
            </a:r>
            <a:endParaRPr lang="zh-CN" altLang="zh-CN" sz="1600" b="1" dirty="0"/>
          </a:p>
        </p:txBody>
      </p:sp>
      <p:pic>
        <p:nvPicPr>
          <p:cNvPr id="5" name="图片 4">
            <a:extLst>
              <a:ext uri="{FF2B5EF4-FFF2-40B4-BE49-F238E27FC236}">
                <a16:creationId xmlns:a16="http://schemas.microsoft.com/office/drawing/2014/main" id="{F87B079D-7B95-DFF1-8437-9D25690D835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76925" y="1695450"/>
            <a:ext cx="5487103" cy="360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内容占位符 1">
            <a:extLst>
              <a:ext uri="{FF2B5EF4-FFF2-40B4-BE49-F238E27FC236}">
                <a16:creationId xmlns:a16="http://schemas.microsoft.com/office/drawing/2014/main" id="{4A7C3A23-82D1-2315-412C-F67C501AF23F}"/>
              </a:ext>
            </a:extLst>
          </p:cNvPr>
          <p:cNvSpPr txBox="1">
            <a:spLocks noChangeArrowheads="1"/>
          </p:cNvSpPr>
          <p:nvPr/>
        </p:nvSpPr>
        <p:spPr>
          <a:xfrm>
            <a:off x="7493051" y="5545659"/>
            <a:ext cx="3370211" cy="563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1600" b="1" dirty="0"/>
              <a:t>基于物品的协同过滤（</a:t>
            </a:r>
            <a:r>
              <a:rPr lang="en-US" altLang="zh-CN" sz="1600" b="1" dirty="0"/>
              <a:t>Item CF</a:t>
            </a:r>
            <a:r>
              <a:rPr lang="zh-CN" altLang="en-US" sz="1600" b="1" dirty="0"/>
              <a:t>）</a:t>
            </a:r>
            <a:endParaRPr lang="zh-CN" altLang="zh-CN" sz="1600" b="1" dirty="0"/>
          </a:p>
        </p:txBody>
      </p:sp>
    </p:spTree>
    <p:extLst>
      <p:ext uri="{BB962C8B-B14F-4D97-AF65-F5344CB8AC3E}">
        <p14:creationId xmlns:p14="http://schemas.microsoft.com/office/powerpoint/2010/main" val="8006843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5E25B7-9F49-4819-E198-472B1FA49309}"/>
              </a:ext>
            </a:extLst>
          </p:cNvPr>
          <p:cNvSpPr>
            <a:spLocks noGrp="1"/>
          </p:cNvSpPr>
          <p:nvPr>
            <p:ph type="title"/>
          </p:nvPr>
        </p:nvSpPr>
        <p:spPr/>
        <p:txBody>
          <a:bodyPr>
            <a:normAutofit fontScale="90000"/>
          </a:bodyPr>
          <a:lstStyle/>
          <a:p>
            <a:r>
              <a:rPr kumimoji="1" lang="en-US" altLang="zh-CN" dirty="0" err="1"/>
              <a:t>UserCF</a:t>
            </a:r>
            <a:endParaRPr kumimoji="1" lang="zh-CN" altLang="en-US" dirty="0"/>
          </a:p>
        </p:txBody>
      </p:sp>
      <p:pic>
        <p:nvPicPr>
          <p:cNvPr id="4" name="图片 1">
            <a:extLst>
              <a:ext uri="{FF2B5EF4-FFF2-40B4-BE49-F238E27FC236}">
                <a16:creationId xmlns:a16="http://schemas.microsoft.com/office/drawing/2014/main" id="{9FDD8F98-56C0-5732-EF8E-70FACDB50E0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54894" y="2896114"/>
            <a:ext cx="8229600" cy="263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2">
            <a:extLst>
              <a:ext uri="{FF2B5EF4-FFF2-40B4-BE49-F238E27FC236}">
                <a16:creationId xmlns:a16="http://schemas.microsoft.com/office/drawing/2014/main" id="{46C8CEBA-EECA-B29B-5077-2BBAFDDA9F3F}"/>
              </a:ext>
            </a:extLst>
          </p:cNvPr>
          <p:cNvSpPr txBox="1">
            <a:spLocks noChangeArrowheads="1"/>
          </p:cNvSpPr>
          <p:nvPr/>
        </p:nvSpPr>
        <p:spPr bwMode="auto">
          <a:xfrm>
            <a:off x="3756025" y="5939789"/>
            <a:ext cx="37306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1600" dirty="0"/>
              <a:t>图</a:t>
            </a:r>
            <a:r>
              <a:rPr lang="en-US" altLang="zh-CN" sz="1600" dirty="0"/>
              <a:t> </a:t>
            </a:r>
            <a:r>
              <a:rPr lang="zh-CN" altLang="en-US" sz="1600" dirty="0"/>
              <a:t>物品到用户倒排表及用户相似度矩阵</a:t>
            </a:r>
          </a:p>
        </p:txBody>
      </p:sp>
      <p:sp>
        <p:nvSpPr>
          <p:cNvPr id="7" name="文本框 6">
            <a:extLst>
              <a:ext uri="{FF2B5EF4-FFF2-40B4-BE49-F238E27FC236}">
                <a16:creationId xmlns:a16="http://schemas.microsoft.com/office/drawing/2014/main" id="{CB805078-A0CE-0F6F-C8DD-FA92D0A3873E}"/>
              </a:ext>
            </a:extLst>
          </p:cNvPr>
          <p:cNvSpPr txBox="1"/>
          <p:nvPr/>
        </p:nvSpPr>
        <p:spPr>
          <a:xfrm>
            <a:off x="381000" y="1164250"/>
            <a:ext cx="9577388" cy="1323439"/>
          </a:xfrm>
          <a:prstGeom prst="rect">
            <a:avLst/>
          </a:prstGeom>
          <a:noFill/>
        </p:spPr>
        <p:txBody>
          <a:bodyPr wrap="square">
            <a:spAutoFit/>
          </a:bodyPr>
          <a:lstStyle/>
          <a:p>
            <a:pPr marL="342900" indent="-342900">
              <a:buFont typeface="Wingdings" pitchFamily="2" charset="2"/>
              <a:buChar char="l"/>
            </a:pPr>
            <a:r>
              <a:rPr lang="zh-CN" altLang="zh-CN" sz="2000" dirty="0"/>
              <a:t>由于很多用户相互之间并没有对同样的物品产生过行为，因此其相似度公式的分子为</a:t>
            </a:r>
            <a:r>
              <a:rPr lang="en-US" altLang="zh-CN" sz="2000" dirty="0"/>
              <a:t>0</a:t>
            </a:r>
            <a:r>
              <a:rPr lang="zh-CN" altLang="zh-CN" sz="2000" dirty="0"/>
              <a:t>，相似度也为</a:t>
            </a:r>
            <a:r>
              <a:rPr lang="en-US" altLang="zh-CN" sz="2000" dirty="0"/>
              <a:t>0</a:t>
            </a:r>
          </a:p>
          <a:p>
            <a:pPr marL="342900" indent="-342900">
              <a:buFont typeface="Wingdings" pitchFamily="2" charset="2"/>
              <a:buChar char="l"/>
            </a:pPr>
            <a:r>
              <a:rPr lang="zh-CN" altLang="en-US" sz="2000" dirty="0"/>
              <a:t>我们</a:t>
            </a:r>
            <a:r>
              <a:rPr lang="zh-CN" altLang="zh-CN" sz="2000" dirty="0"/>
              <a:t>可以利用物品到用户的倒排表（每个物品所对应的、对该物品感兴趣的用户列表），仅对有对相同物品产生交互行为的用户进行计算</a:t>
            </a:r>
          </a:p>
        </p:txBody>
      </p:sp>
    </p:spTree>
    <p:extLst>
      <p:ext uri="{BB962C8B-B14F-4D97-AF65-F5344CB8AC3E}">
        <p14:creationId xmlns:p14="http://schemas.microsoft.com/office/powerpoint/2010/main" val="309654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9C354C-36DE-37AD-F3EC-1452829EDE9C}"/>
              </a:ext>
            </a:extLst>
          </p:cNvPr>
          <p:cNvSpPr>
            <a:spLocks noGrp="1"/>
          </p:cNvSpPr>
          <p:nvPr>
            <p:ph type="title"/>
          </p:nvPr>
        </p:nvSpPr>
        <p:spPr/>
        <p:txBody>
          <a:bodyPr>
            <a:normAutofit fontScale="90000"/>
          </a:bodyPr>
          <a:lstStyle/>
          <a:p>
            <a:r>
              <a:rPr kumimoji="1" lang="en-US" altLang="zh-CN" dirty="0" err="1"/>
              <a:t>UserCF</a:t>
            </a:r>
            <a:endParaRPr kumimoji="1" lang="zh-CN" altLang="en-US" dirty="0"/>
          </a:p>
        </p:txBody>
      </p:sp>
      <p:sp>
        <p:nvSpPr>
          <p:cNvPr id="3" name="内容占位符 1">
            <a:extLst>
              <a:ext uri="{FF2B5EF4-FFF2-40B4-BE49-F238E27FC236}">
                <a16:creationId xmlns:a16="http://schemas.microsoft.com/office/drawing/2014/main" id="{B39EB7BA-EC4A-757F-AE67-C44F096951F4}"/>
              </a:ext>
            </a:extLst>
          </p:cNvPr>
          <p:cNvSpPr txBox="1">
            <a:spLocks noChangeArrowheads="1"/>
          </p:cNvSpPr>
          <p:nvPr/>
        </p:nvSpPr>
        <p:spPr>
          <a:xfrm>
            <a:off x="671513" y="1051718"/>
            <a:ext cx="10515600" cy="55919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2400" dirty="0">
                <a:latin typeface="Songti SC" panose="02010600040101010101" pitchFamily="2" charset="-122"/>
                <a:ea typeface="Songti SC" panose="02010600040101010101" pitchFamily="2" charset="-122"/>
              </a:rPr>
              <a:t>得到用户间的相似度后，再使用如下公式来度量用户</a:t>
            </a:r>
            <a:r>
              <a:rPr lang="en-US" altLang="zh-CN" sz="2400" dirty="0">
                <a:latin typeface="Songti SC" panose="02010600040101010101" pitchFamily="2" charset="-122"/>
                <a:ea typeface="Songti SC" panose="02010600040101010101" pitchFamily="2" charset="-122"/>
              </a:rPr>
              <a:t>u</a:t>
            </a:r>
            <a:r>
              <a:rPr lang="zh-CN" altLang="zh-CN" sz="2400" dirty="0">
                <a:latin typeface="Songti SC" panose="02010600040101010101" pitchFamily="2" charset="-122"/>
                <a:ea typeface="Songti SC" panose="02010600040101010101" pitchFamily="2" charset="-122"/>
              </a:rPr>
              <a:t>对物品</a:t>
            </a:r>
            <a:r>
              <a:rPr lang="en-US" altLang="zh-CN" sz="2400" dirty="0" err="1">
                <a:latin typeface="Songti SC" panose="02010600040101010101" pitchFamily="2" charset="-122"/>
                <a:ea typeface="Songti SC" panose="02010600040101010101" pitchFamily="2" charset="-122"/>
              </a:rPr>
              <a:t>i</a:t>
            </a:r>
            <a:r>
              <a:rPr lang="zh-CN" altLang="zh-CN" sz="2400" dirty="0">
                <a:latin typeface="Songti SC" panose="02010600040101010101" pitchFamily="2" charset="-122"/>
                <a:ea typeface="Songti SC" panose="02010600040101010101" pitchFamily="2" charset="-122"/>
              </a:rPr>
              <a:t>的兴趣程度</a:t>
            </a:r>
            <a:r>
              <a:rPr lang="en-US" altLang="zh-CN" sz="2400" dirty="0" err="1">
                <a:latin typeface="Songti SC" panose="02010600040101010101" pitchFamily="2" charset="-122"/>
                <a:ea typeface="Songti SC" panose="02010600040101010101" pitchFamily="2" charset="-122"/>
              </a:rPr>
              <a:t>P</a:t>
            </a:r>
            <a:r>
              <a:rPr lang="en-US" altLang="zh-CN" sz="2400" baseline="-25000" dirty="0" err="1">
                <a:latin typeface="Songti SC" panose="02010600040101010101" pitchFamily="2" charset="-122"/>
                <a:ea typeface="Songti SC" panose="02010600040101010101" pitchFamily="2" charset="-122"/>
              </a:rPr>
              <a:t>ui</a:t>
            </a:r>
            <a:r>
              <a:rPr lang="zh-CN" altLang="en-US" sz="2400" dirty="0">
                <a:latin typeface="Songti SC" panose="02010600040101010101" pitchFamily="2" charset="-122"/>
                <a:ea typeface="Songti SC" panose="02010600040101010101" pitchFamily="2" charset="-122"/>
              </a:rPr>
              <a:t>：</a:t>
            </a:r>
            <a:endParaRPr lang="en-US" altLang="zh-CN" sz="2400" dirty="0">
              <a:latin typeface="Songti SC" panose="02010600040101010101" pitchFamily="2" charset="-122"/>
              <a:ea typeface="Songti SC" panose="02010600040101010101" pitchFamily="2" charset="-122"/>
            </a:endParaRPr>
          </a:p>
          <a:p>
            <a:endParaRPr lang="en-US" altLang="zh-CN" sz="2400" dirty="0">
              <a:latin typeface="Songti SC" panose="02010600040101010101" pitchFamily="2" charset="-122"/>
              <a:ea typeface="Songti SC" panose="02010600040101010101" pitchFamily="2" charset="-122"/>
            </a:endParaRPr>
          </a:p>
          <a:p>
            <a:endParaRPr lang="en-US" altLang="zh-CN" sz="2400" dirty="0">
              <a:latin typeface="Songti SC" panose="02010600040101010101" pitchFamily="2" charset="-122"/>
              <a:ea typeface="Songti SC" panose="02010600040101010101" pitchFamily="2" charset="-122"/>
            </a:endParaRPr>
          </a:p>
          <a:p>
            <a:endParaRPr lang="en-US" altLang="zh-CN" sz="2400" dirty="0">
              <a:latin typeface="Songti SC" panose="02010600040101010101" pitchFamily="2" charset="-122"/>
              <a:ea typeface="Songti SC" panose="02010600040101010101" pitchFamily="2" charset="-122"/>
            </a:endParaRPr>
          </a:p>
          <a:p>
            <a:endParaRPr lang="en-US" altLang="zh-CN" sz="2400" dirty="0">
              <a:latin typeface="Songti SC" panose="02010600040101010101" pitchFamily="2" charset="-122"/>
              <a:ea typeface="Songti SC" panose="02010600040101010101" pitchFamily="2" charset="-122"/>
            </a:endParaRPr>
          </a:p>
          <a:p>
            <a:endParaRPr lang="en-US" altLang="zh-CN" sz="2400" dirty="0">
              <a:latin typeface="Songti SC" panose="02010600040101010101" pitchFamily="2" charset="-122"/>
              <a:ea typeface="Songti SC" panose="02010600040101010101" pitchFamily="2" charset="-122"/>
            </a:endParaRPr>
          </a:p>
          <a:p>
            <a:endParaRPr lang="en-US" altLang="zh-CN" sz="2400" dirty="0">
              <a:latin typeface="Songti SC" panose="02010600040101010101" pitchFamily="2" charset="-122"/>
              <a:ea typeface="Songti SC" panose="02010600040101010101" pitchFamily="2" charset="-122"/>
            </a:endParaRPr>
          </a:p>
          <a:p>
            <a:r>
              <a:rPr lang="en-US" altLang="zh-CN" sz="2400" i="1" dirty="0">
                <a:latin typeface="Songti SC" panose="02010600040101010101" pitchFamily="2" charset="-122"/>
                <a:ea typeface="Songti SC" panose="02010600040101010101" pitchFamily="2" charset="-122"/>
              </a:rPr>
              <a:t>S</a:t>
            </a:r>
            <a:r>
              <a:rPr lang="en-US" altLang="zh-CN" sz="2400" dirty="0">
                <a:latin typeface="Songti SC" panose="02010600040101010101" pitchFamily="2" charset="-122"/>
                <a:ea typeface="Songti SC" panose="02010600040101010101" pitchFamily="2" charset="-122"/>
              </a:rPr>
              <a:t>(u, K)</a:t>
            </a:r>
            <a:r>
              <a:rPr lang="zh-CN" altLang="zh-CN" sz="2400" dirty="0">
                <a:latin typeface="Songti SC" panose="02010600040101010101" pitchFamily="2" charset="-122"/>
                <a:ea typeface="Songti SC" panose="02010600040101010101" pitchFamily="2" charset="-122"/>
              </a:rPr>
              <a:t>是和用户</a:t>
            </a:r>
            <a:r>
              <a:rPr lang="en-US" altLang="zh-CN" sz="2400" dirty="0">
                <a:latin typeface="Songti SC" panose="02010600040101010101" pitchFamily="2" charset="-122"/>
                <a:ea typeface="Songti SC" panose="02010600040101010101" pitchFamily="2" charset="-122"/>
              </a:rPr>
              <a:t>u</a:t>
            </a:r>
            <a:r>
              <a:rPr lang="zh-CN" altLang="zh-CN" sz="2400" dirty="0">
                <a:latin typeface="Songti SC" panose="02010600040101010101" pitchFamily="2" charset="-122"/>
                <a:ea typeface="Songti SC" panose="02010600040101010101" pitchFamily="2" charset="-122"/>
              </a:rPr>
              <a:t>兴趣最接近的</a:t>
            </a:r>
            <a:r>
              <a:rPr lang="en-US" altLang="zh-CN" sz="2400" dirty="0">
                <a:latin typeface="Songti SC" panose="02010600040101010101" pitchFamily="2" charset="-122"/>
                <a:ea typeface="Songti SC" panose="02010600040101010101" pitchFamily="2" charset="-122"/>
              </a:rPr>
              <a:t>K</a:t>
            </a:r>
            <a:r>
              <a:rPr lang="zh-CN" altLang="zh-CN" sz="2400" dirty="0">
                <a:latin typeface="Songti SC" panose="02010600040101010101" pitchFamily="2" charset="-122"/>
                <a:ea typeface="Songti SC" panose="02010600040101010101" pitchFamily="2" charset="-122"/>
              </a:rPr>
              <a:t>个用户的集合，</a:t>
            </a:r>
            <a:endParaRPr lang="en-US" altLang="zh-CN" sz="2400" dirty="0">
              <a:latin typeface="Songti SC" panose="02010600040101010101" pitchFamily="2" charset="-122"/>
              <a:ea typeface="Songti SC" panose="02010600040101010101" pitchFamily="2" charset="-122"/>
            </a:endParaRPr>
          </a:p>
          <a:p>
            <a:r>
              <a:rPr lang="en-US" altLang="zh-CN" sz="2400" dirty="0">
                <a:latin typeface="Songti SC" panose="02010600040101010101" pitchFamily="2" charset="-122"/>
                <a:ea typeface="Songti SC" panose="02010600040101010101" pitchFamily="2" charset="-122"/>
              </a:rPr>
              <a:t>N(</a:t>
            </a:r>
            <a:r>
              <a:rPr lang="en-US" altLang="zh-CN" sz="2400" dirty="0" err="1">
                <a:latin typeface="Songti SC" panose="02010600040101010101" pitchFamily="2" charset="-122"/>
                <a:ea typeface="Songti SC" panose="02010600040101010101" pitchFamily="2" charset="-122"/>
              </a:rPr>
              <a:t>i</a:t>
            </a:r>
            <a:r>
              <a:rPr lang="en-US" altLang="zh-CN" sz="2400" dirty="0">
                <a:latin typeface="Songti SC" panose="02010600040101010101" pitchFamily="2" charset="-122"/>
                <a:ea typeface="Songti SC" panose="02010600040101010101" pitchFamily="2" charset="-122"/>
              </a:rPr>
              <a:t>)</a:t>
            </a:r>
            <a:r>
              <a:rPr lang="zh-CN" altLang="zh-CN" sz="2400" dirty="0">
                <a:latin typeface="Songti SC" panose="02010600040101010101" pitchFamily="2" charset="-122"/>
                <a:ea typeface="Songti SC" panose="02010600040101010101" pitchFamily="2" charset="-122"/>
              </a:rPr>
              <a:t>是喜欢物品</a:t>
            </a:r>
            <a:r>
              <a:rPr lang="en-US" altLang="zh-CN" sz="2400" dirty="0" err="1">
                <a:latin typeface="Songti SC" panose="02010600040101010101" pitchFamily="2" charset="-122"/>
                <a:ea typeface="Songti SC" panose="02010600040101010101" pitchFamily="2" charset="-122"/>
              </a:rPr>
              <a:t>i</a:t>
            </a:r>
            <a:r>
              <a:rPr lang="zh-CN" altLang="zh-CN" sz="2400" dirty="0">
                <a:latin typeface="Songti SC" panose="02010600040101010101" pitchFamily="2" charset="-122"/>
                <a:ea typeface="Songti SC" panose="02010600040101010101" pitchFamily="2" charset="-122"/>
              </a:rPr>
              <a:t>的用户集合，</a:t>
            </a:r>
            <a:endParaRPr lang="en-US" altLang="zh-CN" sz="2400" dirty="0">
              <a:latin typeface="Songti SC" panose="02010600040101010101" pitchFamily="2" charset="-122"/>
              <a:ea typeface="Songti SC" panose="02010600040101010101" pitchFamily="2" charset="-122"/>
            </a:endParaRPr>
          </a:p>
          <a:p>
            <a:r>
              <a:rPr lang="en-US" altLang="zh-CN" sz="2400" dirty="0" err="1">
                <a:latin typeface="Songti SC" panose="02010600040101010101" pitchFamily="2" charset="-122"/>
                <a:ea typeface="Songti SC" panose="02010600040101010101" pitchFamily="2" charset="-122"/>
              </a:rPr>
              <a:t>W</a:t>
            </a:r>
            <a:r>
              <a:rPr lang="en-US" altLang="zh-CN" sz="2400" baseline="-25000" dirty="0" err="1">
                <a:latin typeface="Songti SC" panose="02010600040101010101" pitchFamily="2" charset="-122"/>
                <a:ea typeface="Songti SC" panose="02010600040101010101" pitchFamily="2" charset="-122"/>
              </a:rPr>
              <a:t>uv</a:t>
            </a:r>
            <a:r>
              <a:rPr lang="zh-CN" altLang="zh-CN" sz="2400" dirty="0">
                <a:latin typeface="Songti SC" panose="02010600040101010101" pitchFamily="2" charset="-122"/>
                <a:ea typeface="Songti SC" panose="02010600040101010101" pitchFamily="2" charset="-122"/>
              </a:rPr>
              <a:t>是用户</a:t>
            </a:r>
            <a:r>
              <a:rPr lang="en-US" altLang="zh-CN" sz="2400" dirty="0">
                <a:latin typeface="Songti SC" panose="02010600040101010101" pitchFamily="2" charset="-122"/>
                <a:ea typeface="Songti SC" panose="02010600040101010101" pitchFamily="2" charset="-122"/>
              </a:rPr>
              <a:t>u</a:t>
            </a:r>
            <a:r>
              <a:rPr lang="zh-CN" altLang="zh-CN" sz="2400" dirty="0">
                <a:latin typeface="Songti SC" panose="02010600040101010101" pitchFamily="2" charset="-122"/>
                <a:ea typeface="Songti SC" panose="02010600040101010101" pitchFamily="2" charset="-122"/>
              </a:rPr>
              <a:t>和用户</a:t>
            </a:r>
            <a:r>
              <a:rPr lang="en-US" altLang="zh-CN" sz="2400" dirty="0">
                <a:latin typeface="Songti SC" panose="02010600040101010101" pitchFamily="2" charset="-122"/>
                <a:ea typeface="Songti SC" panose="02010600040101010101" pitchFamily="2" charset="-122"/>
              </a:rPr>
              <a:t>v</a:t>
            </a:r>
            <a:r>
              <a:rPr lang="zh-CN" altLang="zh-CN" sz="2400" dirty="0">
                <a:latin typeface="Songti SC" panose="02010600040101010101" pitchFamily="2" charset="-122"/>
                <a:ea typeface="Songti SC" panose="02010600040101010101" pitchFamily="2" charset="-122"/>
              </a:rPr>
              <a:t>的相似度，</a:t>
            </a:r>
            <a:endParaRPr lang="en-US" altLang="zh-CN" sz="2400" dirty="0">
              <a:latin typeface="Songti SC" panose="02010600040101010101" pitchFamily="2" charset="-122"/>
              <a:ea typeface="Songti SC" panose="02010600040101010101" pitchFamily="2" charset="-122"/>
            </a:endParaRPr>
          </a:p>
          <a:p>
            <a:r>
              <a:rPr lang="en-US" altLang="zh-CN" sz="2400" dirty="0" err="1">
                <a:latin typeface="Songti SC" panose="02010600040101010101" pitchFamily="2" charset="-122"/>
                <a:ea typeface="Songti SC" panose="02010600040101010101" pitchFamily="2" charset="-122"/>
              </a:rPr>
              <a:t>r</a:t>
            </a:r>
            <a:r>
              <a:rPr lang="en-US" altLang="zh-CN" sz="2400" baseline="-25000" dirty="0" err="1">
                <a:latin typeface="Songti SC" panose="02010600040101010101" pitchFamily="2" charset="-122"/>
                <a:ea typeface="Songti SC" panose="02010600040101010101" pitchFamily="2" charset="-122"/>
              </a:rPr>
              <a:t>vi</a:t>
            </a:r>
            <a:r>
              <a:rPr lang="zh-CN" altLang="zh-CN" sz="2400" dirty="0">
                <a:latin typeface="Songti SC" panose="02010600040101010101" pitchFamily="2" charset="-122"/>
                <a:ea typeface="Songti SC" panose="02010600040101010101" pitchFamily="2" charset="-122"/>
              </a:rPr>
              <a:t>是隐反馈信息，代表用户</a:t>
            </a:r>
            <a:r>
              <a:rPr lang="en-US" altLang="zh-CN" sz="2400" dirty="0">
                <a:latin typeface="Songti SC" panose="02010600040101010101" pitchFamily="2" charset="-122"/>
                <a:ea typeface="Songti SC" panose="02010600040101010101" pitchFamily="2" charset="-122"/>
              </a:rPr>
              <a:t>v</a:t>
            </a:r>
            <a:r>
              <a:rPr lang="zh-CN" altLang="zh-CN" sz="2400" dirty="0">
                <a:latin typeface="Songti SC" panose="02010600040101010101" pitchFamily="2" charset="-122"/>
                <a:ea typeface="Songti SC" panose="02010600040101010101" pitchFamily="2" charset="-122"/>
              </a:rPr>
              <a:t>对物品</a:t>
            </a:r>
            <a:r>
              <a:rPr lang="en-US" altLang="zh-CN" sz="2400" dirty="0" err="1">
                <a:latin typeface="Songti SC" panose="02010600040101010101" pitchFamily="2" charset="-122"/>
                <a:ea typeface="Songti SC" panose="02010600040101010101" pitchFamily="2" charset="-122"/>
              </a:rPr>
              <a:t>i</a:t>
            </a:r>
            <a:r>
              <a:rPr lang="zh-CN" altLang="zh-CN" sz="2400" dirty="0">
                <a:latin typeface="Songti SC" panose="02010600040101010101" pitchFamily="2" charset="-122"/>
                <a:ea typeface="Songti SC" panose="02010600040101010101" pitchFamily="2" charset="-122"/>
              </a:rPr>
              <a:t>的感兴趣程度，为简化计算可令</a:t>
            </a:r>
            <a:r>
              <a:rPr lang="en-US" altLang="zh-CN" sz="2400" dirty="0" err="1">
                <a:latin typeface="Songti SC" panose="02010600040101010101" pitchFamily="2" charset="-122"/>
                <a:ea typeface="Songti SC" panose="02010600040101010101" pitchFamily="2" charset="-122"/>
              </a:rPr>
              <a:t>r</a:t>
            </a:r>
            <a:r>
              <a:rPr lang="en-US" altLang="zh-CN" sz="2400" baseline="-25000" dirty="0" err="1">
                <a:latin typeface="Songti SC" panose="02010600040101010101" pitchFamily="2" charset="-122"/>
                <a:ea typeface="Songti SC" panose="02010600040101010101" pitchFamily="2" charset="-122"/>
              </a:rPr>
              <a:t>vi</a:t>
            </a:r>
            <a:r>
              <a:rPr lang="en-US" altLang="zh-CN" sz="2400" dirty="0">
                <a:latin typeface="Songti SC" panose="02010600040101010101" pitchFamily="2" charset="-122"/>
                <a:ea typeface="Songti SC" panose="02010600040101010101" pitchFamily="2" charset="-122"/>
              </a:rPr>
              <a:t>=1</a:t>
            </a:r>
          </a:p>
          <a:p>
            <a:endParaRPr lang="en-US" altLang="zh-CN" sz="2400" dirty="0">
              <a:latin typeface="Songti SC" panose="02010600040101010101" pitchFamily="2" charset="-122"/>
              <a:ea typeface="Songti SC" panose="02010600040101010101" pitchFamily="2" charset="-122"/>
            </a:endParaRPr>
          </a:p>
          <a:p>
            <a:r>
              <a:rPr lang="zh-CN" altLang="zh-CN" sz="2400" dirty="0">
                <a:latin typeface="Songti SC" panose="02010600040101010101" pitchFamily="2" charset="-122"/>
                <a:ea typeface="Songti SC" panose="02010600040101010101" pitchFamily="2" charset="-122"/>
              </a:rPr>
              <a:t>对所有物品计算</a:t>
            </a:r>
            <a:r>
              <a:rPr lang="en-US" altLang="zh-CN" sz="2400" dirty="0" err="1">
                <a:latin typeface="Songti SC" panose="02010600040101010101" pitchFamily="2" charset="-122"/>
                <a:ea typeface="Songti SC" panose="02010600040101010101" pitchFamily="2" charset="-122"/>
              </a:rPr>
              <a:t>P</a:t>
            </a:r>
            <a:r>
              <a:rPr lang="en-US" altLang="zh-CN" sz="2400" baseline="-25000" dirty="0" err="1">
                <a:latin typeface="Songti SC" panose="02010600040101010101" pitchFamily="2" charset="-122"/>
                <a:ea typeface="Songti SC" panose="02010600040101010101" pitchFamily="2" charset="-122"/>
              </a:rPr>
              <a:t>ui</a:t>
            </a:r>
            <a:r>
              <a:rPr lang="zh-CN" altLang="zh-CN" sz="2400" dirty="0">
                <a:latin typeface="Songti SC" panose="02010600040101010101" pitchFamily="2" charset="-122"/>
                <a:ea typeface="Songti SC" panose="02010600040101010101" pitchFamily="2" charset="-122"/>
              </a:rPr>
              <a:t>后，可以</a:t>
            </a:r>
            <a:r>
              <a:rPr lang="zh-CN" altLang="en-US" sz="2400" dirty="0">
                <a:latin typeface="Songti SC" panose="02010600040101010101" pitchFamily="2" charset="-122"/>
                <a:ea typeface="Songti SC" panose="02010600040101010101" pitchFamily="2" charset="-122"/>
              </a:rPr>
              <a:t>对</a:t>
            </a:r>
            <a:r>
              <a:rPr lang="en-US" altLang="zh-CN" sz="2400" dirty="0" err="1">
                <a:latin typeface="Songti SC" panose="02010600040101010101" pitchFamily="2" charset="-122"/>
                <a:ea typeface="Songti SC" panose="02010600040101010101" pitchFamily="2" charset="-122"/>
              </a:rPr>
              <a:t>P</a:t>
            </a:r>
            <a:r>
              <a:rPr lang="en-US" altLang="zh-CN" sz="2400" baseline="-25000" dirty="0" err="1">
                <a:latin typeface="Songti SC" panose="02010600040101010101" pitchFamily="2" charset="-122"/>
                <a:ea typeface="Songti SC" panose="02010600040101010101" pitchFamily="2" charset="-122"/>
              </a:rPr>
              <a:t>ui</a:t>
            </a:r>
            <a:r>
              <a:rPr lang="zh-CN" altLang="en-US" sz="2400" dirty="0">
                <a:latin typeface="Songti SC" panose="02010600040101010101" pitchFamily="2" charset="-122"/>
                <a:ea typeface="Songti SC" panose="02010600040101010101" pitchFamily="2" charset="-122"/>
              </a:rPr>
              <a:t>进行</a:t>
            </a:r>
            <a:r>
              <a:rPr lang="zh-CN" altLang="zh-CN" sz="2400" dirty="0">
                <a:latin typeface="Songti SC" panose="02010600040101010101" pitchFamily="2" charset="-122"/>
                <a:ea typeface="Songti SC" panose="02010600040101010101" pitchFamily="2" charset="-122"/>
              </a:rPr>
              <a:t>降序处理，取前</a:t>
            </a:r>
            <a:r>
              <a:rPr lang="en-US" altLang="zh-CN" sz="2400" dirty="0">
                <a:latin typeface="Songti SC" panose="02010600040101010101" pitchFamily="2" charset="-122"/>
                <a:ea typeface="Songti SC" panose="02010600040101010101" pitchFamily="2" charset="-122"/>
              </a:rPr>
              <a:t>N</a:t>
            </a:r>
            <a:r>
              <a:rPr lang="zh-CN" altLang="zh-CN" sz="2400" dirty="0">
                <a:latin typeface="Songti SC" panose="02010600040101010101" pitchFamily="2" charset="-122"/>
                <a:ea typeface="Songti SC" panose="02010600040101010101" pitchFamily="2" charset="-122"/>
              </a:rPr>
              <a:t>个物品作为推荐结果展示给用户</a:t>
            </a:r>
            <a:r>
              <a:rPr lang="en-US" altLang="zh-CN" sz="2400" dirty="0">
                <a:latin typeface="Songti SC" panose="02010600040101010101" pitchFamily="2" charset="-122"/>
                <a:ea typeface="Songti SC" panose="02010600040101010101" pitchFamily="2" charset="-122"/>
              </a:rPr>
              <a:t>u</a:t>
            </a:r>
            <a:r>
              <a:rPr lang="zh-CN" altLang="en-US" sz="2400" dirty="0">
                <a:latin typeface="Songti SC" panose="02010600040101010101" pitchFamily="2" charset="-122"/>
                <a:ea typeface="Songti SC" panose="02010600040101010101" pitchFamily="2" charset="-122"/>
              </a:rPr>
              <a:t>（称为</a:t>
            </a:r>
            <a:r>
              <a:rPr lang="en-US" altLang="zh-CN" sz="2400" dirty="0">
                <a:latin typeface="Songti SC" panose="02010600040101010101" pitchFamily="2" charset="-122"/>
                <a:ea typeface="Songti SC" panose="02010600040101010101" pitchFamily="2" charset="-122"/>
              </a:rPr>
              <a:t>Top-N</a:t>
            </a:r>
            <a:r>
              <a:rPr lang="zh-CN" altLang="en-US" sz="2400" dirty="0">
                <a:latin typeface="Songti SC" panose="02010600040101010101" pitchFamily="2" charset="-122"/>
                <a:ea typeface="Songti SC" panose="02010600040101010101" pitchFamily="2" charset="-122"/>
              </a:rPr>
              <a:t>推荐）</a:t>
            </a:r>
            <a:endParaRPr lang="en-US" altLang="zh-CN" sz="2400" dirty="0">
              <a:latin typeface="Songti SC" panose="02010600040101010101" pitchFamily="2" charset="-122"/>
              <a:ea typeface="Songti SC" panose="02010600040101010101" pitchFamily="2" charset="-122"/>
            </a:endParaRPr>
          </a:p>
          <a:p>
            <a:endParaRPr lang="zh-CN" altLang="zh-CN" sz="2400" dirty="0">
              <a:latin typeface="Songti SC" panose="02010600040101010101" pitchFamily="2" charset="-122"/>
              <a:ea typeface="Songti SC" panose="02010600040101010101" pitchFamily="2" charset="-122"/>
            </a:endParaRPr>
          </a:p>
        </p:txBody>
      </p:sp>
      <p:pic>
        <p:nvPicPr>
          <p:cNvPr id="4" name="图片 1">
            <a:extLst>
              <a:ext uri="{FF2B5EF4-FFF2-40B4-BE49-F238E27FC236}">
                <a16:creationId xmlns:a16="http://schemas.microsoft.com/office/drawing/2014/main" id="{037E8F32-269E-7D74-BDE6-F4E578563A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702" y="2018505"/>
            <a:ext cx="4808077"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3584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FBA0F9-B03E-6B6F-A726-3678EE913BBA}"/>
              </a:ext>
            </a:extLst>
          </p:cNvPr>
          <p:cNvSpPr>
            <a:spLocks noGrp="1"/>
          </p:cNvSpPr>
          <p:nvPr>
            <p:ph type="title"/>
          </p:nvPr>
        </p:nvSpPr>
        <p:spPr/>
        <p:txBody>
          <a:bodyPr>
            <a:normAutofit fontScale="90000"/>
          </a:bodyPr>
          <a:lstStyle/>
          <a:p>
            <a:r>
              <a:rPr kumimoji="1" lang="en-US" altLang="zh-CN" dirty="0" err="1"/>
              <a:t>ItemCF</a:t>
            </a:r>
            <a:endParaRPr kumimoji="1" lang="zh-CN" altLang="en-US" dirty="0"/>
          </a:p>
        </p:txBody>
      </p:sp>
      <p:sp>
        <p:nvSpPr>
          <p:cNvPr id="3" name="内容占位符 1">
            <a:extLst>
              <a:ext uri="{FF2B5EF4-FFF2-40B4-BE49-F238E27FC236}">
                <a16:creationId xmlns:a16="http://schemas.microsoft.com/office/drawing/2014/main" id="{F2B0555F-1E41-C6F1-4D36-363DA1F6471B}"/>
              </a:ext>
            </a:extLst>
          </p:cNvPr>
          <p:cNvSpPr txBox="1">
            <a:spLocks noChangeArrowheads="1"/>
          </p:cNvSpPr>
          <p:nvPr/>
        </p:nvSpPr>
        <p:spPr>
          <a:xfrm>
            <a:off x="609600" y="1143000"/>
            <a:ext cx="10820400" cy="6858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err="1">
                <a:latin typeface="Songti SC" panose="02010600040101010101" pitchFamily="2" charset="-122"/>
                <a:ea typeface="Songti SC" panose="02010600040101010101" pitchFamily="2" charset="-122"/>
              </a:rPr>
              <a:t>ItemCF</a:t>
            </a:r>
            <a:r>
              <a:rPr lang="zh-CN" altLang="zh-CN" sz="2000" dirty="0">
                <a:latin typeface="Songti SC" panose="02010600040101010101" pitchFamily="2" charset="-122"/>
                <a:ea typeface="Songti SC" panose="02010600040101010101" pitchFamily="2" charset="-122"/>
              </a:rPr>
              <a:t>算法通过建立用户到物品倒排表（每个用户喜欢的物品的列表）来计算</a:t>
            </a:r>
            <a:r>
              <a:rPr lang="zh-CN" altLang="en-US" sz="2000" dirty="0">
                <a:latin typeface="Songti SC" panose="02010600040101010101" pitchFamily="2" charset="-122"/>
                <a:ea typeface="Songti SC" panose="02010600040101010101" pitchFamily="2" charset="-122"/>
              </a:rPr>
              <a:t>物品相似度</a:t>
            </a:r>
            <a:endParaRPr lang="en-US" altLang="zh-CN" sz="2000" dirty="0">
              <a:latin typeface="Songti SC" panose="02010600040101010101" pitchFamily="2" charset="-122"/>
              <a:ea typeface="Songti SC" panose="02010600040101010101" pitchFamily="2" charset="-122"/>
              <a:sym typeface="Wingdings" pitchFamily="2" charset="2"/>
            </a:endParaRPr>
          </a:p>
          <a:p>
            <a:endParaRPr lang="en-US" altLang="zh-CN" sz="2200" dirty="0">
              <a:latin typeface="Songti SC" panose="02010600040101010101" pitchFamily="2" charset="-122"/>
              <a:ea typeface="Songti SC" panose="02010600040101010101" pitchFamily="2" charset="-122"/>
              <a:sym typeface="Wingdings" pitchFamily="2" charset="2"/>
            </a:endParaRPr>
          </a:p>
        </p:txBody>
      </p:sp>
      <p:pic>
        <p:nvPicPr>
          <p:cNvPr id="4" name="图片 3">
            <a:extLst>
              <a:ext uri="{FF2B5EF4-FFF2-40B4-BE49-F238E27FC236}">
                <a16:creationId xmlns:a16="http://schemas.microsoft.com/office/drawing/2014/main" id="{BEA4C78E-4437-7005-73B8-8ED3E7179A8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57350" y="1619595"/>
            <a:ext cx="7329488" cy="4597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内容占位符 1">
            <a:extLst>
              <a:ext uri="{FF2B5EF4-FFF2-40B4-BE49-F238E27FC236}">
                <a16:creationId xmlns:a16="http://schemas.microsoft.com/office/drawing/2014/main" id="{833579F0-16B9-A5FA-8355-4EC20C2E8B05}"/>
              </a:ext>
            </a:extLst>
          </p:cNvPr>
          <p:cNvSpPr txBox="1">
            <a:spLocks/>
          </p:cNvSpPr>
          <p:nvPr/>
        </p:nvSpPr>
        <p:spPr bwMode="auto">
          <a:xfrm>
            <a:off x="1433512" y="6294437"/>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buFontTx/>
              <a:buNone/>
            </a:pPr>
            <a:r>
              <a:rPr lang="zh-CN" altLang="zh-CN" sz="1600"/>
              <a:t>图</a:t>
            </a:r>
            <a:r>
              <a:rPr lang="en-US" altLang="zh-CN" sz="1600"/>
              <a:t>  </a:t>
            </a:r>
            <a:r>
              <a:rPr lang="zh-CN" altLang="zh-CN" sz="1600"/>
              <a:t>用户到物品倒排表及物品相似度矩阵</a:t>
            </a:r>
          </a:p>
        </p:txBody>
      </p:sp>
    </p:spTree>
    <p:extLst>
      <p:ext uri="{BB962C8B-B14F-4D97-AF65-F5344CB8AC3E}">
        <p14:creationId xmlns:p14="http://schemas.microsoft.com/office/powerpoint/2010/main" val="1201010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A07F5A-AA34-DC05-7EE1-A6428A1BFB4A}"/>
              </a:ext>
            </a:extLst>
          </p:cNvPr>
          <p:cNvSpPr>
            <a:spLocks noGrp="1"/>
          </p:cNvSpPr>
          <p:nvPr>
            <p:ph type="title"/>
          </p:nvPr>
        </p:nvSpPr>
        <p:spPr/>
        <p:txBody>
          <a:bodyPr>
            <a:normAutofit fontScale="90000"/>
          </a:bodyPr>
          <a:lstStyle/>
          <a:p>
            <a:r>
              <a:rPr kumimoji="1" lang="en-US" altLang="zh-CN" dirty="0" err="1"/>
              <a:t>ItemCF</a:t>
            </a:r>
            <a:endParaRPr kumimoji="1" lang="zh-CN" altLang="en-US" dirty="0"/>
          </a:p>
        </p:txBody>
      </p:sp>
      <p:sp>
        <p:nvSpPr>
          <p:cNvPr id="3" name="内容占位符 1">
            <a:extLst>
              <a:ext uri="{FF2B5EF4-FFF2-40B4-BE49-F238E27FC236}">
                <a16:creationId xmlns:a16="http://schemas.microsoft.com/office/drawing/2014/main" id="{37D5233A-CF0D-24D5-42BF-8896755E7D4F}"/>
              </a:ext>
            </a:extLst>
          </p:cNvPr>
          <p:cNvSpPr txBox="1">
            <a:spLocks noChangeArrowheads="1"/>
          </p:cNvSpPr>
          <p:nvPr/>
        </p:nvSpPr>
        <p:spPr>
          <a:xfrm>
            <a:off x="676866" y="1171575"/>
            <a:ext cx="9972675" cy="14001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dirty="0" err="1">
                <a:latin typeface="Songti SC" panose="02010600040101010101" pitchFamily="2" charset="-122"/>
                <a:ea typeface="Songti SC" panose="02010600040101010101" pitchFamily="2" charset="-122"/>
              </a:rPr>
              <a:t>ItemCF</a:t>
            </a:r>
            <a:r>
              <a:rPr lang="zh-CN" altLang="en-US" sz="2400" dirty="0">
                <a:latin typeface="Songti SC" panose="02010600040101010101" pitchFamily="2" charset="-122"/>
                <a:ea typeface="Songti SC" panose="02010600040101010101" pitchFamily="2" charset="-122"/>
              </a:rPr>
              <a:t>计算的是</a:t>
            </a:r>
            <a:r>
              <a:rPr lang="zh-CN" altLang="zh-CN" sz="2400" dirty="0">
                <a:latin typeface="Songti SC" panose="02010600040101010101" pitchFamily="2" charset="-122"/>
                <a:ea typeface="Songti SC" panose="02010600040101010101" pitchFamily="2" charset="-122"/>
              </a:rPr>
              <a:t>物品相似度，再使用如下公式来度量用户</a:t>
            </a:r>
            <a:r>
              <a:rPr lang="en-US" altLang="zh-CN" sz="2400" dirty="0">
                <a:latin typeface="Songti SC" panose="02010600040101010101" pitchFamily="2" charset="-122"/>
                <a:ea typeface="Songti SC" panose="02010600040101010101" pitchFamily="2" charset="-122"/>
              </a:rPr>
              <a:t>u</a:t>
            </a:r>
            <a:r>
              <a:rPr lang="zh-CN" altLang="zh-CN" sz="2400" dirty="0">
                <a:latin typeface="Songti SC" panose="02010600040101010101" pitchFamily="2" charset="-122"/>
                <a:ea typeface="Songti SC" panose="02010600040101010101" pitchFamily="2" charset="-122"/>
              </a:rPr>
              <a:t>对物品</a:t>
            </a:r>
            <a:r>
              <a:rPr lang="en-US" altLang="zh-CN" sz="2400" dirty="0">
                <a:latin typeface="Songti SC" panose="02010600040101010101" pitchFamily="2" charset="-122"/>
                <a:ea typeface="Songti SC" panose="02010600040101010101" pitchFamily="2" charset="-122"/>
              </a:rPr>
              <a:t>j</a:t>
            </a:r>
            <a:r>
              <a:rPr lang="zh-CN" altLang="zh-CN" sz="2400" dirty="0">
                <a:latin typeface="Songti SC" panose="02010600040101010101" pitchFamily="2" charset="-122"/>
                <a:ea typeface="Songti SC" panose="02010600040101010101" pitchFamily="2" charset="-122"/>
              </a:rPr>
              <a:t>的兴趣程度</a:t>
            </a:r>
            <a:r>
              <a:rPr lang="en-US" altLang="zh-CN" sz="2400" dirty="0" err="1">
                <a:latin typeface="Songti SC" panose="02010600040101010101" pitchFamily="2" charset="-122"/>
                <a:ea typeface="Songti SC" panose="02010600040101010101" pitchFamily="2" charset="-122"/>
              </a:rPr>
              <a:t>P</a:t>
            </a:r>
            <a:r>
              <a:rPr lang="en-US" altLang="zh-CN" sz="2400" baseline="-25000" dirty="0" err="1">
                <a:latin typeface="Songti SC" panose="02010600040101010101" pitchFamily="2" charset="-122"/>
                <a:ea typeface="Songti SC" panose="02010600040101010101" pitchFamily="2" charset="-122"/>
              </a:rPr>
              <a:t>uj</a:t>
            </a:r>
            <a:r>
              <a:rPr lang="en-US" altLang="zh-CN" sz="2400" dirty="0">
                <a:latin typeface="Songti SC" panose="02010600040101010101" pitchFamily="2" charset="-122"/>
                <a:ea typeface="Songti SC" panose="02010600040101010101" pitchFamily="2" charset="-122"/>
                <a:sym typeface="Wingdings" pitchFamily="2" charset="2"/>
              </a:rPr>
              <a:t>(</a:t>
            </a:r>
            <a:r>
              <a:rPr lang="zh-CN" altLang="en-US" sz="2400" dirty="0">
                <a:latin typeface="Songti SC" panose="02010600040101010101" pitchFamily="2" charset="-122"/>
                <a:ea typeface="Songti SC" panose="02010600040101010101" pitchFamily="2" charset="-122"/>
                <a:sym typeface="Wingdings" pitchFamily="2" charset="2"/>
              </a:rPr>
              <a:t>与</a:t>
            </a:r>
            <a:r>
              <a:rPr lang="en-US" altLang="zh-CN" sz="2400" dirty="0" err="1">
                <a:latin typeface="Songti SC" panose="02010600040101010101" pitchFamily="2" charset="-122"/>
                <a:ea typeface="Songti SC" panose="02010600040101010101" pitchFamily="2" charset="-122"/>
                <a:sym typeface="Wingdings" pitchFamily="2" charset="2"/>
              </a:rPr>
              <a:t>UserCF</a:t>
            </a:r>
            <a:r>
              <a:rPr lang="zh-CN" altLang="en-US" sz="2400" dirty="0">
                <a:latin typeface="Songti SC" panose="02010600040101010101" pitchFamily="2" charset="-122"/>
                <a:ea typeface="Songti SC" panose="02010600040101010101" pitchFamily="2" charset="-122"/>
                <a:sym typeface="Wingdings" pitchFamily="2" charset="2"/>
              </a:rPr>
              <a:t>类似</a:t>
            </a:r>
            <a:r>
              <a:rPr lang="en-US" altLang="zh-CN" sz="2400" dirty="0">
                <a:latin typeface="Songti SC" panose="02010600040101010101" pitchFamily="2" charset="-122"/>
                <a:ea typeface="Songti SC" panose="02010600040101010101" pitchFamily="2" charset="-122"/>
                <a:sym typeface="Wingdings" pitchFamily="2" charset="2"/>
              </a:rPr>
              <a:t>)</a:t>
            </a:r>
            <a:r>
              <a:rPr lang="zh-CN" altLang="en-US" sz="2400" dirty="0">
                <a:latin typeface="Songti SC" panose="02010600040101010101" pitchFamily="2" charset="-122"/>
                <a:ea typeface="Songti SC" panose="02010600040101010101" pitchFamily="2" charset="-122"/>
                <a:sym typeface="Wingdings" pitchFamily="2" charset="2"/>
              </a:rPr>
              <a:t>：</a:t>
            </a:r>
            <a:endParaRPr lang="en-US" altLang="zh-CN" sz="2400" dirty="0">
              <a:latin typeface="Songti SC" panose="02010600040101010101" pitchFamily="2" charset="-122"/>
              <a:ea typeface="Songti SC" panose="02010600040101010101" pitchFamily="2" charset="-122"/>
              <a:sym typeface="Wingdings" pitchFamily="2" charset="2"/>
            </a:endParaRPr>
          </a:p>
        </p:txBody>
      </p:sp>
      <p:pic>
        <p:nvPicPr>
          <p:cNvPr id="4" name="图片 1">
            <a:extLst>
              <a:ext uri="{FF2B5EF4-FFF2-40B4-BE49-F238E27FC236}">
                <a16:creationId xmlns:a16="http://schemas.microsoft.com/office/drawing/2014/main" id="{647124E8-1ED9-F821-4121-B4D95C95E1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1" y="2514601"/>
            <a:ext cx="3469656" cy="91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05E7CF63-626D-87D7-C38E-2036F283639A}"/>
              </a:ext>
            </a:extLst>
          </p:cNvPr>
          <p:cNvSpPr>
            <a:spLocks noChangeArrowheads="1"/>
          </p:cNvSpPr>
          <p:nvPr/>
        </p:nvSpPr>
        <p:spPr bwMode="auto">
          <a:xfrm>
            <a:off x="780362" y="4171861"/>
            <a:ext cx="9765681"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i="1" dirty="0">
                <a:latin typeface="Songti SC" panose="02010600040101010101" pitchFamily="2" charset="-122"/>
                <a:ea typeface="Songti SC" panose="02010600040101010101" pitchFamily="2" charset="-122"/>
              </a:rPr>
              <a:t>S</a:t>
            </a:r>
            <a:r>
              <a:rPr lang="en-US" altLang="zh-CN" sz="2400" dirty="0">
                <a:latin typeface="Songti SC" panose="02010600040101010101" pitchFamily="2" charset="-122"/>
                <a:ea typeface="Songti SC" panose="02010600040101010101" pitchFamily="2" charset="-122"/>
              </a:rPr>
              <a:t>(j, K)</a:t>
            </a:r>
            <a:r>
              <a:rPr lang="zh-CN" altLang="zh-CN" sz="2400" dirty="0">
                <a:latin typeface="Songti SC" panose="02010600040101010101" pitchFamily="2" charset="-122"/>
                <a:ea typeface="Songti SC" panose="02010600040101010101" pitchFamily="2" charset="-122"/>
              </a:rPr>
              <a:t>是和</a:t>
            </a:r>
            <a:r>
              <a:rPr lang="zh-CN" altLang="en-US" sz="2400" dirty="0">
                <a:latin typeface="Songti SC" panose="02010600040101010101" pitchFamily="2" charset="-122"/>
                <a:ea typeface="Songti SC" panose="02010600040101010101" pitchFamily="2" charset="-122"/>
              </a:rPr>
              <a:t>物品</a:t>
            </a:r>
            <a:r>
              <a:rPr lang="en-US" altLang="zh-CN" sz="2400" dirty="0">
                <a:latin typeface="Songti SC" panose="02010600040101010101" pitchFamily="2" charset="-122"/>
                <a:ea typeface="Songti SC" panose="02010600040101010101" pitchFamily="2" charset="-122"/>
              </a:rPr>
              <a:t>j</a:t>
            </a:r>
            <a:r>
              <a:rPr lang="zh-CN" altLang="zh-CN" sz="2400" dirty="0">
                <a:latin typeface="Songti SC" panose="02010600040101010101" pitchFamily="2" charset="-122"/>
                <a:ea typeface="Songti SC" panose="02010600040101010101" pitchFamily="2" charset="-122"/>
              </a:rPr>
              <a:t>最</a:t>
            </a:r>
            <a:r>
              <a:rPr lang="zh-CN" altLang="en-US" sz="2400" dirty="0">
                <a:latin typeface="Songti SC" panose="02010600040101010101" pitchFamily="2" charset="-122"/>
                <a:ea typeface="Songti SC" panose="02010600040101010101" pitchFamily="2" charset="-122"/>
              </a:rPr>
              <a:t>相似</a:t>
            </a:r>
            <a:r>
              <a:rPr lang="zh-CN" altLang="zh-CN" sz="2400" dirty="0">
                <a:latin typeface="Songti SC" panose="02010600040101010101" pitchFamily="2" charset="-122"/>
                <a:ea typeface="Songti SC" panose="02010600040101010101" pitchFamily="2" charset="-122"/>
              </a:rPr>
              <a:t>的</a:t>
            </a:r>
            <a:r>
              <a:rPr lang="en-US" altLang="zh-CN" sz="2400" dirty="0">
                <a:latin typeface="Songti SC" panose="02010600040101010101" pitchFamily="2" charset="-122"/>
                <a:ea typeface="Songti SC" panose="02010600040101010101" pitchFamily="2" charset="-122"/>
              </a:rPr>
              <a:t>K</a:t>
            </a:r>
            <a:r>
              <a:rPr lang="zh-CN" altLang="zh-CN" sz="2400" dirty="0">
                <a:latin typeface="Songti SC" panose="02010600040101010101" pitchFamily="2" charset="-122"/>
                <a:ea typeface="Songti SC" panose="02010600040101010101" pitchFamily="2" charset="-122"/>
              </a:rPr>
              <a:t>个</a:t>
            </a:r>
            <a:r>
              <a:rPr lang="zh-CN" altLang="en-US" sz="2400" dirty="0">
                <a:latin typeface="Songti SC" panose="02010600040101010101" pitchFamily="2" charset="-122"/>
                <a:ea typeface="Songti SC" panose="02010600040101010101" pitchFamily="2" charset="-122"/>
              </a:rPr>
              <a:t>物品</a:t>
            </a:r>
            <a:r>
              <a:rPr lang="zh-CN" altLang="zh-CN" sz="2400" dirty="0">
                <a:latin typeface="Songti SC" panose="02010600040101010101" pitchFamily="2" charset="-122"/>
                <a:ea typeface="Songti SC" panose="02010600040101010101" pitchFamily="2" charset="-122"/>
              </a:rPr>
              <a:t>的集合</a:t>
            </a:r>
            <a:endParaRPr lang="en-US" altLang="zh-CN" sz="2400" dirty="0">
              <a:latin typeface="Songti SC" panose="02010600040101010101" pitchFamily="2" charset="-122"/>
              <a:ea typeface="Songti SC" panose="02010600040101010101" pitchFamily="2" charset="-122"/>
            </a:endParaRPr>
          </a:p>
          <a:p>
            <a:pPr>
              <a:spcBef>
                <a:spcPct val="0"/>
              </a:spcBef>
              <a:buFontTx/>
              <a:buNone/>
            </a:pPr>
            <a:r>
              <a:rPr lang="en-US" altLang="zh-CN" sz="2400" dirty="0">
                <a:latin typeface="Songti SC" panose="02010600040101010101" pitchFamily="2" charset="-122"/>
                <a:ea typeface="Songti SC" panose="02010600040101010101" pitchFamily="2" charset="-122"/>
              </a:rPr>
              <a:t>N(u)</a:t>
            </a:r>
            <a:r>
              <a:rPr lang="zh-CN" altLang="zh-CN" sz="2400" dirty="0">
                <a:latin typeface="Songti SC" panose="02010600040101010101" pitchFamily="2" charset="-122"/>
                <a:ea typeface="Songti SC" panose="02010600040101010101" pitchFamily="2" charset="-122"/>
              </a:rPr>
              <a:t>是</a:t>
            </a:r>
            <a:r>
              <a:rPr lang="zh-CN" altLang="en-US" sz="2400" dirty="0">
                <a:latin typeface="Songti SC" panose="02010600040101010101" pitchFamily="2" charset="-122"/>
                <a:ea typeface="Songti SC" panose="02010600040101010101" pitchFamily="2" charset="-122"/>
              </a:rPr>
              <a:t>用户</a:t>
            </a:r>
            <a:r>
              <a:rPr lang="en-US" altLang="zh-CN" sz="2400" dirty="0">
                <a:latin typeface="Songti SC" panose="02010600040101010101" pitchFamily="2" charset="-122"/>
                <a:ea typeface="Songti SC" panose="02010600040101010101" pitchFamily="2" charset="-122"/>
              </a:rPr>
              <a:t>u</a:t>
            </a:r>
            <a:r>
              <a:rPr lang="zh-CN" altLang="en-US" sz="2400" dirty="0">
                <a:latin typeface="Songti SC" panose="02010600040101010101" pitchFamily="2" charset="-122"/>
                <a:ea typeface="Songti SC" panose="02010600040101010101" pitchFamily="2" charset="-122"/>
              </a:rPr>
              <a:t>喜欢的物品的集合</a:t>
            </a:r>
            <a:endParaRPr lang="en-US" altLang="zh-CN" sz="2400" dirty="0">
              <a:latin typeface="Songti SC" panose="02010600040101010101" pitchFamily="2" charset="-122"/>
              <a:ea typeface="Songti SC" panose="02010600040101010101" pitchFamily="2" charset="-122"/>
            </a:endParaRPr>
          </a:p>
          <a:p>
            <a:pPr>
              <a:spcBef>
                <a:spcPct val="0"/>
              </a:spcBef>
              <a:buFontTx/>
              <a:buNone/>
            </a:pPr>
            <a:r>
              <a:rPr lang="en-US" altLang="zh-CN" sz="2400" i="1" dirty="0" err="1">
                <a:latin typeface="Songti SC" panose="02010600040101010101" pitchFamily="2" charset="-122"/>
                <a:ea typeface="Songti SC" panose="02010600040101010101" pitchFamily="2" charset="-122"/>
              </a:rPr>
              <a:t>w</a:t>
            </a:r>
            <a:r>
              <a:rPr lang="en-US" altLang="zh-CN" sz="2400" i="1" baseline="-25000" dirty="0" err="1">
                <a:latin typeface="Songti SC" panose="02010600040101010101" pitchFamily="2" charset="-122"/>
                <a:ea typeface="Songti SC" panose="02010600040101010101" pitchFamily="2" charset="-122"/>
              </a:rPr>
              <a:t>ji</a:t>
            </a:r>
            <a:r>
              <a:rPr lang="zh-CN" altLang="en-US" sz="2400" dirty="0">
                <a:latin typeface="Songti SC" panose="02010600040101010101" pitchFamily="2" charset="-122"/>
                <a:ea typeface="Songti SC" panose="02010600040101010101" pitchFamily="2" charset="-122"/>
              </a:rPr>
              <a:t>物品</a:t>
            </a:r>
            <a:r>
              <a:rPr lang="en-US" altLang="zh-CN" sz="2400" dirty="0" err="1">
                <a:latin typeface="Songti SC" panose="02010600040101010101" pitchFamily="2" charset="-122"/>
                <a:ea typeface="Songti SC" panose="02010600040101010101" pitchFamily="2" charset="-122"/>
              </a:rPr>
              <a:t>i</a:t>
            </a:r>
            <a:r>
              <a:rPr lang="zh-CN" altLang="zh-CN" sz="2400" dirty="0">
                <a:latin typeface="Songti SC" panose="02010600040101010101" pitchFamily="2" charset="-122"/>
                <a:ea typeface="Songti SC" panose="02010600040101010101" pitchFamily="2" charset="-122"/>
              </a:rPr>
              <a:t>和</a:t>
            </a:r>
            <a:r>
              <a:rPr lang="zh-CN" altLang="en-US" sz="2400" dirty="0">
                <a:latin typeface="Songti SC" panose="02010600040101010101" pitchFamily="2" charset="-122"/>
                <a:ea typeface="Songti SC" panose="02010600040101010101" pitchFamily="2" charset="-122"/>
              </a:rPr>
              <a:t>物品</a:t>
            </a:r>
            <a:r>
              <a:rPr lang="en-US" altLang="zh-CN" sz="2400" dirty="0">
                <a:latin typeface="Songti SC" panose="02010600040101010101" pitchFamily="2" charset="-122"/>
                <a:ea typeface="Songti SC" panose="02010600040101010101" pitchFamily="2" charset="-122"/>
              </a:rPr>
              <a:t>j</a:t>
            </a:r>
            <a:r>
              <a:rPr lang="zh-CN" altLang="zh-CN" sz="2400" dirty="0">
                <a:latin typeface="Songti SC" panose="02010600040101010101" pitchFamily="2" charset="-122"/>
                <a:ea typeface="Songti SC" panose="02010600040101010101" pitchFamily="2" charset="-122"/>
              </a:rPr>
              <a:t>的相似度</a:t>
            </a:r>
            <a:endParaRPr lang="en-US" altLang="zh-CN" sz="2400" dirty="0">
              <a:latin typeface="Songti SC" panose="02010600040101010101" pitchFamily="2" charset="-122"/>
              <a:ea typeface="Songti SC" panose="02010600040101010101" pitchFamily="2" charset="-122"/>
            </a:endParaRPr>
          </a:p>
          <a:p>
            <a:pPr>
              <a:spcBef>
                <a:spcPct val="0"/>
              </a:spcBef>
              <a:buFontTx/>
              <a:buNone/>
            </a:pPr>
            <a:r>
              <a:rPr lang="en-US" altLang="zh-CN" sz="2400" dirty="0" err="1">
                <a:latin typeface="Songti SC" panose="02010600040101010101" pitchFamily="2" charset="-122"/>
                <a:ea typeface="Songti SC" panose="02010600040101010101" pitchFamily="2" charset="-122"/>
              </a:rPr>
              <a:t>r</a:t>
            </a:r>
            <a:r>
              <a:rPr lang="en-US" altLang="zh-CN" sz="2400" baseline="-25000" dirty="0" err="1">
                <a:latin typeface="Songti SC" panose="02010600040101010101" pitchFamily="2" charset="-122"/>
                <a:ea typeface="Songti SC" panose="02010600040101010101" pitchFamily="2" charset="-122"/>
              </a:rPr>
              <a:t>ui</a:t>
            </a:r>
            <a:r>
              <a:rPr lang="zh-CN" altLang="zh-CN" sz="2400" dirty="0">
                <a:latin typeface="Songti SC" panose="02010600040101010101" pitchFamily="2" charset="-122"/>
                <a:ea typeface="Songti SC" panose="02010600040101010101" pitchFamily="2" charset="-122"/>
              </a:rPr>
              <a:t>是隐反馈信息，代表用户</a:t>
            </a:r>
            <a:r>
              <a:rPr lang="en-US" altLang="zh-CN" sz="2400" dirty="0">
                <a:latin typeface="Songti SC" panose="02010600040101010101" pitchFamily="2" charset="-122"/>
                <a:ea typeface="Songti SC" panose="02010600040101010101" pitchFamily="2" charset="-122"/>
              </a:rPr>
              <a:t>u</a:t>
            </a:r>
            <a:r>
              <a:rPr lang="zh-CN" altLang="zh-CN" sz="2400" dirty="0">
                <a:latin typeface="Songti SC" panose="02010600040101010101" pitchFamily="2" charset="-122"/>
                <a:ea typeface="Songti SC" panose="02010600040101010101" pitchFamily="2" charset="-122"/>
              </a:rPr>
              <a:t>对物品</a:t>
            </a:r>
            <a:r>
              <a:rPr lang="en-US" altLang="zh-CN" sz="2400" dirty="0" err="1">
                <a:latin typeface="Songti SC" panose="02010600040101010101" pitchFamily="2" charset="-122"/>
                <a:ea typeface="Songti SC" panose="02010600040101010101" pitchFamily="2" charset="-122"/>
              </a:rPr>
              <a:t>i</a:t>
            </a:r>
            <a:r>
              <a:rPr lang="zh-CN" altLang="zh-CN" sz="2400" dirty="0">
                <a:latin typeface="Songti SC" panose="02010600040101010101" pitchFamily="2" charset="-122"/>
                <a:ea typeface="Songti SC" panose="02010600040101010101" pitchFamily="2" charset="-122"/>
              </a:rPr>
              <a:t>的感兴趣程度，为简化计算可令</a:t>
            </a:r>
            <a:r>
              <a:rPr lang="en-US" altLang="zh-CN" sz="2400" dirty="0" err="1">
                <a:latin typeface="Songti SC" panose="02010600040101010101" pitchFamily="2" charset="-122"/>
                <a:ea typeface="Songti SC" panose="02010600040101010101" pitchFamily="2" charset="-122"/>
              </a:rPr>
              <a:t>r</a:t>
            </a:r>
            <a:r>
              <a:rPr lang="en-US" altLang="zh-CN" sz="2400" baseline="-25000" dirty="0" err="1">
                <a:latin typeface="Songti SC" panose="02010600040101010101" pitchFamily="2" charset="-122"/>
                <a:ea typeface="Songti SC" panose="02010600040101010101" pitchFamily="2" charset="-122"/>
              </a:rPr>
              <a:t>vi</a:t>
            </a:r>
            <a:r>
              <a:rPr lang="en-US" altLang="zh-CN" sz="2400" dirty="0">
                <a:latin typeface="Songti SC" panose="02010600040101010101" pitchFamily="2" charset="-122"/>
                <a:ea typeface="Songti SC" panose="02010600040101010101" pitchFamily="2" charset="-122"/>
              </a:rPr>
              <a:t>=1</a:t>
            </a:r>
          </a:p>
        </p:txBody>
      </p:sp>
    </p:spTree>
    <p:extLst>
      <p:ext uri="{BB962C8B-B14F-4D97-AF65-F5344CB8AC3E}">
        <p14:creationId xmlns:p14="http://schemas.microsoft.com/office/powerpoint/2010/main" val="2104196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03890E-E1B0-3524-E926-5B7612A5EF94}"/>
              </a:ext>
            </a:extLst>
          </p:cNvPr>
          <p:cNvSpPr>
            <a:spLocks noGrp="1"/>
          </p:cNvSpPr>
          <p:nvPr>
            <p:ph type="title"/>
          </p:nvPr>
        </p:nvSpPr>
        <p:spPr/>
        <p:txBody>
          <a:bodyPr>
            <a:normAutofit fontScale="90000"/>
          </a:bodyPr>
          <a:lstStyle/>
          <a:p>
            <a:r>
              <a:rPr lang="en-US" altLang="zh-CN" sz="4400" dirty="0" err="1">
                <a:latin typeface="Songti SC" panose="02010600040101010101" pitchFamily="2" charset="-122"/>
                <a:ea typeface="Songti SC" panose="02010600040101010101" pitchFamily="2" charset="-122"/>
              </a:rPr>
              <a:t>UserCF</a:t>
            </a:r>
            <a:r>
              <a:rPr lang="zh-CN" altLang="zh-CN" sz="4400" dirty="0">
                <a:latin typeface="Songti SC" panose="02010600040101010101" pitchFamily="2" charset="-122"/>
                <a:ea typeface="Songti SC" panose="02010600040101010101" pitchFamily="2" charset="-122"/>
              </a:rPr>
              <a:t>算法和</a:t>
            </a:r>
            <a:r>
              <a:rPr lang="en-US" altLang="zh-CN" sz="4400" dirty="0" err="1">
                <a:latin typeface="Songti SC" panose="02010600040101010101" pitchFamily="2" charset="-122"/>
                <a:ea typeface="Songti SC" panose="02010600040101010101" pitchFamily="2" charset="-122"/>
              </a:rPr>
              <a:t>ItemCF</a:t>
            </a:r>
            <a:r>
              <a:rPr lang="zh-CN" altLang="zh-CN" sz="4400" dirty="0">
                <a:latin typeface="Songti SC" panose="02010600040101010101" pitchFamily="2" charset="-122"/>
                <a:ea typeface="Songti SC" panose="02010600040101010101" pitchFamily="2" charset="-122"/>
              </a:rPr>
              <a:t>算法</a:t>
            </a:r>
            <a:endParaRPr kumimoji="1" lang="zh-CN" altLang="en-US" dirty="0"/>
          </a:p>
        </p:txBody>
      </p:sp>
      <p:sp>
        <p:nvSpPr>
          <p:cNvPr id="3" name="内容占位符 1">
            <a:extLst>
              <a:ext uri="{FF2B5EF4-FFF2-40B4-BE49-F238E27FC236}">
                <a16:creationId xmlns:a16="http://schemas.microsoft.com/office/drawing/2014/main" id="{FF25DC33-F8BD-1991-0469-D02E4E8DB257}"/>
              </a:ext>
            </a:extLst>
          </p:cNvPr>
          <p:cNvSpPr txBox="1">
            <a:spLocks noChangeArrowheads="1"/>
          </p:cNvSpPr>
          <p:nvPr/>
        </p:nvSpPr>
        <p:spPr>
          <a:xfrm>
            <a:off x="457199" y="1142999"/>
            <a:ext cx="9686925" cy="40433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dirty="0" err="1">
                <a:latin typeface="Songti SC" panose="02010600040101010101" pitchFamily="2" charset="-122"/>
                <a:ea typeface="Songti SC" panose="02010600040101010101" pitchFamily="2" charset="-122"/>
              </a:rPr>
              <a:t>UserCF</a:t>
            </a:r>
            <a:r>
              <a:rPr lang="zh-CN" altLang="zh-CN" sz="2400" dirty="0">
                <a:latin typeface="Songti SC" panose="02010600040101010101" pitchFamily="2" charset="-122"/>
                <a:ea typeface="Songti SC" panose="02010600040101010101" pitchFamily="2" charset="-122"/>
              </a:rPr>
              <a:t>算法和</a:t>
            </a:r>
            <a:r>
              <a:rPr lang="en-US" altLang="zh-CN" sz="2400" dirty="0" err="1">
                <a:latin typeface="Songti SC" panose="02010600040101010101" pitchFamily="2" charset="-122"/>
                <a:ea typeface="Songti SC" panose="02010600040101010101" pitchFamily="2" charset="-122"/>
              </a:rPr>
              <a:t>ItemCF</a:t>
            </a:r>
            <a:r>
              <a:rPr lang="zh-CN" altLang="zh-CN" sz="2400" dirty="0">
                <a:latin typeface="Songti SC" panose="02010600040101010101" pitchFamily="2" charset="-122"/>
                <a:ea typeface="Songti SC" panose="02010600040101010101" pitchFamily="2" charset="-122"/>
              </a:rPr>
              <a:t>算法的思想</a:t>
            </a:r>
            <a:r>
              <a:rPr lang="zh-CN" altLang="en-US" sz="2400" dirty="0">
                <a:latin typeface="Songti SC" panose="02010600040101010101" pitchFamily="2" charset="-122"/>
                <a:ea typeface="Songti SC" panose="02010600040101010101" pitchFamily="2" charset="-122"/>
              </a:rPr>
              <a:t>、计算过程都相似。</a:t>
            </a:r>
            <a:endParaRPr lang="en-US" altLang="zh-CN" sz="2400" dirty="0">
              <a:latin typeface="Songti SC" panose="02010600040101010101" pitchFamily="2" charset="-122"/>
              <a:ea typeface="Songti SC" panose="02010600040101010101" pitchFamily="2" charset="-122"/>
            </a:endParaRPr>
          </a:p>
          <a:p>
            <a:r>
              <a:rPr lang="zh-CN" altLang="en-US" sz="2400" dirty="0">
                <a:latin typeface="Songti SC" panose="02010600040101010101" pitchFamily="2" charset="-122"/>
                <a:ea typeface="Songti SC" panose="02010600040101010101" pitchFamily="2" charset="-122"/>
              </a:rPr>
              <a:t>两者</a:t>
            </a:r>
            <a:r>
              <a:rPr lang="zh-CN" altLang="zh-CN" sz="2400" dirty="0">
                <a:latin typeface="Songti SC" panose="02010600040101010101" pitchFamily="2" charset="-122"/>
                <a:ea typeface="Songti SC" panose="02010600040101010101" pitchFamily="2" charset="-122"/>
              </a:rPr>
              <a:t>最主要的区别</a:t>
            </a:r>
            <a:r>
              <a:rPr lang="zh-CN" altLang="en-US" sz="2400" dirty="0">
                <a:latin typeface="Songti SC" panose="02010600040101010101" pitchFamily="2" charset="-122"/>
                <a:ea typeface="Songti SC" panose="02010600040101010101" pitchFamily="2" charset="-122"/>
              </a:rPr>
              <a:t>：</a:t>
            </a:r>
            <a:endParaRPr lang="en-US" altLang="zh-CN" sz="2400" dirty="0">
              <a:latin typeface="Songti SC" panose="02010600040101010101" pitchFamily="2" charset="-122"/>
              <a:ea typeface="Songti SC" panose="02010600040101010101" pitchFamily="2" charset="-122"/>
            </a:endParaRPr>
          </a:p>
          <a:p>
            <a:pPr marL="342900" lvl="1" indent="-342900">
              <a:buFont typeface="Wingdings" pitchFamily="2" charset="2"/>
              <a:buChar char="ü"/>
            </a:pPr>
            <a:r>
              <a:rPr lang="en-US" altLang="zh-CN" sz="2400" kern="0" dirty="0" err="1">
                <a:solidFill>
                  <a:sysClr val="windowText" lastClr="000000"/>
                </a:solidFill>
                <a:latin typeface="Songti SC" panose="02010600040101010101" pitchFamily="2" charset="-122"/>
                <a:ea typeface="Songti SC" panose="02010600040101010101" pitchFamily="2" charset="-122"/>
              </a:rPr>
              <a:t>UserCF</a:t>
            </a:r>
            <a:r>
              <a:rPr lang="zh-CN" altLang="zh-CN" sz="2400" kern="0" dirty="0">
                <a:solidFill>
                  <a:sysClr val="windowText" lastClr="000000"/>
                </a:solidFill>
                <a:latin typeface="Songti SC" panose="02010600040101010101" pitchFamily="2" charset="-122"/>
                <a:ea typeface="Songti SC" panose="02010600040101010101" pitchFamily="2" charset="-122"/>
              </a:rPr>
              <a:t>算法推荐的是那些和目标用户有共同兴趣爱好的其他用户所喜欢的物品</a:t>
            </a:r>
            <a:endParaRPr lang="en-US" altLang="zh-CN" sz="2400" kern="0" dirty="0">
              <a:solidFill>
                <a:sysClr val="windowText" lastClr="000000"/>
              </a:solidFill>
              <a:latin typeface="Songti SC" panose="02010600040101010101" pitchFamily="2" charset="-122"/>
              <a:ea typeface="Songti SC" panose="02010600040101010101" pitchFamily="2" charset="-122"/>
            </a:endParaRPr>
          </a:p>
          <a:p>
            <a:pPr marL="342900" lvl="1" indent="-342900">
              <a:buFont typeface="Wingdings" pitchFamily="2" charset="2"/>
              <a:buChar char="ü"/>
            </a:pPr>
            <a:r>
              <a:rPr lang="en-US" altLang="zh-CN" sz="2400" kern="0" dirty="0" err="1">
                <a:solidFill>
                  <a:sysClr val="windowText" lastClr="000000"/>
                </a:solidFill>
                <a:latin typeface="Songti SC" panose="02010600040101010101" pitchFamily="2" charset="-122"/>
                <a:ea typeface="Songti SC" panose="02010600040101010101" pitchFamily="2" charset="-122"/>
              </a:rPr>
              <a:t>ItemCF</a:t>
            </a:r>
            <a:r>
              <a:rPr lang="zh-CN" altLang="zh-CN" sz="2400" kern="0" dirty="0">
                <a:solidFill>
                  <a:sysClr val="windowText" lastClr="000000"/>
                </a:solidFill>
                <a:latin typeface="Songti SC" panose="02010600040101010101" pitchFamily="2" charset="-122"/>
                <a:ea typeface="Songti SC" panose="02010600040101010101" pitchFamily="2" charset="-122"/>
              </a:rPr>
              <a:t>算法推荐</a:t>
            </a:r>
            <a:r>
              <a:rPr lang="zh-CN" altLang="en-US" sz="2400" kern="0" dirty="0">
                <a:solidFill>
                  <a:sysClr val="windowText" lastClr="000000"/>
                </a:solidFill>
                <a:latin typeface="Songti SC" panose="02010600040101010101" pitchFamily="2" charset="-122"/>
                <a:ea typeface="Songti SC" panose="02010600040101010101" pitchFamily="2" charset="-122"/>
              </a:rPr>
              <a:t>的是</a:t>
            </a:r>
            <a:r>
              <a:rPr lang="zh-CN" altLang="zh-CN" sz="2400" kern="0" dirty="0">
                <a:solidFill>
                  <a:sysClr val="windowText" lastClr="000000"/>
                </a:solidFill>
                <a:latin typeface="Songti SC" panose="02010600040101010101" pitchFamily="2" charset="-122"/>
                <a:ea typeface="Songti SC" panose="02010600040101010101" pitchFamily="2" charset="-122"/>
              </a:rPr>
              <a:t>那些和目标用户之前喜欢的物品类似的其他物品</a:t>
            </a:r>
            <a:endParaRPr lang="en-US" altLang="zh-CN" sz="2400" kern="0" dirty="0">
              <a:solidFill>
                <a:sysClr val="windowText" lastClr="000000"/>
              </a:solidFill>
              <a:latin typeface="Songti SC" panose="02010600040101010101" pitchFamily="2" charset="-122"/>
              <a:ea typeface="Songti SC" panose="02010600040101010101" pitchFamily="2" charset="-122"/>
            </a:endParaRPr>
          </a:p>
          <a:p>
            <a:pPr marL="342900" indent="-342900">
              <a:buFont typeface="Wingdings" pitchFamily="2" charset="2"/>
              <a:buChar char="ü"/>
            </a:pPr>
            <a:r>
              <a:rPr lang="en-US" altLang="zh-CN" sz="2400" dirty="0" err="1">
                <a:latin typeface="Songti SC" panose="02010600040101010101" pitchFamily="2" charset="-122"/>
                <a:ea typeface="Songti SC" panose="02010600040101010101" pitchFamily="2" charset="-122"/>
              </a:rPr>
              <a:t>UserCF</a:t>
            </a:r>
            <a:r>
              <a:rPr lang="zh-CN" altLang="en-US" sz="2400" dirty="0">
                <a:latin typeface="Songti SC" panose="02010600040101010101" pitchFamily="2" charset="-122"/>
                <a:ea typeface="Songti SC" panose="02010600040101010101" pitchFamily="2" charset="-122"/>
              </a:rPr>
              <a:t>算法的推荐更偏向社会化，而</a:t>
            </a:r>
            <a:r>
              <a:rPr lang="en-US" altLang="zh-CN" sz="2400" dirty="0" err="1">
                <a:latin typeface="Songti SC" panose="02010600040101010101" pitchFamily="2" charset="-122"/>
                <a:ea typeface="Songti SC" panose="02010600040101010101" pitchFamily="2" charset="-122"/>
              </a:rPr>
              <a:t>ItemCF</a:t>
            </a:r>
            <a:r>
              <a:rPr lang="zh-CN" altLang="en-US" sz="2400" dirty="0">
                <a:latin typeface="Songti SC" panose="02010600040101010101" pitchFamily="2" charset="-122"/>
                <a:ea typeface="Songti SC" panose="02010600040101010101" pitchFamily="2" charset="-122"/>
              </a:rPr>
              <a:t>算法的推荐更偏向于个性化</a:t>
            </a:r>
            <a:endParaRPr lang="en-US" altLang="zh-CN" sz="2400" dirty="0">
              <a:latin typeface="Songti SC" panose="02010600040101010101" pitchFamily="2" charset="-122"/>
              <a:ea typeface="Songti SC" panose="02010600040101010101" pitchFamily="2" charset="-122"/>
            </a:endParaRPr>
          </a:p>
        </p:txBody>
      </p:sp>
    </p:spTree>
    <p:extLst>
      <p:ext uri="{BB962C8B-B14F-4D97-AF65-F5344CB8AC3E}">
        <p14:creationId xmlns:p14="http://schemas.microsoft.com/office/powerpoint/2010/main" val="324553615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8462</TotalTime>
  <Words>844</Words>
  <Application>Microsoft Macintosh PowerPoint</Application>
  <PresentationFormat>宽屏</PresentationFormat>
  <Paragraphs>94</Paragraphs>
  <Slides>16</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16</vt:i4>
      </vt:variant>
    </vt:vector>
  </HeadingPairs>
  <TitlesOfParts>
    <vt:vector size="23" baseType="lpstr">
      <vt:lpstr>等线</vt:lpstr>
      <vt:lpstr>等线 Light</vt:lpstr>
      <vt:lpstr>Songti SC</vt:lpstr>
      <vt:lpstr>Arial</vt:lpstr>
      <vt:lpstr>Times New Roman</vt:lpstr>
      <vt:lpstr>Wingdings</vt:lpstr>
      <vt:lpstr>Office 主题​​</vt:lpstr>
      <vt:lpstr>PowerPoint 演示文稿</vt:lpstr>
      <vt:lpstr>推荐系统（Recommender System）</vt:lpstr>
      <vt:lpstr>RS类型</vt:lpstr>
      <vt:lpstr>基于流行程度的RS</vt:lpstr>
      <vt:lpstr>基于内容的RS</vt:lpstr>
      <vt:lpstr>基于内容的RS</vt:lpstr>
      <vt:lpstr>基于内容的RS</vt:lpstr>
      <vt:lpstr>余弦相似度</vt:lpstr>
      <vt:lpstr>基于内容的RS</vt:lpstr>
      <vt:lpstr>基于协同过滤的RS</vt:lpstr>
      <vt:lpstr>基于最近邻的CF</vt:lpstr>
      <vt:lpstr>UserCF</vt:lpstr>
      <vt:lpstr>UserCF</vt:lpstr>
      <vt:lpstr>ItemCF</vt:lpstr>
      <vt:lpstr>ItemCF</vt:lpstr>
      <vt:lpstr>UserCF算法和ItemCF算法</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说课 ——《动力工程测控技术》</dc:title>
  <dc:creator>陈 冰虹</dc:creator>
  <cp:lastModifiedBy>Microsoft Office User</cp:lastModifiedBy>
  <cp:revision>625</cp:revision>
  <dcterms:created xsi:type="dcterms:W3CDTF">2021-11-17T13:21:01Z</dcterms:created>
  <dcterms:modified xsi:type="dcterms:W3CDTF">2025-07-26T14:09:16Z</dcterms:modified>
</cp:coreProperties>
</file>
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88" r:id="rId2"/>
    <p:sldId id="389" r:id="rId3"/>
    <p:sldId id="390" r:id="rId4"/>
    <p:sldId id="39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19B"/>
    <a:srgbClr val="116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794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200" y="65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4611B-D63D-4827-9508-62293A02981D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B7F5E-4F88-4111-B208-2F260B30B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6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8720A-802B-4124-A8FE-D6F5FDE4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5E09-60C7-49E8-A9DF-8D1D9F6D10C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1B39824-60B1-4087-9654-852D1F012284}"/>
              </a:ext>
            </a:extLst>
          </p:cNvPr>
          <p:cNvCxnSpPr>
            <a:cxnSpLocks/>
          </p:cNvCxnSpPr>
          <p:nvPr userDrawn="1"/>
        </p:nvCxnSpPr>
        <p:spPr>
          <a:xfrm>
            <a:off x="0" y="829334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80355FC-FEB3-439F-8098-5C06013AAE42}"/>
              </a:ext>
            </a:extLst>
          </p:cNvPr>
          <p:cNvSpPr/>
          <p:nvPr userDrawn="1"/>
        </p:nvSpPr>
        <p:spPr>
          <a:xfrm>
            <a:off x="0" y="829334"/>
            <a:ext cx="1028700" cy="275566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41" y="110649"/>
            <a:ext cx="10515600" cy="570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2770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50960-1701-48AC-A59F-767B60563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5D7F4C-19FA-4DBB-8E0E-50D86708B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EF640-BE20-4B67-A136-5F55CD33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E3503-87F1-4CF7-A256-C5FB9A22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9AA02-E14A-4B76-9C38-2F9B89BB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03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C072B-542B-4EB4-AE3E-3962BC96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FC81C-17BC-4E49-801A-5535D52E3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C2DB2-8954-4FAC-BDAC-A41CB9FD1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45D9FA-8B05-43CE-A8C6-57D4B1B3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FB343-9089-4A86-8CDC-D72C628B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52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AC339-9979-439E-AD47-69A80F834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08C4E-EFCC-422B-A0CC-66BF07485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44901-1417-472E-9D15-16ECC074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30AA9-002C-4348-9998-8027E3DF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8E8C9-BD1B-4A76-A9CB-27277C57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2C584-3CAE-47D4-911B-4E662122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7A965-7AFF-413E-B0F9-9B383F4D7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2C38DE-AED2-4131-8C10-FF03B22F8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95F5FA-8460-4FB5-BECF-082CB763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ECCEA3-CC62-4601-B76C-37ADB4AF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DFF4BD-83FA-48E8-9D3F-095F4C7C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51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6E1C5-ECAF-42BE-9623-BCADD634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EBD31-3B49-47F1-94AD-B0C6385A0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F1D851-B286-458B-B0FF-37C11425C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B0DAC4-251D-4CAB-AAC8-1816BA2ED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3CAE68-B059-48A9-8FEA-AE16FDCBB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1B7C04-5F54-4995-8205-02AE75A6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3733C5-CACD-4D73-88DF-0FE47AEB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CC8BD8-3103-46D8-B238-FEE49AA8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9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81B53-CFBA-4ED9-A856-C7F31BDC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65807F-966E-4869-8987-657949B8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10A72C-1EA5-4B8F-99BE-2B5DF012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0E1FBD-CDF9-4E91-99E5-A833BABA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40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3F8982-6037-4234-AD00-3123D01C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4F0542-C8F2-4C1F-BB00-D0D13270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6AEC53-34BE-4C4A-856B-8411CD69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61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AC9EE-3E5D-4DAD-862D-E4971473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60C9A-3E3A-47B4-A1B2-682A69B9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AB7B40-FEFE-403A-A042-FE872B9EF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366DE-EBE6-4AFE-B2AF-4C25890E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2082D5-0599-48B5-8819-634575D3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55D9C-1A7C-4534-A584-4472E3B8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07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87C38-82A2-4C25-AC3F-F06B1F23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8ADE65-B3BE-4A96-890D-E7A188D83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79A9D3-7F46-42D0-B4ED-1773CC926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080096-90BF-4736-A77E-82348CC6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85590-E6CB-4FD1-A1EC-A9509A34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DA4A82-6CE2-4CA5-BD5B-08DCB7A0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98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CFA93-FCE2-44E4-878C-8FEFA601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6DA7C2-F2E1-4F67-8B34-F05CBFC08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967AE-CDF3-4D67-A190-E46F86D0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9B9F83-0BEE-42D3-99B3-055F58EB0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6528D-DEBF-45D5-AA5C-2081D9B2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693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BCEB34-32B0-4BD7-B39A-0AC8E1769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86A30-6588-4D1F-833A-33C5E7066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EA0ED4-AAED-4792-99F8-043A8A82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7DCE7-E18C-4FD7-A653-9FE1C3A9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9F1929-4F93-4E60-A024-16E632D7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367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1174279"/>
            <a:ext cx="7920203" cy="0"/>
          </a:xfrm>
          <a:prstGeom prst="line">
            <a:avLst/>
          </a:prstGeom>
          <a:ln w="15875">
            <a:gradFill>
              <a:gsLst>
                <a:gs pos="1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7333" y="296901"/>
            <a:ext cx="9792824" cy="649287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297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68784-9CD4-4F13-B6FF-DAFB8F5FA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0A121-C4E0-491B-B35A-1ABE4E2B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4455DE-3A94-44C9-BD40-E9A302C18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AF917-03E6-4637-A084-DE343516B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58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0A5903-7090-C40C-F81C-61DFF1B15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4400" dirty="0"/>
              <a:t>基于潜在因子的</a:t>
            </a:r>
            <a:r>
              <a:rPr lang="en-US" altLang="zh-CN" sz="4400" dirty="0"/>
              <a:t>CF</a:t>
            </a:r>
            <a:r>
              <a:rPr lang="zh-CN" altLang="en-US" sz="4400" dirty="0"/>
              <a:t>（举例）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567D11F-DD25-9563-3559-0F828FC3BEE4}"/>
                  </a:ext>
                </a:extLst>
              </p:cNvPr>
              <p:cNvSpPr txBox="1"/>
              <p:nvPr/>
            </p:nvSpPr>
            <p:spPr>
              <a:xfrm>
                <a:off x="900112" y="1440469"/>
                <a:ext cx="851535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将大小为</a:t>
                </a:r>
                <a:r>
                  <a:rPr lang="en-US" altLang="zh-CN" sz="24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m</a:t>
                </a:r>
                <a:r>
                  <a:rPr lang="zh-CN" altLang="en-US" sz="24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*</a:t>
                </a:r>
                <a:r>
                  <a:rPr lang="en-US" altLang="zh-CN" sz="24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n</a:t>
                </a:r>
                <a:r>
                  <a:rPr lang="zh-CN" altLang="en-US" sz="24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的矩阵</a:t>
                </a:r>
                <a:r>
                  <a:rPr lang="en-US" altLang="zh-CN" sz="24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A</a:t>
                </a:r>
                <a:r>
                  <a:rPr lang="zh-CN" altLang="en-US" sz="24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分解成两个阶数较小矩阵</a:t>
                </a:r>
                <a:r>
                  <a:rPr lang="en-US" altLang="zh-CN" sz="24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X</a:t>
                </a:r>
                <a:r>
                  <a:rPr lang="zh-CN" altLang="en-US" sz="24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和</a:t>
                </a:r>
                <a:r>
                  <a:rPr lang="en-US" altLang="zh-CN" sz="24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Y</a:t>
                </a:r>
                <a:r>
                  <a:rPr lang="zh-CN" altLang="en-US" sz="24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，</a:t>
                </a:r>
                <a:r>
                  <a:rPr lang="en-US" altLang="zh-CN" sz="24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A=X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en-US" altLang="zh-CN" sz="24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Y</a:t>
                </a:r>
                <a:r>
                  <a:rPr lang="zh-CN" altLang="en-US" sz="24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。</a:t>
                </a:r>
                <a:endParaRPr lang="en-US" altLang="zh-CN" sz="2400" dirty="0">
                  <a:latin typeface="Songti SC" panose="02010600040101010101" pitchFamily="2" charset="-122"/>
                  <a:ea typeface="Songti SC" panose="02010600040101010101" pitchFamily="2" charset="-122"/>
                </a:endParaRPr>
              </a:p>
              <a:p>
                <a:r>
                  <a:rPr lang="zh-CN" altLang="en-US" sz="24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例如，矩阵</a:t>
                </a:r>
                <a:r>
                  <a:rPr lang="en-US" altLang="zh-CN" sz="24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A</a:t>
                </a:r>
                <a:r>
                  <a:rPr lang="zh-CN" altLang="en-US" sz="24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为：</a:t>
                </a:r>
                <a:endParaRPr lang="en-US" altLang="zh-CN" sz="2400" dirty="0">
                  <a:latin typeface="Songti SC" panose="02010600040101010101" pitchFamily="2" charset="-122"/>
                  <a:ea typeface="Songti SC" panose="02010600040101010101" pitchFamily="2" charset="-122"/>
                </a:endParaRPr>
              </a:p>
              <a:p>
                <a:endParaRPr lang="en-US" altLang="zh-CN" sz="2400" dirty="0">
                  <a:latin typeface="Songti SC" panose="02010600040101010101" pitchFamily="2" charset="-122"/>
                  <a:ea typeface="Songti SC" panose="02010600040101010101" pitchFamily="2" charset="-122"/>
                </a:endParaRPr>
              </a:p>
              <a:p>
                <a:endParaRPr lang="en-US" altLang="zh-CN" sz="2400" dirty="0">
                  <a:latin typeface="Songti SC" panose="02010600040101010101" pitchFamily="2" charset="-122"/>
                  <a:ea typeface="Songti SC" panose="02010600040101010101" pitchFamily="2" charset="-122"/>
                </a:endParaRPr>
              </a:p>
              <a:p>
                <a:endParaRPr lang="en-US" altLang="zh-CN" sz="2400" dirty="0">
                  <a:latin typeface="Songti SC" panose="02010600040101010101" pitchFamily="2" charset="-122"/>
                  <a:ea typeface="Songti SC" panose="02010600040101010101" pitchFamily="2" charset="-122"/>
                </a:endParaRPr>
              </a:p>
              <a:p>
                <a:endParaRPr lang="en-US" altLang="zh-CN" sz="2400" dirty="0">
                  <a:latin typeface="Songti SC" panose="02010600040101010101" pitchFamily="2" charset="-122"/>
                  <a:ea typeface="Songti SC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567D11F-DD25-9563-3559-0F828FC3B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12" y="1440469"/>
                <a:ext cx="8515350" cy="2308324"/>
              </a:xfrm>
              <a:prstGeom prst="rect">
                <a:avLst/>
              </a:prstGeom>
              <a:blipFill>
                <a:blip r:embed="rId2"/>
                <a:stretch>
                  <a:fillRect l="-1192" t="-2186" r="-46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BC93F5C4-1AA4-CA7A-894F-C05BECD4D5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698" y="2197772"/>
            <a:ext cx="8940963" cy="174908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5209747-37C3-2B93-D894-C90F2294E7B1}"/>
              </a:ext>
            </a:extLst>
          </p:cNvPr>
          <p:cNvSpPr txBox="1"/>
          <p:nvPr/>
        </p:nvSpPr>
        <p:spPr>
          <a:xfrm>
            <a:off x="671512" y="4077411"/>
            <a:ext cx="40719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Songti SC" panose="02010600040101010101" pitchFamily="2" charset="-122"/>
                <a:ea typeface="Songti SC" panose="02010600040101010101" pitchFamily="2" charset="-122"/>
              </a:rPr>
              <a:t>每一列改写成</a:t>
            </a:r>
            <a:r>
              <a:rPr lang="en-US" altLang="zh-CN" sz="2000" dirty="0">
                <a:latin typeface="Songti SC" panose="02010600040101010101" pitchFamily="2" charset="-122"/>
                <a:ea typeface="Songti SC" panose="02010600040101010101" pitchFamily="2" charset="-122"/>
              </a:rPr>
              <a:t>A1</a:t>
            </a:r>
            <a:r>
              <a:rPr lang="zh-CN" altLang="en-US" sz="2000" dirty="0">
                <a:latin typeface="Songti SC" panose="02010600040101010101" pitchFamily="2" charset="-122"/>
                <a:ea typeface="Songti SC" panose="02010600040101010101" pitchFamily="2" charset="-122"/>
              </a:rPr>
              <a:t>和</a:t>
            </a:r>
            <a:r>
              <a:rPr lang="en-US" altLang="zh-CN" sz="2000" dirty="0">
                <a:latin typeface="Songti SC" panose="02010600040101010101" pitchFamily="2" charset="-122"/>
                <a:ea typeface="Songti SC" panose="02010600040101010101" pitchFamily="2" charset="-122"/>
              </a:rPr>
              <a:t>A3</a:t>
            </a:r>
            <a:r>
              <a:rPr lang="zh-CN" altLang="en-US" sz="2000" dirty="0">
                <a:latin typeface="Songti SC" panose="02010600040101010101" pitchFamily="2" charset="-122"/>
                <a:ea typeface="Songti SC" panose="02010600040101010101" pitchFamily="2" charset="-122"/>
              </a:rPr>
              <a:t>的线性组合：</a:t>
            </a:r>
            <a:endParaRPr lang="zh-CN" altLang="en-US" sz="20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4E71458-DFD6-BE97-4CAC-D1018C0F8C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531" y="4491809"/>
            <a:ext cx="2755900" cy="1676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F7D5044-5B36-D4D8-D43E-9069F406526B}"/>
                  </a:ext>
                </a:extLst>
              </p:cNvPr>
              <p:cNvSpPr txBox="1"/>
              <p:nvPr/>
            </p:nvSpPr>
            <p:spPr>
              <a:xfrm>
                <a:off x="4972048" y="4077411"/>
                <a:ext cx="488464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创建</a:t>
                </a:r>
                <a:r>
                  <a:rPr lang="en-US" altLang="zh-CN" sz="20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X</a:t>
                </a:r>
                <a:r>
                  <a:rPr lang="zh-CN" altLang="en-US" sz="20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和</a:t>
                </a:r>
                <a:r>
                  <a:rPr lang="en-US" altLang="zh-CN" sz="20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Y</a:t>
                </a:r>
                <a:r>
                  <a:rPr lang="zh-CN" altLang="en-US" sz="20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低阶矩阵，使得</a:t>
                </a:r>
                <a:r>
                  <a:rPr lang="en-US" altLang="zh-CN" sz="20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A= X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zh-CN" sz="2000" dirty="0">
                    <a:latin typeface="Songti SC" panose="02010600040101010101" pitchFamily="2" charset="-122"/>
                    <a:ea typeface="Songti SC" panose="02010600040101010101" pitchFamily="2" charset="-122"/>
                  </a:rPr>
                  <a:t>Y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F7D5044-5B36-D4D8-D43E-9069F4065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2048" y="4077411"/>
                <a:ext cx="4884645" cy="400110"/>
              </a:xfrm>
              <a:prstGeom prst="rect">
                <a:avLst/>
              </a:prstGeom>
              <a:blipFill>
                <a:blip r:embed="rId5"/>
                <a:stretch>
                  <a:fillRect l="-1295" t="-9375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AC51FBA5-A205-5445-366B-58049D5388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50" y="4467342"/>
            <a:ext cx="2617788" cy="228000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5E6DB81-229B-E79A-4C99-1A41CB4BA7E3}"/>
              </a:ext>
            </a:extLst>
          </p:cNvPr>
          <p:cNvSpPr txBox="1"/>
          <p:nvPr/>
        </p:nvSpPr>
        <p:spPr>
          <a:xfrm>
            <a:off x="1329531" y="913525"/>
            <a:ext cx="71580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原理</a:t>
            </a: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：将用户条目矩阵分解成两个潜在因子矩阵</a:t>
            </a:r>
            <a:endParaRPr lang="zh-CN" altLang="en-US" sz="2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1EED06D-CC2A-204A-648D-D4B8938A461A}"/>
              </a:ext>
            </a:extLst>
          </p:cNvPr>
          <p:cNvSpPr/>
          <p:nvPr/>
        </p:nvSpPr>
        <p:spPr>
          <a:xfrm>
            <a:off x="4857750" y="3014663"/>
            <a:ext cx="728663" cy="4143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64BEEDC-8A60-1C3D-994B-994805257B82}"/>
              </a:ext>
            </a:extLst>
          </p:cNvPr>
          <p:cNvSpPr/>
          <p:nvPr/>
        </p:nvSpPr>
        <p:spPr>
          <a:xfrm>
            <a:off x="6585744" y="4915672"/>
            <a:ext cx="815181" cy="4143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209991-E8C5-4483-2C61-2C5C6F6659D9}"/>
              </a:ext>
            </a:extLst>
          </p:cNvPr>
          <p:cNvSpPr/>
          <p:nvPr/>
        </p:nvSpPr>
        <p:spPr>
          <a:xfrm>
            <a:off x="7272338" y="5831511"/>
            <a:ext cx="380206" cy="9158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1569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4493D-4C43-A676-BFDC-B7BB5DA34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4400" dirty="0"/>
              <a:t>基于潜在因子的</a:t>
            </a:r>
            <a:r>
              <a:rPr lang="en-US" altLang="zh-CN" sz="4400" dirty="0"/>
              <a:t>CF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F28432-6724-86B5-8FCE-C53938C69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43" y="2345751"/>
            <a:ext cx="5903757" cy="292633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814C411-25E1-98E2-AFBD-452ECDE7975B}"/>
              </a:ext>
            </a:extLst>
          </p:cNvPr>
          <p:cNvSpPr txBox="1"/>
          <p:nvPr/>
        </p:nvSpPr>
        <p:spPr>
          <a:xfrm>
            <a:off x="959644" y="985747"/>
            <a:ext cx="71580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l"/>
            </a:pP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将用户条目矩阵分解成两个潜在因子矩阵：</a:t>
            </a:r>
            <a:endParaRPr lang="en-US" altLang="zh-CN" sz="24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800100" lvl="1" indent="-342900">
              <a:buFont typeface="Wingdings" pitchFamily="2" charset="2"/>
              <a:buChar char="ü"/>
            </a:pP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用户潜在因子矩阵</a:t>
            </a:r>
            <a:endParaRPr lang="en-US" altLang="zh-CN" sz="24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800100" lvl="1" indent="-342900">
              <a:buFont typeface="Wingdings" pitchFamily="2" charset="2"/>
              <a:buChar char="ü"/>
            </a:pP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条目潜在因子矩阵</a:t>
            </a:r>
            <a:endParaRPr lang="zh-CN" altLang="en-US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8FD6A51-5668-B779-A786-5BB358F08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338" y="913525"/>
            <a:ext cx="3548062" cy="372610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E3E0C32-E7A0-4ACE-BE4D-92F0C68F87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457" y="5182475"/>
            <a:ext cx="5194300" cy="1524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D8ED914-23B5-4620-4F9A-646A85371A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4085" y="4578936"/>
            <a:ext cx="506568" cy="585173"/>
          </a:xfrm>
          <a:prstGeom prst="rect">
            <a:avLst/>
          </a:prstGeom>
        </p:spPr>
      </p:pic>
      <p:sp>
        <p:nvSpPr>
          <p:cNvPr id="13" name="等于 12">
            <a:extLst>
              <a:ext uri="{FF2B5EF4-FFF2-40B4-BE49-F238E27FC236}">
                <a16:creationId xmlns:a16="http://schemas.microsoft.com/office/drawing/2014/main" id="{40A539C2-ED36-F5E5-ABFB-5D471FD392BA}"/>
              </a:ext>
            </a:extLst>
          </p:cNvPr>
          <p:cNvSpPr/>
          <p:nvPr/>
        </p:nvSpPr>
        <p:spPr>
          <a:xfrm>
            <a:off x="6096000" y="3450211"/>
            <a:ext cx="857250" cy="685800"/>
          </a:xfrm>
          <a:prstGeom prst="mathEqual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A006FA3-CB51-E50B-202D-C7ABC1550C82}"/>
              </a:ext>
            </a:extLst>
          </p:cNvPr>
          <p:cNvSpPr/>
          <p:nvPr/>
        </p:nvSpPr>
        <p:spPr>
          <a:xfrm>
            <a:off x="1971675" y="3048042"/>
            <a:ext cx="842963" cy="3095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64446DC-898B-C8FE-E2A5-BB360CE76704}"/>
              </a:ext>
            </a:extLst>
          </p:cNvPr>
          <p:cNvSpPr/>
          <p:nvPr/>
        </p:nvSpPr>
        <p:spPr>
          <a:xfrm>
            <a:off x="8559644" y="1601821"/>
            <a:ext cx="2356006" cy="3349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84D3EC-00DB-CC74-71A6-A2D5D5EB7845}"/>
              </a:ext>
            </a:extLst>
          </p:cNvPr>
          <p:cNvSpPr/>
          <p:nvPr/>
        </p:nvSpPr>
        <p:spPr>
          <a:xfrm>
            <a:off x="8329613" y="5686090"/>
            <a:ext cx="700087" cy="6904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E2A9112-B6EB-B944-8193-F296F1CCE23F}"/>
              </a:ext>
            </a:extLst>
          </p:cNvPr>
          <p:cNvSpPr txBox="1"/>
          <p:nvPr/>
        </p:nvSpPr>
        <p:spPr>
          <a:xfrm>
            <a:off x="454820" y="5470794"/>
            <a:ext cx="61436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实际评分：</a:t>
            </a:r>
            <a:r>
              <a:rPr lang="en-US" altLang="zh-CN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3/5=0.6</a:t>
            </a: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（归一化）</a:t>
            </a:r>
            <a:endParaRPr lang="en-US" altLang="zh-CN" sz="24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预测评分：</a:t>
            </a:r>
            <a:r>
              <a:rPr lang="en-US" altLang="zh-CN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0</a:t>
            </a: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*</a:t>
            </a:r>
            <a:r>
              <a:rPr lang="en-US" altLang="zh-CN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0.23+0.24</a:t>
            </a: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*</a:t>
            </a:r>
            <a:r>
              <a:rPr lang="en-US" altLang="zh-CN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0.1+0.65</a:t>
            </a: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*</a:t>
            </a:r>
            <a:r>
              <a:rPr lang="en-US" altLang="zh-CN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0.8=0.544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8133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27E07B-4EF9-B67E-F502-6953C6937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4400" dirty="0"/>
              <a:t>基于潜在因子的</a:t>
            </a:r>
            <a:r>
              <a:rPr lang="en-US" altLang="zh-CN" sz="4400" dirty="0"/>
              <a:t>CF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73FA15-46C5-C331-1934-8196A07EF080}"/>
              </a:ext>
            </a:extLst>
          </p:cNvPr>
          <p:cNvSpPr txBox="1"/>
          <p:nvPr/>
        </p:nvSpPr>
        <p:spPr>
          <a:xfrm>
            <a:off x="715488" y="1338201"/>
            <a:ext cx="100572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l"/>
            </a:pP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目标函数：预测评分和实际评分之间中的误差平方和</a:t>
            </a:r>
            <a:r>
              <a:rPr lang="en-US" altLang="zh-CN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SSE</a:t>
            </a:r>
          </a:p>
          <a:p>
            <a:pPr marL="342900" indent="-342900">
              <a:buFont typeface="Wingdings" pitchFamily="2" charset="2"/>
              <a:buChar char="l"/>
            </a:pP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训练模型最小化目标函数。</a:t>
            </a:r>
            <a:endParaRPr lang="en-US" altLang="zh-CN" sz="24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342900" indent="-342900">
              <a:buFont typeface="Wingdings" pitchFamily="2" charset="2"/>
              <a:buChar char="l"/>
            </a:pP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使用</a:t>
            </a:r>
            <a:r>
              <a:rPr lang="en-US" altLang="zh-CN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ALS</a:t>
            </a: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模型（</a:t>
            </a:r>
            <a:r>
              <a:rPr lang="en-US" altLang="zh-CN" sz="2400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Alternating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altLang="zh-CN" sz="2400" dirty="0">
                <a:solidFill>
                  <a:srgbClr val="F73131"/>
                </a:solidFill>
                <a:latin typeface="Arial" panose="020B0604020202020204" pitchFamily="34" charset="0"/>
              </a:rPr>
              <a:t>L</a:t>
            </a:r>
            <a:r>
              <a:rPr lang="en-US" altLang="zh-CN" sz="2400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east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altLang="zh-CN" sz="2400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Squares</a:t>
            </a:r>
            <a:r>
              <a:rPr lang="zh-CN" altLang="en-US" sz="2400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，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交替最小二乘</a:t>
            </a: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），工作原理：</a:t>
            </a:r>
            <a:endParaRPr lang="en-US" altLang="zh-CN" sz="24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800100" lvl="1" indent="-342900">
              <a:buFont typeface="Wingdings" pitchFamily="2" charset="2"/>
              <a:buChar char="ü"/>
            </a:pP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用户潜在因子值保持不变，改变条目潜在因子值，让总</a:t>
            </a:r>
            <a:r>
              <a:rPr lang="en-US" altLang="zh-CN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SSE</a:t>
            </a: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降低；</a:t>
            </a:r>
            <a:endParaRPr lang="en-US" altLang="zh-CN" sz="24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800100" lvl="1" indent="-342900">
              <a:buFont typeface="Wingdings" pitchFamily="2" charset="2"/>
              <a:buChar char="ü"/>
            </a:pP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条目潜在因子值保持不变，改变用户潜在因子值，让总</a:t>
            </a:r>
            <a:r>
              <a:rPr lang="en-US" altLang="zh-CN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SSE</a:t>
            </a: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降低；</a:t>
            </a:r>
            <a:endParaRPr lang="en-US" altLang="zh-CN" sz="24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800100" lvl="1" indent="-342900">
              <a:buFont typeface="Wingdings" pitchFamily="2" charset="2"/>
              <a:buChar char="ü"/>
            </a:pPr>
            <a:r>
              <a:rPr lang="zh-CN" altLang="en-US" sz="2400" dirty="0"/>
              <a:t>迭代多次，持续修改两个潜在因子值，直到</a:t>
            </a:r>
            <a:r>
              <a:rPr lang="en-US" altLang="zh-CN" sz="2400" dirty="0"/>
              <a:t>SSE</a:t>
            </a:r>
            <a:r>
              <a:rPr lang="zh-CN" altLang="en-US" sz="2400" dirty="0"/>
              <a:t>收敛。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07A9FA-F1FF-D2BF-994B-31E8AB9F0F10}"/>
              </a:ext>
            </a:extLst>
          </p:cNvPr>
          <p:cNvSpPr txBox="1"/>
          <p:nvPr/>
        </p:nvSpPr>
        <p:spPr>
          <a:xfrm>
            <a:off x="715488" y="3850419"/>
            <a:ext cx="993405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l"/>
            </a:pP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基于潜在因子的</a:t>
            </a:r>
            <a:r>
              <a:rPr lang="en-US" altLang="zh-CN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CF</a:t>
            </a: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，优势：</a:t>
            </a:r>
            <a:endParaRPr lang="en-US" altLang="zh-CN" sz="24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800100" lvl="1" indent="-342900">
              <a:buFont typeface="Wingdings" pitchFamily="2" charset="2"/>
              <a:buChar char="ü"/>
            </a:pP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不需要条目内容信息，基于用户条目交互信息推荐</a:t>
            </a:r>
            <a:endParaRPr lang="en-US" altLang="zh-CN" sz="24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800100" lvl="1" indent="-342900">
              <a:buFont typeface="Wingdings" pitchFamily="2" charset="2"/>
              <a:buChar char="ü"/>
            </a:pP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提供基于其他用户的个性化推荐</a:t>
            </a:r>
            <a:endParaRPr lang="en-US" altLang="zh-CN" sz="24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342900" indent="-342900">
              <a:buFont typeface="Wingdings" pitchFamily="2" charset="2"/>
              <a:buChar char="l"/>
            </a:pP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限制：</a:t>
            </a:r>
            <a:endParaRPr lang="en-US" altLang="zh-CN" sz="24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800100" lvl="1" indent="-342900">
              <a:buFont typeface="Wingdings" pitchFamily="2" charset="2"/>
              <a:buChar char="ü"/>
            </a:pP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冷启动问题：没有历史数据，无法为新用户推荐</a:t>
            </a:r>
            <a:endParaRPr lang="en-US" altLang="zh-CN" sz="24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800100" lvl="1" indent="-342900">
              <a:buFont typeface="Wingdings" pitchFamily="2" charset="2"/>
              <a:buChar char="ü"/>
            </a:pP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缺失值：对于没有被交互（评分）过的条目，无法被推荐</a:t>
            </a:r>
            <a:endParaRPr lang="en-US" altLang="zh-CN" sz="24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800100" lvl="1" indent="-342900">
              <a:buFont typeface="Wingdings" pitchFamily="2" charset="2"/>
              <a:buChar char="ü"/>
            </a:pP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准确率低：数据持续变化</a:t>
            </a:r>
            <a:endParaRPr lang="en-US" altLang="zh-CN" sz="2400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6915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01E720-8DBC-EE48-F138-E5E7415B5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混合推荐系统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D2F4542-1A68-6E0D-8E2F-E8962867F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525" y="2083837"/>
            <a:ext cx="9435505" cy="39597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A7E4C04-A691-B1B2-FF17-E58AAB51AFB4}"/>
              </a:ext>
            </a:extLst>
          </p:cNvPr>
          <p:cNvSpPr txBox="1"/>
          <p:nvPr/>
        </p:nvSpPr>
        <p:spPr>
          <a:xfrm>
            <a:off x="1171575" y="1209050"/>
            <a:ext cx="73580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单独</a:t>
            </a:r>
            <a:r>
              <a:rPr lang="en-US" altLang="zh-CN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RS</a:t>
            </a: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都有限制，可以混合多种</a:t>
            </a:r>
            <a:r>
              <a:rPr lang="en-US" altLang="zh-CN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RS</a:t>
            </a:r>
            <a:r>
              <a:rPr lang="zh-CN" altLang="en-US" sz="2400" dirty="0">
                <a:latin typeface="Songti SC" panose="02010600040101010101" pitchFamily="2" charset="-122"/>
                <a:ea typeface="Songti SC" panose="02010600040101010101" pitchFamily="2" charset="-122"/>
              </a:rPr>
              <a:t>方法进行推荐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61510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8462</TotalTime>
  <Words>303</Words>
  <Application>Microsoft Macintosh PowerPoint</Application>
  <PresentationFormat>宽屏</PresentationFormat>
  <Paragraphs>30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Songti SC</vt:lpstr>
      <vt:lpstr>Arial</vt:lpstr>
      <vt:lpstr>Cambria Math</vt:lpstr>
      <vt:lpstr>Wingdings</vt:lpstr>
      <vt:lpstr>Office 主题​​</vt:lpstr>
      <vt:lpstr>基于潜在因子的CF（举例）</vt:lpstr>
      <vt:lpstr>基于潜在因子的CF</vt:lpstr>
      <vt:lpstr>基于潜在因子的CF</vt:lpstr>
      <vt:lpstr>混合推荐系统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说课 ——《动力工程测控技术》</dc:title>
  <dc:creator>陈 冰虹</dc:creator>
  <cp:lastModifiedBy>Microsoft Office User</cp:lastModifiedBy>
  <cp:revision>625</cp:revision>
  <dcterms:created xsi:type="dcterms:W3CDTF">2021-11-17T13:21:01Z</dcterms:created>
  <dcterms:modified xsi:type="dcterms:W3CDTF">2025-07-26T14:09:36Z</dcterms:modified>
</cp:coreProperties>
</file>
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507" r:id="rId2"/>
    <p:sldId id="493" r:id="rId3"/>
    <p:sldId id="494" r:id="rId4"/>
    <p:sldId id="496" r:id="rId5"/>
    <p:sldId id="497" r:id="rId6"/>
    <p:sldId id="498" r:id="rId7"/>
    <p:sldId id="499" r:id="rId8"/>
    <p:sldId id="500" r:id="rId9"/>
    <p:sldId id="501" r:id="rId10"/>
    <p:sldId id="503" r:id="rId11"/>
    <p:sldId id="504" r:id="rId12"/>
    <p:sldId id="505" r:id="rId13"/>
    <p:sldId id="444" r:id="rId14"/>
    <p:sldId id="310" r:id="rId15"/>
    <p:sldId id="311" r:id="rId16"/>
    <p:sldId id="51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3595"/>
  </p:normalViewPr>
  <p:slideViewPr>
    <p:cSldViewPr snapToGrid="0" showGuides="1">
      <p:cViewPr varScale="1">
        <p:scale>
          <a:sx n="118" d="100"/>
          <a:sy n="118" d="100"/>
        </p:scale>
        <p:origin x="30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5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45.png"/><Relationship Id="rId5" Type="http://schemas.openxmlformats.org/officeDocument/2006/relationships/tags" Target="../tags/tag5.xml"/><Relationship Id="rId10" Type="http://schemas.openxmlformats.org/officeDocument/2006/relationships/image" Target="../media/image44.png"/><Relationship Id="rId4" Type="http://schemas.openxmlformats.org/officeDocument/2006/relationships/tags" Target="../tags/tag4.xml"/><Relationship Id="rId9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.xml"/><Relationship Id="rId10" Type="http://schemas.openxmlformats.org/officeDocument/2006/relationships/image" Target="../media/image48.png"/><Relationship Id="rId4" Type="http://schemas.openxmlformats.org/officeDocument/2006/relationships/tags" Target="../tags/tag9.xml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3.xml"/><Relationship Id="rId7" Type="http://schemas.openxmlformats.org/officeDocument/2006/relationships/image" Target="../media/image1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slideLayout" Target="../slideLayouts/slideLayout14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36619" y="2192289"/>
            <a:ext cx="7259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Part Three</a:t>
            </a:r>
          </a:p>
          <a:p>
            <a:pPr algn="ctr"/>
            <a:r>
              <a:rPr lang="zh-CN" altLang="en-US" sz="6000" b="1" dirty="0"/>
              <a:t>优化求解</a:t>
            </a:r>
            <a:r>
              <a:rPr lang="en-US" altLang="zh-CN" sz="6000" b="1" dirty="0"/>
              <a:t>-</a:t>
            </a:r>
            <a:r>
              <a:rPr lang="zh-CN" altLang="en-US" sz="6000" b="1" dirty="0"/>
              <a:t>梯度下降</a:t>
            </a:r>
          </a:p>
        </p:txBody>
      </p:sp>
    </p:spTree>
    <p:extLst>
      <p:ext uri="{BB962C8B-B14F-4D97-AF65-F5344CB8AC3E}">
        <p14:creationId xmlns:p14="http://schemas.microsoft.com/office/powerpoint/2010/main" val="419068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6CF48-915D-2FB6-A706-4E4FE439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梯度下降法</a:t>
            </a:r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5BBE10C0-D878-7EE6-B1CF-EBDCB18A71F5}"/>
              </a:ext>
            </a:extLst>
          </p:cNvPr>
          <p:cNvSpPr txBox="1">
            <a:spLocks/>
          </p:cNvSpPr>
          <p:nvPr/>
        </p:nvSpPr>
        <p:spPr>
          <a:xfrm>
            <a:off x="133941" y="1046947"/>
            <a:ext cx="10811150" cy="192668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cs typeface="+mn-ea"/>
                <a:sym typeface="Times New Roman" panose="02020603050405020304" pitchFamily="18" charset="0"/>
              </a:rPr>
              <a:t>梯度</a:t>
            </a:r>
            <a:endParaRPr lang="en-US" altLang="zh-CN" sz="2400" dirty="0">
              <a:cs typeface="+mn-ea"/>
              <a:sym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sym typeface="Times New Roman" panose="02020603050405020304" pitchFamily="18" charset="0"/>
              </a:rPr>
              <a:t>梯度的本意是一个向量（矢量），表示某一函数在该点处的方向导数沿着该方向取得最大值，即函数在该点处沿着该方向（此梯度的方向）变化最快，变化率最大（为该梯度的模）。</a:t>
            </a:r>
            <a:endParaRPr lang="en-US" altLang="zh-CN" sz="2200" dirty="0">
              <a:sym typeface="Times New Roman" panose="02020603050405020304" pitchFamily="18" charset="0"/>
            </a:endParaRPr>
          </a:p>
        </p:txBody>
      </p:sp>
      <p:pic>
        <p:nvPicPr>
          <p:cNvPr id="4" name="Picture 4" descr="https://upload-images.jianshu.io/upload_images/1234352-6ae594f795406b8b.png?imageMogr2/auto-orient/">
            <a:extLst>
              <a:ext uri="{FF2B5EF4-FFF2-40B4-BE49-F238E27FC236}">
                <a16:creationId xmlns:a16="http://schemas.microsoft.com/office/drawing/2014/main" id="{4E536FAA-9D0A-FED3-3ED7-ACC9BF18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483" y="2862974"/>
            <a:ext cx="5430071" cy="304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1">
            <a:extLst>
              <a:ext uri="{FF2B5EF4-FFF2-40B4-BE49-F238E27FC236}">
                <a16:creationId xmlns:a16="http://schemas.microsoft.com/office/drawing/2014/main" id="{70A42FED-C60B-A630-4D18-322FA1290F8A}"/>
              </a:ext>
            </a:extLst>
          </p:cNvPr>
          <p:cNvSpPr txBox="1">
            <a:spLocks/>
          </p:cNvSpPr>
          <p:nvPr/>
        </p:nvSpPr>
        <p:spPr>
          <a:xfrm>
            <a:off x="133941" y="2979425"/>
            <a:ext cx="8229600" cy="156350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cs typeface="+mn-ea"/>
                <a:sym typeface="Times New Roman" panose="02020603050405020304" pitchFamily="18" charset="0"/>
              </a:rPr>
              <a:t>梯度下降基本思想</a:t>
            </a:r>
            <a:endParaRPr lang="en-US" altLang="zh-CN" sz="2400" dirty="0">
              <a:cs typeface="+mn-ea"/>
              <a:sym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sym typeface="Times New Roman" panose="02020603050405020304" pitchFamily="18" charset="0"/>
              </a:rPr>
              <a:t>向着梯度的反方向调整</a:t>
            </a:r>
            <a:endParaRPr lang="en-US" altLang="zh-CN" sz="2200" dirty="0">
              <a:sym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sym typeface="Times New Roman" panose="02020603050405020304" pitchFamily="18" charset="0"/>
              </a:rPr>
              <a:t>步长不能太大，也不能太小</a:t>
            </a:r>
          </a:p>
        </p:txBody>
      </p:sp>
      <p:pic>
        <p:nvPicPr>
          <p:cNvPr id="7" name="Picture 2" descr="https://upload-images.jianshu.io/upload_images/1234352-af8dd9722c762c13.png?imageMogr2/auto-orient/">
            <a:extLst>
              <a:ext uri="{FF2B5EF4-FFF2-40B4-BE49-F238E27FC236}">
                <a16:creationId xmlns:a16="http://schemas.microsoft.com/office/drawing/2014/main" id="{BA366A96-0356-7E94-7A69-491DF5C18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7" y="4699876"/>
            <a:ext cx="6291973" cy="188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69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BE756-1FFA-B30D-1E8F-405B13C2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梯度下降法</a:t>
            </a:r>
          </a:p>
        </p:txBody>
      </p:sp>
      <p:pic>
        <p:nvPicPr>
          <p:cNvPr id="3" name="Picture 2" descr="https://upload-images.jianshu.io/upload_images/1234352-af8dd9722c762c13.png?imageMogr2/auto-orient/">
            <a:extLst>
              <a:ext uri="{FF2B5EF4-FFF2-40B4-BE49-F238E27FC236}">
                <a16:creationId xmlns:a16="http://schemas.microsoft.com/office/drawing/2014/main" id="{E2BE269F-5D56-827C-F6FF-361D93DAF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48" y="4872480"/>
            <a:ext cx="5583779" cy="167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CFCFCB3-1795-81D8-03F8-4E55D5D468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020300" y="5032189"/>
            <a:ext cx="11223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增大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B3592EB-7A4C-F30C-4463-97B6B6EA53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020300" y="5748676"/>
            <a:ext cx="11223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减少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AD3AE32-CEEE-11CA-F07C-648F5BA109E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7305925" y="5096482"/>
            <a:ext cx="514350" cy="514350"/>
          </a:xfrm>
          <a:prstGeom prst="ellipse">
            <a:avLst/>
          </a:prstGeom>
          <a:solidFill>
            <a:srgbClr val="FF99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A47E18-C9BD-CC42-E91E-CA98B706974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7305925" y="581296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CA12855-831D-4D08-0981-C1266FAAB19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43710" y="1276391"/>
            <a:ext cx="4262468" cy="34831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  <a:defRPr sz="2400">
                <a:cs typeface="+mn-ea"/>
              </a:defRPr>
            </a:lvl1pPr>
            <a:lvl2pPr marL="685800" lvl="1" indent="-228600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  <a:defRPr sz="22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ym typeface="Times New Roman" panose="02020603050405020304" pitchFamily="18" charset="0"/>
              </a:rPr>
              <a:t>情况一直观表达</a:t>
            </a:r>
          </a:p>
          <a:p>
            <a:pPr lvl="1"/>
            <a:r>
              <a:rPr lang="zh-CN" altLang="en-US" sz="2400" dirty="0">
                <a:sym typeface="Times New Roman" panose="02020603050405020304" pitchFamily="18" charset="0"/>
              </a:rPr>
              <a:t>当误差对权值的偏导数小于零时，权值调整量为正，实际输出少于期望输出，权值向</a:t>
            </a:r>
            <a:r>
              <a:rPr lang="en-US" altLang="zh-CN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选择题</a:t>
            </a:r>
            <a:r>
              <a:rPr lang="en-US" altLang="zh-CN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】</a:t>
            </a:r>
            <a:r>
              <a:rPr lang="zh-CN" altLang="en-US" sz="2400" dirty="0">
                <a:sym typeface="Times New Roman" panose="02020603050405020304" pitchFamily="18" charset="0"/>
              </a:rPr>
              <a:t>方向调整，使得实际输出与期望输出的差减少。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70C42E42-37FD-611A-4A07-6A4D8964C9F6}"/>
              </a:ext>
            </a:extLst>
          </p:cNvPr>
          <p:cNvGrpSpPr>
            <a:grpSpLocks/>
          </p:cNvGrpSpPr>
          <p:nvPr/>
        </p:nvGrpSpPr>
        <p:grpSpPr bwMode="auto">
          <a:xfrm>
            <a:off x="5788912" y="1350930"/>
            <a:ext cx="3570374" cy="3602300"/>
            <a:chOff x="0" y="0"/>
            <a:chExt cx="2110" cy="1996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EFE190AA-274D-A205-E1E0-8B171FAAB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110" cy="1996"/>
              <a:chOff x="0" y="0"/>
              <a:chExt cx="2110" cy="1996"/>
            </a:xfrm>
          </p:grpSpPr>
          <p:grpSp>
            <p:nvGrpSpPr>
              <p:cNvPr id="12" name="Group 7">
                <a:extLst>
                  <a:ext uri="{FF2B5EF4-FFF2-40B4-BE49-F238E27FC236}">
                    <a16:creationId xmlns:a16="http://schemas.microsoft.com/office/drawing/2014/main" id="{28754C8C-09E1-E55A-42CC-6B6C6E027C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61"/>
                <a:ext cx="1680" cy="1392"/>
                <a:chOff x="0" y="0"/>
                <a:chExt cx="2520" cy="2340"/>
              </a:xfrm>
            </p:grpSpPr>
            <p:sp>
              <p:nvSpPr>
                <p:cNvPr id="15" name="Line 8">
                  <a:extLst>
                    <a:ext uri="{FF2B5EF4-FFF2-40B4-BE49-F238E27FC236}">
                      <a16:creationId xmlns:a16="http://schemas.microsoft.com/office/drawing/2014/main" id="{FD212145-456D-25CA-9224-73A536121B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2340"/>
                  <a:ext cx="2520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9">
                  <a:extLst>
                    <a:ext uri="{FF2B5EF4-FFF2-40B4-BE49-F238E27FC236}">
                      <a16:creationId xmlns:a16="http://schemas.microsoft.com/office/drawing/2014/main" id="{4C1E2430-CFDA-7E14-D952-C9BD4BAD82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234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7" name="Freeform 10">
                  <a:extLst>
                    <a:ext uri="{FF2B5EF4-FFF2-40B4-BE49-F238E27FC236}">
                      <a16:creationId xmlns:a16="http://schemas.microsoft.com/office/drawing/2014/main" id="{322DFD82-EC2D-A2E2-965D-4CA463134A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710109" flipH="1">
                  <a:off x="360" y="312"/>
                  <a:ext cx="1980" cy="1794"/>
                </a:xfrm>
                <a:custGeom>
                  <a:avLst/>
                  <a:gdLst>
                    <a:gd name="T0" fmla="*/ 0 w 1980"/>
                    <a:gd name="T1" fmla="*/ 0 h 1794"/>
                    <a:gd name="T2" fmla="*/ 720 w 1980"/>
                    <a:gd name="T3" fmla="*/ 1716 h 1794"/>
                    <a:gd name="T4" fmla="*/ 1980 w 1980"/>
                    <a:gd name="T5" fmla="*/ 468 h 1794"/>
                    <a:gd name="T6" fmla="*/ 0 60000 65536"/>
                    <a:gd name="T7" fmla="*/ 0 60000 65536"/>
                    <a:gd name="T8" fmla="*/ 0 60000 65536"/>
                    <a:gd name="T9" fmla="*/ 0 w 1980"/>
                    <a:gd name="T10" fmla="*/ 0 h 1794"/>
                    <a:gd name="T11" fmla="*/ 1980 w 1980"/>
                    <a:gd name="T12" fmla="*/ 1794 h 17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80" h="1794">
                      <a:moveTo>
                        <a:pt x="0" y="0"/>
                      </a:moveTo>
                      <a:cubicBezTo>
                        <a:pt x="195" y="819"/>
                        <a:pt x="390" y="1638"/>
                        <a:pt x="720" y="1716"/>
                      </a:cubicBezTo>
                      <a:cubicBezTo>
                        <a:pt x="1050" y="1794"/>
                        <a:pt x="1515" y="1131"/>
                        <a:pt x="1980" y="468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8" name="Line 11">
                  <a:extLst>
                    <a:ext uri="{FF2B5EF4-FFF2-40B4-BE49-F238E27FC236}">
                      <a16:creationId xmlns:a16="http://schemas.microsoft.com/office/drawing/2014/main" id="{A8625F0B-B4D7-95CB-E898-DA099940AA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" y="780"/>
                  <a:ext cx="1080" cy="156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B66E61-4E33-B6EE-9041-6B2CE381E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CD774C3D-1BE9-13FC-D611-75EFBB8D47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5" y="1740"/>
                    <a:ext cx="1455" cy="25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rPr>
                      <a:t>&lt;0, </a:t>
                    </a:r>
                    <a:r>
                      <a:rPr lang="zh-CN" altLang="en-US" sz="2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rPr>
                      <a:t>此时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nor/>
                              </m:rPr>
                              <a:rPr lang="zh-CN" altLang="en-US" sz="2400" dirty="0"/>
                              <m:t>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rPr>
                      <a:t>&gt;</a:t>
                    </a:r>
                    <a:r>
                      <a:rPr lang="en-US" altLang="zh-CN" sz="24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nor/>
                              </m:rPr>
                              <a:rPr lang="zh-CN" altLang="en-US" sz="2400" dirty="0"/>
                              <m:t> 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a14:m>
                    <a:endParaRPr lang="en-US" altLang="zh-CN" sz="2400" dirty="0">
                      <a:latin typeface="Times New Roman" panose="02020603050405020304" pitchFamily="18" charset="0"/>
                      <a:ea typeface="微软雅黑" panose="020B0503020204020204" pitchFamily="34" charset="-122"/>
                      <a:sym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CD774C3D-1BE9-13FC-D611-75EFBB8D471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55" y="1740"/>
                    <a:ext cx="1455" cy="25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90" t="-10526" b="-26316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81D6F5B4-F577-0875-BD3D-29F62E8EC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420"/>
              <a:ext cx="36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w</a:t>
              </a:r>
              <a:r>
                <a:rPr lang="en-US" altLang="zh-CN" sz="2400" b="1" baseline="-300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ho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4">
                <a:extLst>
                  <a:ext uri="{FF2B5EF4-FFF2-40B4-BE49-F238E27FC236}">
                    <a16:creationId xmlns:a16="http://schemas.microsoft.com/office/drawing/2014/main" id="{3F109CC0-84A0-6FDA-EFDE-7952B94C4137}"/>
                  </a:ext>
                </a:extLst>
              </p:cNvPr>
              <p:cNvSpPr txBox="1"/>
              <p:nvPr/>
            </p:nvSpPr>
            <p:spPr>
              <a:xfrm>
                <a:off x="6587665" y="4464921"/>
                <a:ext cx="298159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zh-CN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4">
                <a:extLst>
                  <a:ext uri="{FF2B5EF4-FFF2-40B4-BE49-F238E27FC236}">
                    <a16:creationId xmlns:a16="http://schemas.microsoft.com/office/drawing/2014/main" id="{3F109CC0-84A0-6FDA-EFDE-7952B94C4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665" y="4464921"/>
                <a:ext cx="298159" cy="526683"/>
              </a:xfrm>
              <a:prstGeom prst="rect">
                <a:avLst/>
              </a:prstGeom>
              <a:blipFill>
                <a:blip r:embed="rId9"/>
                <a:stretch>
                  <a:fillRect l="-16000" t="-2326" r="-8000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A235CAC-4962-0322-AA87-44A8226189D6}"/>
              </a:ext>
            </a:extLst>
          </p:cNvPr>
          <p:cNvCxnSpPr/>
          <p:nvPr/>
        </p:nvCxnSpPr>
        <p:spPr>
          <a:xfrm>
            <a:off x="7305925" y="3283528"/>
            <a:ext cx="0" cy="689717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5298C1B-FBDD-A226-1FE6-48C64A45E839}"/>
                  </a:ext>
                </a:extLst>
              </p:cNvPr>
              <p:cNvSpPr txBox="1"/>
              <p:nvPr/>
            </p:nvSpPr>
            <p:spPr>
              <a:xfrm>
                <a:off x="4257925" y="394952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5298C1B-FBDD-A226-1FE6-48C64A45E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925" y="3949522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56B15C8-75B6-44DC-9A8F-5FAB7AA53C6D}"/>
                  </a:ext>
                </a:extLst>
              </p:cNvPr>
              <p:cNvSpPr txBox="1"/>
              <p:nvPr/>
            </p:nvSpPr>
            <p:spPr>
              <a:xfrm>
                <a:off x="8673273" y="4060322"/>
                <a:ext cx="66401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56B15C8-75B6-44DC-9A8F-5FAB7AA53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273" y="4060322"/>
                <a:ext cx="66401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椭圆 22">
            <a:extLst>
              <a:ext uri="{FF2B5EF4-FFF2-40B4-BE49-F238E27FC236}">
                <a16:creationId xmlns:a16="http://schemas.microsoft.com/office/drawing/2014/main" id="{6EB3E6A2-AF7A-250F-040C-CF546E2E9D7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305107" y="509648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4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352A2-4626-8DF9-59F2-F57C9DA4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梯度下降法</a:t>
            </a:r>
          </a:p>
        </p:txBody>
      </p:sp>
      <p:pic>
        <p:nvPicPr>
          <p:cNvPr id="3" name="Picture 2" descr="https://upload-images.jianshu.io/upload_images/1234352-af8dd9722c762c13.png?imageMogr2/auto-orient/">
            <a:extLst>
              <a:ext uri="{FF2B5EF4-FFF2-40B4-BE49-F238E27FC236}">
                <a16:creationId xmlns:a16="http://schemas.microsoft.com/office/drawing/2014/main" id="{6E615292-CBE7-5FF8-025B-1ECD933AF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921" y="4830916"/>
            <a:ext cx="5583779" cy="167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5BAD8BA2-2679-83C0-F0AC-C7575429D04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546773" y="4990625"/>
            <a:ext cx="11223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增大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2F8BEE-783C-A20A-CAB5-46595B30D7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46773" y="5707112"/>
            <a:ext cx="11223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减少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576579A-E6E4-0D04-230E-6FAE3218ACFB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7832398" y="5054918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9B48A1C-7DD0-53F6-B324-2C532358EAF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7823574" y="5771406"/>
            <a:ext cx="514350" cy="514350"/>
          </a:xfrm>
          <a:prstGeom prst="ellipse">
            <a:avLst/>
          </a:prstGeom>
          <a:solidFill>
            <a:srgbClr val="FF660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286453F-BCF7-FBAE-250F-813233BAF69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28264" y="1234827"/>
            <a:ext cx="4888354" cy="301223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  <a:defRPr sz="2400">
                <a:cs typeface="+mn-ea"/>
              </a:defRPr>
            </a:lvl1pPr>
            <a:lvl2pPr marL="685800" lvl="1" indent="-228600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  <a:defRPr sz="22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ym typeface="Times New Roman" panose="02020603050405020304" pitchFamily="18" charset="0"/>
              </a:rPr>
              <a:t>情况一直观表达</a:t>
            </a:r>
          </a:p>
          <a:p>
            <a:pPr lvl="1"/>
            <a:r>
              <a:rPr lang="zh-CN" altLang="en-US" sz="2400" dirty="0">
                <a:sym typeface="Times New Roman" panose="02020603050405020304" pitchFamily="18" charset="0"/>
              </a:rPr>
              <a:t>当误差对权值的偏导数大于零时，权值调整量为负，实际输出大于期望输出，权值向</a:t>
            </a:r>
            <a:r>
              <a:rPr lang="en-US" altLang="zh-CN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选择题</a:t>
            </a:r>
            <a:r>
              <a:rPr lang="en-US" altLang="zh-CN" sz="2400" dirty="0">
                <a:solidFill>
                  <a:srgbClr val="FF6600"/>
                </a:solidFill>
                <a:sym typeface="Times New Roman" panose="02020603050405020304" pitchFamily="18" charset="0"/>
              </a:rPr>
              <a:t>】</a:t>
            </a:r>
            <a:r>
              <a:rPr lang="zh-CN" altLang="en-US" sz="2400" dirty="0">
                <a:sym typeface="Times New Roman" panose="02020603050405020304" pitchFamily="18" charset="0"/>
              </a:rPr>
              <a:t>方向调整，使得实际输出与期望输出的差减少。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23C0BF75-4984-DFB4-F0E0-8239E9134DBB}"/>
              </a:ext>
            </a:extLst>
          </p:cNvPr>
          <p:cNvGrpSpPr>
            <a:grpSpLocks/>
          </p:cNvGrpSpPr>
          <p:nvPr/>
        </p:nvGrpSpPr>
        <p:grpSpPr bwMode="auto">
          <a:xfrm>
            <a:off x="6315385" y="1309366"/>
            <a:ext cx="3548376" cy="3602300"/>
            <a:chOff x="0" y="0"/>
            <a:chExt cx="2097" cy="1996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5A18AF76-C7DC-E86D-D38A-3E5425F9BC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20" cy="1996"/>
              <a:chOff x="0" y="0"/>
              <a:chExt cx="2020" cy="1996"/>
            </a:xfrm>
          </p:grpSpPr>
          <p:grpSp>
            <p:nvGrpSpPr>
              <p:cNvPr id="12" name="Group 7">
                <a:extLst>
                  <a:ext uri="{FF2B5EF4-FFF2-40B4-BE49-F238E27FC236}">
                    <a16:creationId xmlns:a16="http://schemas.microsoft.com/office/drawing/2014/main" id="{6CDCCAC5-BEED-A46E-DA70-51A6EE0D5F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61"/>
                <a:ext cx="1680" cy="1392"/>
                <a:chOff x="0" y="0"/>
                <a:chExt cx="2520" cy="2340"/>
              </a:xfrm>
            </p:grpSpPr>
            <p:sp>
              <p:nvSpPr>
                <p:cNvPr id="15" name="Line 8">
                  <a:extLst>
                    <a:ext uri="{FF2B5EF4-FFF2-40B4-BE49-F238E27FC236}">
                      <a16:creationId xmlns:a16="http://schemas.microsoft.com/office/drawing/2014/main" id="{9C3A41D9-86F7-6E5B-31E7-8EC372D85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2340"/>
                  <a:ext cx="2520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6" name="Line 9">
                  <a:extLst>
                    <a:ext uri="{FF2B5EF4-FFF2-40B4-BE49-F238E27FC236}">
                      <a16:creationId xmlns:a16="http://schemas.microsoft.com/office/drawing/2014/main" id="{9A1E480D-05E9-96A4-21A5-FCA387A85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234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8442963-86BD-FF0B-21BC-75EF9B228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DCB31E-7FC7-8435-2BAB-ECB6C0CCB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" y="1740"/>
                <a:ext cx="1365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&gt;0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, </a:t>
                </a:r>
                <a:r>
                  <a:rPr lang="zh-CN" altLang="en-US" sz="240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此时</a:t>
                </a:r>
                <a:r>
                  <a:rPr lang="en-US" altLang="zh-CN" sz="240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Δw</a:t>
                </a:r>
                <a:r>
                  <a:rPr lang="en-US" altLang="zh-CN" sz="2400" baseline="-3000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ho</a:t>
                </a:r>
                <a:r>
                  <a:rPr lang="en-US" altLang="zh-CN" sz="240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&lt;0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2B86EE09-4DA4-8EE2-6695-A574A58E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420"/>
              <a:ext cx="36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w</a:t>
              </a:r>
              <a:r>
                <a:rPr lang="en-US" altLang="zh-CN" sz="2400" b="1" baseline="-300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ho</a:t>
              </a:r>
            </a:p>
          </p:txBody>
        </p:sp>
      </p:grpSp>
      <p:sp>
        <p:nvSpPr>
          <p:cNvPr id="18" name="Freeform 11">
            <a:extLst>
              <a:ext uri="{FF2B5EF4-FFF2-40B4-BE49-F238E27FC236}">
                <a16:creationId xmlns:a16="http://schemas.microsoft.com/office/drawing/2014/main" id="{0930D3CE-DA60-1085-6290-DACDBCBEE62A}"/>
              </a:ext>
            </a:extLst>
          </p:cNvPr>
          <p:cNvSpPr>
            <a:spLocks/>
          </p:cNvSpPr>
          <p:nvPr/>
        </p:nvSpPr>
        <p:spPr bwMode="auto">
          <a:xfrm rot="512160">
            <a:off x="6712765" y="1763819"/>
            <a:ext cx="2292867" cy="1902451"/>
          </a:xfrm>
          <a:custGeom>
            <a:avLst/>
            <a:gdLst>
              <a:gd name="T0" fmla="*/ 0 w 1980"/>
              <a:gd name="T1" fmla="*/ 0 h 1794"/>
              <a:gd name="T2" fmla="*/ 720 w 1980"/>
              <a:gd name="T3" fmla="*/ 1716 h 1794"/>
              <a:gd name="T4" fmla="*/ 1980 w 1980"/>
              <a:gd name="T5" fmla="*/ 468 h 1794"/>
              <a:gd name="T6" fmla="*/ 0 60000 65536"/>
              <a:gd name="T7" fmla="*/ 0 60000 65536"/>
              <a:gd name="T8" fmla="*/ 0 60000 65536"/>
              <a:gd name="T9" fmla="*/ 0 w 1980"/>
              <a:gd name="T10" fmla="*/ 0 h 1794"/>
              <a:gd name="T11" fmla="*/ 1980 w 1980"/>
              <a:gd name="T12" fmla="*/ 1794 h 17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0" h="1794">
                <a:moveTo>
                  <a:pt x="0" y="0"/>
                </a:moveTo>
                <a:cubicBezTo>
                  <a:pt x="195" y="819"/>
                  <a:pt x="390" y="1638"/>
                  <a:pt x="720" y="1716"/>
                </a:cubicBezTo>
                <a:cubicBezTo>
                  <a:pt x="1050" y="1794"/>
                  <a:pt x="1515" y="1131"/>
                  <a:pt x="1980" y="468"/>
                </a:cubicBezTo>
              </a:path>
            </a:pathLst>
          </a:custGeom>
          <a:noFill/>
          <a:ln w="38100" cmpd="sng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0BBA7CAD-D635-A93A-E4BB-99FA15D29F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9650" y="2425541"/>
            <a:ext cx="2292867" cy="1488875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4">
                <a:extLst>
                  <a:ext uri="{FF2B5EF4-FFF2-40B4-BE49-F238E27FC236}">
                    <a16:creationId xmlns:a16="http://schemas.microsoft.com/office/drawing/2014/main" id="{2DA593A6-51B5-6AD3-EFAA-5E597BF46C8A}"/>
                  </a:ext>
                </a:extLst>
              </p:cNvPr>
              <p:cNvSpPr txBox="1"/>
              <p:nvPr/>
            </p:nvSpPr>
            <p:spPr>
              <a:xfrm>
                <a:off x="7125565" y="4417315"/>
                <a:ext cx="298159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e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  <a:sym typeface="Times New Roman" panose="020206030504050203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l-GR" altLang="zh-CN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14">
                <a:extLst>
                  <a:ext uri="{FF2B5EF4-FFF2-40B4-BE49-F238E27FC236}">
                    <a16:creationId xmlns:a16="http://schemas.microsoft.com/office/drawing/2014/main" id="{2DA593A6-51B5-6AD3-EFAA-5E597BF46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565" y="4417315"/>
                <a:ext cx="298159" cy="526683"/>
              </a:xfrm>
              <a:prstGeom prst="rect">
                <a:avLst/>
              </a:prstGeom>
              <a:blipFill>
                <a:blip r:embed="rId8"/>
                <a:stretch>
                  <a:fillRect l="-20833" t="-4762" r="-1250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B2027C8-28FB-0424-AF10-080D103E1335}"/>
                  </a:ext>
                </a:extLst>
              </p:cNvPr>
              <p:cNvSpPr txBox="1"/>
              <p:nvPr/>
            </p:nvSpPr>
            <p:spPr>
              <a:xfrm>
                <a:off x="9199746" y="4029921"/>
                <a:ext cx="66401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B2027C8-28FB-0424-AF10-080D103E1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746" y="4029921"/>
                <a:ext cx="6640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EA362B65-6818-E2E6-F2E8-C4990E30C117}"/>
              </a:ext>
            </a:extLst>
          </p:cNvPr>
          <p:cNvCxnSpPr>
            <a:cxnSpLocks/>
          </p:cNvCxnSpPr>
          <p:nvPr/>
        </p:nvCxnSpPr>
        <p:spPr>
          <a:xfrm>
            <a:off x="8109488" y="3310522"/>
            <a:ext cx="0" cy="603894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B4DFFD-8143-219A-38F3-4FAED81557A5}"/>
                  </a:ext>
                </a:extLst>
              </p:cNvPr>
              <p:cNvSpPr txBox="1"/>
              <p:nvPr/>
            </p:nvSpPr>
            <p:spPr>
              <a:xfrm>
                <a:off x="5061488" y="397651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B4DFFD-8143-219A-38F3-4FAED8155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488" y="3976516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>
            <a:extLst>
              <a:ext uri="{FF2B5EF4-FFF2-40B4-BE49-F238E27FC236}">
                <a16:creationId xmlns:a16="http://schemas.microsoft.com/office/drawing/2014/main" id="{B416B05A-D8B6-F04A-B691-996132A589A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823574" y="57714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5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9CF07-C935-948A-3278-16F8811E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梯度下降法求解例子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1B883882-F51A-F9E1-3389-F404C0F30186}"/>
              </a:ext>
            </a:extLst>
          </p:cNvPr>
          <p:cNvSpPr txBox="1">
            <a:spLocks/>
          </p:cNvSpPr>
          <p:nvPr/>
        </p:nvSpPr>
        <p:spPr>
          <a:xfrm>
            <a:off x="1317111" y="991527"/>
            <a:ext cx="2837116" cy="22058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  <a:defRPr sz="2400">
                <a:cs typeface="+mn-ea"/>
              </a:defRPr>
            </a:lvl1pPr>
            <a:lvl2pPr marL="685800" lvl="1" indent="-228600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  <a:defRPr sz="22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ym typeface="Times New Roman" panose="02020603050405020304" pitchFamily="18" charset="0"/>
              </a:rPr>
              <a:t>目标函数</a:t>
            </a:r>
            <a:endParaRPr lang="en-US" altLang="zh-CN" dirty="0">
              <a:sym typeface="Times New Roman" panose="02020603050405020304" pitchFamily="18" charset="0"/>
            </a:endParaRPr>
          </a:p>
          <a:p>
            <a:r>
              <a:rPr lang="zh-CN" altLang="en-US" dirty="0">
                <a:sym typeface="Times New Roman" panose="02020603050405020304" pitchFamily="18" charset="0"/>
              </a:rPr>
              <a:t>函数的微分</a:t>
            </a:r>
            <a:endParaRPr lang="en-US" altLang="zh-CN" dirty="0">
              <a:sym typeface="Times New Roman" panose="02020603050405020304" pitchFamily="18" charset="0"/>
            </a:endParaRPr>
          </a:p>
          <a:p>
            <a:r>
              <a:rPr lang="zh-CN" altLang="en-US" dirty="0">
                <a:sym typeface="Times New Roman" panose="02020603050405020304" pitchFamily="18" charset="0"/>
              </a:rPr>
              <a:t>初始条件</a:t>
            </a:r>
            <a:endParaRPr lang="en-US" altLang="zh-CN" dirty="0">
              <a:sym typeface="Times New Roman" panose="02020603050405020304" pitchFamily="18" charset="0"/>
            </a:endParaRPr>
          </a:p>
          <a:p>
            <a:r>
              <a:rPr lang="zh-CN" altLang="en-US" dirty="0">
                <a:sym typeface="Times New Roman" panose="02020603050405020304" pitchFamily="18" charset="0"/>
              </a:rPr>
              <a:t>迭代求解过程</a:t>
            </a:r>
          </a:p>
        </p:txBody>
      </p:sp>
      <p:pic>
        <p:nvPicPr>
          <p:cNvPr id="5" name="Picture 2" descr="https://upload-images.jianshu.io/upload_images/1234352-abb73822fb6d2a2c.png?imageMogr2/auto-orient/">
            <a:extLst>
              <a:ext uri="{FF2B5EF4-FFF2-40B4-BE49-F238E27FC236}">
                <a16:creationId xmlns:a16="http://schemas.microsoft.com/office/drawing/2014/main" id="{4480D970-A48B-999C-9BF3-8436C12F4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953" y="1061345"/>
            <a:ext cx="1391126" cy="47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upload-images.jianshu.io/upload_images/1234352-66ce0cdcef5e2686.png?imageMogr2/auto-orient/">
            <a:extLst>
              <a:ext uri="{FF2B5EF4-FFF2-40B4-BE49-F238E27FC236}">
                <a16:creationId xmlns:a16="http://schemas.microsoft.com/office/drawing/2014/main" id="{E699DC51-4079-BD13-AD6B-6E6D70D22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954" y="1617638"/>
            <a:ext cx="1544479" cy="42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https://upload-images.jianshu.io/upload_images/1234352-798b134107b6593d.png?imageMogr2/auto-orient/">
            <a:extLst>
              <a:ext uri="{FF2B5EF4-FFF2-40B4-BE49-F238E27FC236}">
                <a16:creationId xmlns:a16="http://schemas.microsoft.com/office/drawing/2014/main" id="{269B01C5-401C-862D-1288-E943E2717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08" y="2223891"/>
            <a:ext cx="1150144" cy="36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ttps://upload-images.jianshu.io/upload_images/1234352-8ee36cc5ce832b17.png?imageMogr2/auto-orient/">
            <a:extLst>
              <a:ext uri="{FF2B5EF4-FFF2-40B4-BE49-F238E27FC236}">
                <a16:creationId xmlns:a16="http://schemas.microsoft.com/office/drawing/2014/main" id="{0B7119C0-F3B9-1281-E3E1-3F5444A7D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953" y="2213631"/>
            <a:ext cx="942022" cy="40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https://upload-images.jianshu.io/upload_images/1234352-57538d21dbb34e65.png?imageMogr2/auto-orient/">
            <a:extLst>
              <a:ext uri="{FF2B5EF4-FFF2-40B4-BE49-F238E27FC236}">
                <a16:creationId xmlns:a16="http://schemas.microsoft.com/office/drawing/2014/main" id="{8512017A-B0F7-4E12-9578-6EC7B808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17" y="2747457"/>
            <a:ext cx="2837117" cy="378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ttps://upload-images.jianshu.io/upload_images/1234352-bb7fa36d116fcadc.png?imageMogr2/auto-orient/">
            <a:extLst>
              <a:ext uri="{FF2B5EF4-FFF2-40B4-BE49-F238E27FC236}">
                <a16:creationId xmlns:a16="http://schemas.microsoft.com/office/drawing/2014/main" id="{C35BFAC5-A24D-4362-BA0A-CD370821D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28" y="2999584"/>
            <a:ext cx="3377470" cy="328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upload-images.jianshu.io/upload_images/1234352-af8dd9722c762c13.png?imageMogr2/auto-orient/">
            <a:extLst>
              <a:ext uri="{FF2B5EF4-FFF2-40B4-BE49-F238E27FC236}">
                <a16:creationId xmlns:a16="http://schemas.microsoft.com/office/drawing/2014/main" id="{BE660917-0D98-B787-B5B7-502095510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067" y="1613340"/>
            <a:ext cx="4011583" cy="120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B46270-257F-D24F-CA1D-23A5962AE0F0}"/>
              </a:ext>
            </a:extLst>
          </p:cNvPr>
          <p:cNvSpPr/>
          <p:nvPr/>
        </p:nvSpPr>
        <p:spPr bwMode="auto">
          <a:xfrm>
            <a:off x="5549246" y="3738230"/>
            <a:ext cx="546754" cy="360000"/>
          </a:xfrm>
          <a:prstGeom prst="rect">
            <a:avLst/>
          </a:prstGeom>
          <a:solidFill>
            <a:srgbClr val="135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9B74A7-7392-BAE4-C138-551E5D02A8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2527" y="4161183"/>
            <a:ext cx="1041400" cy="3683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538463E-3098-64FA-EE5F-0FFE26DDE7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543" y="5166678"/>
            <a:ext cx="1041400" cy="3683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ACF6CD9-0E5F-B37A-A5B2-310D2C8EAE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543" y="5663515"/>
            <a:ext cx="1041400" cy="3683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D9B74A7-7392-BAE4-C138-551E5D02A8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543" y="6148866"/>
            <a:ext cx="1041400" cy="36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A1EB27-608D-77A0-EB21-E9EFF26F5731}"/>
                  </a:ext>
                </a:extLst>
              </p:cNvPr>
              <p:cNvSpPr txBox="1"/>
              <p:nvPr/>
            </p:nvSpPr>
            <p:spPr>
              <a:xfrm>
                <a:off x="6077863" y="1055053"/>
                <a:ext cx="4797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ym typeface="Times New Roman" panose="02020603050405020304" pitchFamily="18" charset="0"/>
                  </a:rPr>
                  <a:t>希望找到合适的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sym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dirty="0">
                    <a:sym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Times New Roman" panose="02020603050405020304" pitchFamily="18" charset="0"/>
                      </a:rPr>
                      <m:t>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Times New Roman" panose="020206030504050203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sym typeface="Times New Roman" panose="020206030504050203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ym typeface="Times New Roman" panose="02020603050405020304" pitchFamily="18" charset="0"/>
                  </a:rPr>
                  <a:t>取得最小值</a:t>
                </a:r>
                <a:endParaRPr lang="en-US" altLang="zh-CN" dirty="0">
                  <a:sym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A1EB27-608D-77A0-EB21-E9EFF26F5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863" y="1055053"/>
                <a:ext cx="4797026" cy="369332"/>
              </a:xfrm>
              <a:prstGeom prst="rect">
                <a:avLst/>
              </a:prstGeom>
              <a:blipFill>
                <a:blip r:embed="rId10"/>
                <a:stretch>
                  <a:fillRect l="-1055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63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25454-E6D7-8C25-EE2D-1524349A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梯度下降法求解例子</a:t>
            </a:r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CB3C1C0F-FFF3-BA1B-67B5-A694EFDB39A3}"/>
              </a:ext>
            </a:extLst>
          </p:cNvPr>
          <p:cNvSpPr txBox="1">
            <a:spLocks/>
          </p:cNvSpPr>
          <p:nvPr/>
        </p:nvSpPr>
        <p:spPr>
          <a:xfrm>
            <a:off x="309010" y="1046945"/>
            <a:ext cx="2530625" cy="16487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  <a:defRPr sz="2400">
                <a:cs typeface="+mn-ea"/>
              </a:defRPr>
            </a:lvl1pPr>
            <a:lvl2pPr marL="685800" lvl="1" indent="-228600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  <a:defRPr sz="22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ym typeface="Times New Roman" panose="02020603050405020304" pitchFamily="18" charset="0"/>
              </a:rPr>
              <a:t>目标函数</a:t>
            </a:r>
            <a:endParaRPr lang="en-US" altLang="zh-CN" dirty="0">
              <a:sym typeface="Times New Roman" panose="02020603050405020304" pitchFamily="18" charset="0"/>
            </a:endParaRPr>
          </a:p>
          <a:p>
            <a:r>
              <a:rPr lang="zh-CN" altLang="en-US" dirty="0">
                <a:sym typeface="Times New Roman" panose="02020603050405020304" pitchFamily="18" charset="0"/>
              </a:rPr>
              <a:t>函数的微分</a:t>
            </a:r>
            <a:endParaRPr lang="en-US" altLang="zh-CN" dirty="0">
              <a:sym typeface="Times New Roman" panose="02020603050405020304" pitchFamily="18" charset="0"/>
            </a:endParaRPr>
          </a:p>
          <a:p>
            <a:r>
              <a:rPr lang="zh-CN" altLang="en-US" dirty="0">
                <a:sym typeface="Times New Roman" panose="02020603050405020304" pitchFamily="18" charset="0"/>
              </a:rPr>
              <a:t>初始条件</a:t>
            </a:r>
            <a:endParaRPr lang="en-US" altLang="zh-CN" dirty="0">
              <a:sym typeface="Times New Roman" panose="02020603050405020304" pitchFamily="18" charset="0"/>
            </a:endParaRPr>
          </a:p>
        </p:txBody>
      </p:sp>
      <p:pic>
        <p:nvPicPr>
          <p:cNvPr id="5" name="Picture 2" descr="https://upload-images.jianshu.io/upload_images/1234352-a56cfde25c688859.png?imageMogr2/auto-orient/">
            <a:extLst>
              <a:ext uri="{FF2B5EF4-FFF2-40B4-BE49-F238E27FC236}">
                <a16:creationId xmlns:a16="http://schemas.microsoft.com/office/drawing/2014/main" id="{C7B9FA8D-6D9F-8E2D-8B99-40C3B57D5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484" y="1170987"/>
            <a:ext cx="1873091" cy="31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upload-images.jianshu.io/upload_images/1234352-8b1b6f1b200fd7b5.png?imageMogr2/auto-orient/">
            <a:extLst>
              <a:ext uri="{FF2B5EF4-FFF2-40B4-BE49-F238E27FC236}">
                <a16:creationId xmlns:a16="http://schemas.microsoft.com/office/drawing/2014/main" id="{B16EAC3E-122F-161A-413B-F4D97093F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375" y="2269831"/>
            <a:ext cx="1402080" cy="37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s://upload-images.jianshu.io/upload_images/1234352-ccc1493848871074.png?imageMogr2/auto-orient/">
            <a:extLst>
              <a:ext uri="{FF2B5EF4-FFF2-40B4-BE49-F238E27FC236}">
                <a16:creationId xmlns:a16="http://schemas.microsoft.com/office/drawing/2014/main" id="{C9925E49-78F7-9852-2BC4-BBCBC345C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78" y="2346509"/>
            <a:ext cx="974884" cy="29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s://upload-images.jianshu.io/upload_images/1234352-3d744d9364a4ba40.png?imageMogr2/auto-orient/">
            <a:extLst>
              <a:ext uri="{FF2B5EF4-FFF2-40B4-BE49-F238E27FC236}">
                <a16:creationId xmlns:a16="http://schemas.microsoft.com/office/drawing/2014/main" id="{54CFDBF7-3110-2353-32DE-E9E1FECBA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5" y="1614119"/>
            <a:ext cx="2420779" cy="52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s://upload-images.jianshu.io/upload_images/1234352-b21bf64600c4e32f.png?imageMogr2/auto-orient/">
            <a:extLst>
              <a:ext uri="{FF2B5EF4-FFF2-40B4-BE49-F238E27FC236}">
                <a16:creationId xmlns:a16="http://schemas.microsoft.com/office/drawing/2014/main" id="{CDDEC1BC-6493-65D0-233E-4FE32EF8F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318" y="1399499"/>
            <a:ext cx="5568546" cy="52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ttps://upload-images.jianshu.io/upload_images/1234352-becdcdfdefb4eab7.png?imageMogr2/auto-orient/">
            <a:extLst>
              <a:ext uri="{FF2B5EF4-FFF2-40B4-BE49-F238E27FC236}">
                <a16:creationId xmlns:a16="http://schemas.microsoft.com/office/drawing/2014/main" id="{2B15D4BC-E6D2-708C-0099-FCA9C9A59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88" y="3824114"/>
            <a:ext cx="3277961" cy="303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09F8AE4-5C96-122A-284D-9D62BCC05DB9}"/>
              </a:ext>
            </a:extLst>
          </p:cNvPr>
          <p:cNvSpPr txBox="1"/>
          <p:nvPr/>
        </p:nvSpPr>
        <p:spPr>
          <a:xfrm>
            <a:off x="5174674" y="821571"/>
            <a:ext cx="6137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Times New Roman" panose="02020603050405020304" pitchFamily="18" charset="0"/>
              </a:rPr>
              <a:t>迭代求解过程</a:t>
            </a:r>
          </a:p>
        </p:txBody>
      </p:sp>
      <p:pic>
        <p:nvPicPr>
          <p:cNvPr id="4" name="Picture 2" descr="https://upload-images.jianshu.io/upload_images/1234352-af8dd9722c762c13.png?imageMogr2/auto-orient/">
            <a:extLst>
              <a:ext uri="{FF2B5EF4-FFF2-40B4-BE49-F238E27FC236}">
                <a16:creationId xmlns:a16="http://schemas.microsoft.com/office/drawing/2014/main" id="{43181E08-FA92-2074-342A-C69FBAEAB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88" y="2695730"/>
            <a:ext cx="4011583" cy="120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88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F4BBB-D0A0-F279-477E-09977C78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优化求解</a:t>
            </a:r>
            <a:r>
              <a:rPr kumimoji="1" lang="en-US" altLang="zh-CN" dirty="0"/>
              <a:t>-</a:t>
            </a:r>
            <a:r>
              <a:rPr kumimoji="1" lang="zh-CN" altLang="en-US" dirty="0"/>
              <a:t>学习率影响</a:t>
            </a:r>
          </a:p>
        </p:txBody>
      </p:sp>
      <p:pic>
        <p:nvPicPr>
          <p:cNvPr id="3" name="Picture 2" descr="https://upload-images.jianshu.io/upload_images/1234352-ba3da0b06da97ddb.png?imageMogr2/auto-orient/">
            <a:extLst>
              <a:ext uri="{FF2B5EF4-FFF2-40B4-BE49-F238E27FC236}">
                <a16:creationId xmlns:a16="http://schemas.microsoft.com/office/drawing/2014/main" id="{A7FBDF03-51DE-73E7-A088-A9C622A99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687" y="2310431"/>
            <a:ext cx="7877175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E29136-EE5D-78F8-5D1B-B24E92BC8B13}"/>
              </a:ext>
            </a:extLst>
          </p:cNvPr>
          <p:cNvSpPr/>
          <p:nvPr/>
        </p:nvSpPr>
        <p:spPr>
          <a:xfrm>
            <a:off x="2162914" y="1417587"/>
            <a:ext cx="26928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学习率过小，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109728"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收敛速度太慢。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DF9BA4-37C9-B40A-BC04-5594AFE1AEE5}"/>
              </a:ext>
            </a:extLst>
          </p:cNvPr>
          <p:cNvSpPr/>
          <p:nvPr/>
        </p:nvSpPr>
        <p:spPr>
          <a:xfrm>
            <a:off x="6843434" y="1479435"/>
            <a:ext cx="1928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学习率过大，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109728" algn="ct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不会收敛。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00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9D43A-40E8-1A3A-F1A7-B37CD6DD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优化求解 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—— </a:t>
            </a:r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梯度下降法收敛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9D3B7C-BD33-0E68-D030-D2BBF0B4B682}"/>
              </a:ext>
            </a:extLst>
          </p:cNvPr>
          <p:cNvSpPr txBox="1">
            <a:spLocks/>
          </p:cNvSpPr>
          <p:nvPr/>
        </p:nvSpPr>
        <p:spPr>
          <a:xfrm>
            <a:off x="955964" y="2709104"/>
            <a:ext cx="8229600" cy="461665"/>
          </a:xfrm>
          <a:prstGeom prst="rect">
            <a:avLst/>
          </a:prstGeom>
        </p:spPr>
        <p:txBody>
          <a:bodyPr vert="horz">
            <a:sp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ctr">
              <a:buNone/>
            </a:pPr>
            <a:r>
              <a:rPr lang="zh-CN" altLang="en-US" sz="2400" b="1" dirty="0">
                <a:solidFill>
                  <a:srgbClr val="13548C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梯度下降法不能保证一定收敛</a:t>
            </a:r>
            <a:r>
              <a:rPr lang="zh-CN" altLang="en-US" sz="2400" b="1">
                <a:solidFill>
                  <a:srgbClr val="13548C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到全局最优值</a:t>
            </a:r>
            <a:endParaRPr lang="en-US" altLang="zh-CN" sz="2000" b="1" dirty="0">
              <a:solidFill>
                <a:srgbClr val="13548C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CC913C7C-0DD3-CD3A-D2DC-69DC27037B7D}"/>
              </a:ext>
            </a:extLst>
          </p:cNvPr>
          <p:cNvCxnSpPr/>
          <p:nvPr/>
        </p:nvCxnSpPr>
        <p:spPr>
          <a:xfrm flipV="1">
            <a:off x="1870364" y="3304446"/>
            <a:ext cx="0" cy="2475138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9FEC6C00-40E4-C57A-6724-A11192D58755}"/>
              </a:ext>
            </a:extLst>
          </p:cNvPr>
          <p:cNvCxnSpPr/>
          <p:nvPr/>
        </p:nvCxnSpPr>
        <p:spPr>
          <a:xfrm>
            <a:off x="1641764" y="5550983"/>
            <a:ext cx="38862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>
            <a:extLst>
              <a:ext uri="{FF2B5EF4-FFF2-40B4-BE49-F238E27FC236}">
                <a16:creationId xmlns:a16="http://schemas.microsoft.com/office/drawing/2014/main" id="{80CD8D7D-16CA-4F14-F039-499C52EBD3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880" y="5710513"/>
            <a:ext cx="184709" cy="208483"/>
          </a:xfrm>
          <a:prstGeom prst="rect">
            <a:avLst/>
          </a:prstGeom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EEC89082-CE49-92C3-1B5C-CB29A5ADB6E2}"/>
              </a:ext>
            </a:extLst>
          </p:cNvPr>
          <p:cNvSpPr/>
          <p:nvPr/>
        </p:nvSpPr>
        <p:spPr>
          <a:xfrm>
            <a:off x="1641764" y="3513365"/>
            <a:ext cx="3681350" cy="1778433"/>
          </a:xfrm>
          <a:custGeom>
            <a:avLst/>
            <a:gdLst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045028 w 3681350"/>
              <a:gd name="connsiteY4" fmla="*/ 1707700 h 1784229"/>
              <a:gd name="connsiteX5" fmla="*/ 1187532 w 3681350"/>
              <a:gd name="connsiteY5" fmla="*/ 1778952 h 1784229"/>
              <a:gd name="connsiteX6" fmla="*/ 1246909 w 3681350"/>
              <a:gd name="connsiteY6" fmla="*/ 1778952 h 1784229"/>
              <a:gd name="connsiteX7" fmla="*/ 1377537 w 3681350"/>
              <a:gd name="connsiteY7" fmla="*/ 1778952 h 1784229"/>
              <a:gd name="connsiteX8" fmla="*/ 1579418 w 3681350"/>
              <a:gd name="connsiteY8" fmla="*/ 1707700 h 1784229"/>
              <a:gd name="connsiteX9" fmla="*/ 1733797 w 3681350"/>
              <a:gd name="connsiteY9" fmla="*/ 1327690 h 1784229"/>
              <a:gd name="connsiteX10" fmla="*/ 1805049 w 3681350"/>
              <a:gd name="connsiteY10" fmla="*/ 971430 h 1784229"/>
              <a:gd name="connsiteX11" fmla="*/ 1911927 w 3681350"/>
              <a:gd name="connsiteY11" fmla="*/ 555794 h 1784229"/>
              <a:gd name="connsiteX12" fmla="*/ 1983179 w 3681350"/>
              <a:gd name="connsiteY12" fmla="*/ 401415 h 1784229"/>
              <a:gd name="connsiteX13" fmla="*/ 2066306 w 3681350"/>
              <a:gd name="connsiteY13" fmla="*/ 187659 h 1784229"/>
              <a:gd name="connsiteX14" fmla="*/ 2149433 w 3681350"/>
              <a:gd name="connsiteY14" fmla="*/ 92656 h 1784229"/>
              <a:gd name="connsiteX15" fmla="*/ 2244436 w 3681350"/>
              <a:gd name="connsiteY15" fmla="*/ 21404 h 1784229"/>
              <a:gd name="connsiteX16" fmla="*/ 2375065 w 3681350"/>
              <a:gd name="connsiteY16" fmla="*/ 21404 h 1784229"/>
              <a:gd name="connsiteX17" fmla="*/ 2576945 w 3681350"/>
              <a:gd name="connsiteY17" fmla="*/ 270786 h 1784229"/>
              <a:gd name="connsiteX18" fmla="*/ 2719449 w 3681350"/>
              <a:gd name="connsiteY18" fmla="*/ 1066433 h 1784229"/>
              <a:gd name="connsiteX19" fmla="*/ 2909454 w 3681350"/>
              <a:gd name="connsiteY19" fmla="*/ 1517695 h 1784229"/>
              <a:gd name="connsiteX20" fmla="*/ 3384467 w 3681350"/>
              <a:gd name="connsiteY20" fmla="*/ 1315815 h 1784229"/>
              <a:gd name="connsiteX21" fmla="*/ 3681350 w 3681350"/>
              <a:gd name="connsiteY21" fmla="*/ 508293 h 1784229"/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187532 w 3681350"/>
              <a:gd name="connsiteY4" fmla="*/ 1778952 h 1784229"/>
              <a:gd name="connsiteX5" fmla="*/ 1246909 w 3681350"/>
              <a:gd name="connsiteY5" fmla="*/ 1778952 h 1784229"/>
              <a:gd name="connsiteX6" fmla="*/ 1377537 w 3681350"/>
              <a:gd name="connsiteY6" fmla="*/ 1778952 h 1784229"/>
              <a:gd name="connsiteX7" fmla="*/ 1579418 w 3681350"/>
              <a:gd name="connsiteY7" fmla="*/ 1707700 h 1784229"/>
              <a:gd name="connsiteX8" fmla="*/ 1733797 w 3681350"/>
              <a:gd name="connsiteY8" fmla="*/ 1327690 h 1784229"/>
              <a:gd name="connsiteX9" fmla="*/ 1805049 w 3681350"/>
              <a:gd name="connsiteY9" fmla="*/ 971430 h 1784229"/>
              <a:gd name="connsiteX10" fmla="*/ 1911927 w 3681350"/>
              <a:gd name="connsiteY10" fmla="*/ 555794 h 1784229"/>
              <a:gd name="connsiteX11" fmla="*/ 1983179 w 3681350"/>
              <a:gd name="connsiteY11" fmla="*/ 401415 h 1784229"/>
              <a:gd name="connsiteX12" fmla="*/ 2066306 w 3681350"/>
              <a:gd name="connsiteY12" fmla="*/ 187659 h 1784229"/>
              <a:gd name="connsiteX13" fmla="*/ 2149433 w 3681350"/>
              <a:gd name="connsiteY13" fmla="*/ 92656 h 1784229"/>
              <a:gd name="connsiteX14" fmla="*/ 2244436 w 3681350"/>
              <a:gd name="connsiteY14" fmla="*/ 21404 h 1784229"/>
              <a:gd name="connsiteX15" fmla="*/ 2375065 w 3681350"/>
              <a:gd name="connsiteY15" fmla="*/ 21404 h 1784229"/>
              <a:gd name="connsiteX16" fmla="*/ 2576945 w 3681350"/>
              <a:gd name="connsiteY16" fmla="*/ 270786 h 1784229"/>
              <a:gd name="connsiteX17" fmla="*/ 2719449 w 3681350"/>
              <a:gd name="connsiteY17" fmla="*/ 1066433 h 1784229"/>
              <a:gd name="connsiteX18" fmla="*/ 2909454 w 3681350"/>
              <a:gd name="connsiteY18" fmla="*/ 1517695 h 1784229"/>
              <a:gd name="connsiteX19" fmla="*/ 3384467 w 3681350"/>
              <a:gd name="connsiteY19" fmla="*/ 1315815 h 1784229"/>
              <a:gd name="connsiteX20" fmla="*/ 3681350 w 3681350"/>
              <a:gd name="connsiteY20" fmla="*/ 508293 h 1784229"/>
              <a:gd name="connsiteX0" fmla="*/ 0 w 3681350"/>
              <a:gd name="connsiteY0" fmla="*/ 757675 h 1814302"/>
              <a:gd name="connsiteX1" fmla="*/ 356259 w 3681350"/>
              <a:gd name="connsiteY1" fmla="*/ 401415 h 1814302"/>
              <a:gd name="connsiteX2" fmla="*/ 688768 w 3681350"/>
              <a:gd name="connsiteY2" fmla="*/ 698298 h 1814302"/>
              <a:gd name="connsiteX3" fmla="*/ 890649 w 3681350"/>
              <a:gd name="connsiteY3" fmla="*/ 1339565 h 1814302"/>
              <a:gd name="connsiteX4" fmla="*/ 1187532 w 3681350"/>
              <a:gd name="connsiteY4" fmla="*/ 1778952 h 1814302"/>
              <a:gd name="connsiteX5" fmla="*/ 1377537 w 3681350"/>
              <a:gd name="connsiteY5" fmla="*/ 1778952 h 1814302"/>
              <a:gd name="connsiteX6" fmla="*/ 1579418 w 3681350"/>
              <a:gd name="connsiteY6" fmla="*/ 1707700 h 1814302"/>
              <a:gd name="connsiteX7" fmla="*/ 1733797 w 3681350"/>
              <a:gd name="connsiteY7" fmla="*/ 1327690 h 1814302"/>
              <a:gd name="connsiteX8" fmla="*/ 1805049 w 3681350"/>
              <a:gd name="connsiteY8" fmla="*/ 971430 h 1814302"/>
              <a:gd name="connsiteX9" fmla="*/ 1911927 w 3681350"/>
              <a:gd name="connsiteY9" fmla="*/ 555794 h 1814302"/>
              <a:gd name="connsiteX10" fmla="*/ 1983179 w 3681350"/>
              <a:gd name="connsiteY10" fmla="*/ 401415 h 1814302"/>
              <a:gd name="connsiteX11" fmla="*/ 2066306 w 3681350"/>
              <a:gd name="connsiteY11" fmla="*/ 187659 h 1814302"/>
              <a:gd name="connsiteX12" fmla="*/ 2149433 w 3681350"/>
              <a:gd name="connsiteY12" fmla="*/ 92656 h 1814302"/>
              <a:gd name="connsiteX13" fmla="*/ 2244436 w 3681350"/>
              <a:gd name="connsiteY13" fmla="*/ 21404 h 1814302"/>
              <a:gd name="connsiteX14" fmla="*/ 2375065 w 3681350"/>
              <a:gd name="connsiteY14" fmla="*/ 21404 h 1814302"/>
              <a:gd name="connsiteX15" fmla="*/ 2576945 w 3681350"/>
              <a:gd name="connsiteY15" fmla="*/ 270786 h 1814302"/>
              <a:gd name="connsiteX16" fmla="*/ 2719449 w 3681350"/>
              <a:gd name="connsiteY16" fmla="*/ 1066433 h 1814302"/>
              <a:gd name="connsiteX17" fmla="*/ 2909454 w 3681350"/>
              <a:gd name="connsiteY17" fmla="*/ 1517695 h 1814302"/>
              <a:gd name="connsiteX18" fmla="*/ 3384467 w 3681350"/>
              <a:gd name="connsiteY18" fmla="*/ 1315815 h 1814302"/>
              <a:gd name="connsiteX19" fmla="*/ 3681350 w 3681350"/>
              <a:gd name="connsiteY19" fmla="*/ 508293 h 1814302"/>
              <a:gd name="connsiteX0" fmla="*/ 0 w 3681350"/>
              <a:gd name="connsiteY0" fmla="*/ 757675 h 1804839"/>
              <a:gd name="connsiteX1" fmla="*/ 356259 w 3681350"/>
              <a:gd name="connsiteY1" fmla="*/ 401415 h 1804839"/>
              <a:gd name="connsiteX2" fmla="*/ 688768 w 3681350"/>
              <a:gd name="connsiteY2" fmla="*/ 698298 h 1804839"/>
              <a:gd name="connsiteX3" fmla="*/ 890649 w 3681350"/>
              <a:gd name="connsiteY3" fmla="*/ 1339565 h 1804839"/>
              <a:gd name="connsiteX4" fmla="*/ 1187532 w 3681350"/>
              <a:gd name="connsiteY4" fmla="*/ 1778952 h 1804839"/>
              <a:gd name="connsiteX5" fmla="*/ 1579418 w 3681350"/>
              <a:gd name="connsiteY5" fmla="*/ 1707700 h 1804839"/>
              <a:gd name="connsiteX6" fmla="*/ 1733797 w 3681350"/>
              <a:gd name="connsiteY6" fmla="*/ 1327690 h 1804839"/>
              <a:gd name="connsiteX7" fmla="*/ 1805049 w 3681350"/>
              <a:gd name="connsiteY7" fmla="*/ 971430 h 1804839"/>
              <a:gd name="connsiteX8" fmla="*/ 1911927 w 3681350"/>
              <a:gd name="connsiteY8" fmla="*/ 555794 h 1804839"/>
              <a:gd name="connsiteX9" fmla="*/ 1983179 w 3681350"/>
              <a:gd name="connsiteY9" fmla="*/ 401415 h 1804839"/>
              <a:gd name="connsiteX10" fmla="*/ 2066306 w 3681350"/>
              <a:gd name="connsiteY10" fmla="*/ 187659 h 1804839"/>
              <a:gd name="connsiteX11" fmla="*/ 2149433 w 3681350"/>
              <a:gd name="connsiteY11" fmla="*/ 92656 h 1804839"/>
              <a:gd name="connsiteX12" fmla="*/ 2244436 w 3681350"/>
              <a:gd name="connsiteY12" fmla="*/ 21404 h 1804839"/>
              <a:gd name="connsiteX13" fmla="*/ 2375065 w 3681350"/>
              <a:gd name="connsiteY13" fmla="*/ 21404 h 1804839"/>
              <a:gd name="connsiteX14" fmla="*/ 2576945 w 3681350"/>
              <a:gd name="connsiteY14" fmla="*/ 270786 h 1804839"/>
              <a:gd name="connsiteX15" fmla="*/ 2719449 w 3681350"/>
              <a:gd name="connsiteY15" fmla="*/ 1066433 h 1804839"/>
              <a:gd name="connsiteX16" fmla="*/ 2909454 w 3681350"/>
              <a:gd name="connsiteY16" fmla="*/ 1517695 h 1804839"/>
              <a:gd name="connsiteX17" fmla="*/ 3384467 w 3681350"/>
              <a:gd name="connsiteY17" fmla="*/ 1315815 h 1804839"/>
              <a:gd name="connsiteX18" fmla="*/ 3681350 w 3681350"/>
              <a:gd name="connsiteY18" fmla="*/ 508293 h 1804839"/>
              <a:gd name="connsiteX0" fmla="*/ 0 w 3681350"/>
              <a:gd name="connsiteY0" fmla="*/ 757675 h 1778952"/>
              <a:gd name="connsiteX1" fmla="*/ 356259 w 3681350"/>
              <a:gd name="connsiteY1" fmla="*/ 401415 h 1778952"/>
              <a:gd name="connsiteX2" fmla="*/ 688768 w 3681350"/>
              <a:gd name="connsiteY2" fmla="*/ 698298 h 1778952"/>
              <a:gd name="connsiteX3" fmla="*/ 890649 w 3681350"/>
              <a:gd name="connsiteY3" fmla="*/ 1339565 h 1778952"/>
              <a:gd name="connsiteX4" fmla="*/ 1187532 w 3681350"/>
              <a:gd name="connsiteY4" fmla="*/ 1778952 h 1778952"/>
              <a:gd name="connsiteX5" fmla="*/ 1733797 w 3681350"/>
              <a:gd name="connsiteY5" fmla="*/ 1327690 h 1778952"/>
              <a:gd name="connsiteX6" fmla="*/ 1805049 w 3681350"/>
              <a:gd name="connsiteY6" fmla="*/ 971430 h 1778952"/>
              <a:gd name="connsiteX7" fmla="*/ 1911927 w 3681350"/>
              <a:gd name="connsiteY7" fmla="*/ 555794 h 1778952"/>
              <a:gd name="connsiteX8" fmla="*/ 1983179 w 3681350"/>
              <a:gd name="connsiteY8" fmla="*/ 401415 h 1778952"/>
              <a:gd name="connsiteX9" fmla="*/ 2066306 w 3681350"/>
              <a:gd name="connsiteY9" fmla="*/ 187659 h 1778952"/>
              <a:gd name="connsiteX10" fmla="*/ 2149433 w 3681350"/>
              <a:gd name="connsiteY10" fmla="*/ 92656 h 1778952"/>
              <a:gd name="connsiteX11" fmla="*/ 2244436 w 3681350"/>
              <a:gd name="connsiteY11" fmla="*/ 21404 h 1778952"/>
              <a:gd name="connsiteX12" fmla="*/ 2375065 w 3681350"/>
              <a:gd name="connsiteY12" fmla="*/ 21404 h 1778952"/>
              <a:gd name="connsiteX13" fmla="*/ 2576945 w 3681350"/>
              <a:gd name="connsiteY13" fmla="*/ 270786 h 1778952"/>
              <a:gd name="connsiteX14" fmla="*/ 2719449 w 3681350"/>
              <a:gd name="connsiteY14" fmla="*/ 1066433 h 1778952"/>
              <a:gd name="connsiteX15" fmla="*/ 2909454 w 3681350"/>
              <a:gd name="connsiteY15" fmla="*/ 1517695 h 1778952"/>
              <a:gd name="connsiteX16" fmla="*/ 3384467 w 3681350"/>
              <a:gd name="connsiteY16" fmla="*/ 1315815 h 1778952"/>
              <a:gd name="connsiteX17" fmla="*/ 3681350 w 3681350"/>
              <a:gd name="connsiteY17" fmla="*/ 508293 h 177895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33612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2066306 w 3681350"/>
              <a:gd name="connsiteY8" fmla="*/ 187659 h 1790382"/>
              <a:gd name="connsiteX9" fmla="*/ 2149433 w 3681350"/>
              <a:gd name="connsiteY9" fmla="*/ 92656 h 1790382"/>
              <a:gd name="connsiteX10" fmla="*/ 2244436 w 3681350"/>
              <a:gd name="connsiteY10" fmla="*/ 21404 h 1790382"/>
              <a:gd name="connsiteX11" fmla="*/ 2375065 w 3681350"/>
              <a:gd name="connsiteY11" fmla="*/ 21404 h 1790382"/>
              <a:gd name="connsiteX12" fmla="*/ 2576945 w 3681350"/>
              <a:gd name="connsiteY12" fmla="*/ 270786 h 1790382"/>
              <a:gd name="connsiteX13" fmla="*/ 2719449 w 3681350"/>
              <a:gd name="connsiteY13" fmla="*/ 1066433 h 1790382"/>
              <a:gd name="connsiteX14" fmla="*/ 2909454 w 3681350"/>
              <a:gd name="connsiteY14" fmla="*/ 1517695 h 1790382"/>
              <a:gd name="connsiteX15" fmla="*/ 3384467 w 3681350"/>
              <a:gd name="connsiteY15" fmla="*/ 1315815 h 1790382"/>
              <a:gd name="connsiteX16" fmla="*/ 3681350 w 3681350"/>
              <a:gd name="connsiteY16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73629 w 3681350"/>
              <a:gd name="connsiteY6" fmla="*/ 83427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2066306 w 3681350"/>
              <a:gd name="connsiteY6" fmla="*/ 187659 h 1790382"/>
              <a:gd name="connsiteX7" fmla="*/ 2149433 w 3681350"/>
              <a:gd name="connsiteY7" fmla="*/ 92656 h 1790382"/>
              <a:gd name="connsiteX8" fmla="*/ 2244436 w 3681350"/>
              <a:gd name="connsiteY8" fmla="*/ 21404 h 1790382"/>
              <a:gd name="connsiteX9" fmla="*/ 2375065 w 3681350"/>
              <a:gd name="connsiteY9" fmla="*/ 21404 h 1790382"/>
              <a:gd name="connsiteX10" fmla="*/ 2576945 w 3681350"/>
              <a:gd name="connsiteY10" fmla="*/ 270786 h 1790382"/>
              <a:gd name="connsiteX11" fmla="*/ 2719449 w 3681350"/>
              <a:gd name="connsiteY11" fmla="*/ 1066433 h 1790382"/>
              <a:gd name="connsiteX12" fmla="*/ 2909454 w 3681350"/>
              <a:gd name="connsiteY12" fmla="*/ 1517695 h 1790382"/>
              <a:gd name="connsiteX13" fmla="*/ 3384467 w 3681350"/>
              <a:gd name="connsiteY13" fmla="*/ 1315815 h 1790382"/>
              <a:gd name="connsiteX14" fmla="*/ 3681350 w 3681350"/>
              <a:gd name="connsiteY14" fmla="*/ 508293 h 1790382"/>
              <a:gd name="connsiteX0" fmla="*/ 0 w 3681350"/>
              <a:gd name="connsiteY0" fmla="*/ 762503 h 1795210"/>
              <a:gd name="connsiteX1" fmla="*/ 356259 w 3681350"/>
              <a:gd name="connsiteY1" fmla="*/ 406243 h 1795210"/>
              <a:gd name="connsiteX2" fmla="*/ 688768 w 3681350"/>
              <a:gd name="connsiteY2" fmla="*/ 703126 h 1795210"/>
              <a:gd name="connsiteX3" fmla="*/ 890649 w 3681350"/>
              <a:gd name="connsiteY3" fmla="*/ 1344393 h 1795210"/>
              <a:gd name="connsiteX4" fmla="*/ 1278972 w 3681350"/>
              <a:gd name="connsiteY4" fmla="*/ 1795210 h 1795210"/>
              <a:gd name="connsiteX5" fmla="*/ 1733797 w 3681350"/>
              <a:gd name="connsiteY5" fmla="*/ 1332518 h 1795210"/>
              <a:gd name="connsiteX6" fmla="*/ 2066306 w 3681350"/>
              <a:gd name="connsiteY6" fmla="*/ 192487 h 1795210"/>
              <a:gd name="connsiteX7" fmla="*/ 2244436 w 3681350"/>
              <a:gd name="connsiteY7" fmla="*/ 26232 h 1795210"/>
              <a:gd name="connsiteX8" fmla="*/ 2375065 w 3681350"/>
              <a:gd name="connsiteY8" fmla="*/ 26232 h 1795210"/>
              <a:gd name="connsiteX9" fmla="*/ 2576945 w 3681350"/>
              <a:gd name="connsiteY9" fmla="*/ 275614 h 1795210"/>
              <a:gd name="connsiteX10" fmla="*/ 2719449 w 3681350"/>
              <a:gd name="connsiteY10" fmla="*/ 1071261 h 1795210"/>
              <a:gd name="connsiteX11" fmla="*/ 2909454 w 3681350"/>
              <a:gd name="connsiteY11" fmla="*/ 1522523 h 1795210"/>
              <a:gd name="connsiteX12" fmla="*/ 3384467 w 3681350"/>
              <a:gd name="connsiteY12" fmla="*/ 1320643 h 1795210"/>
              <a:gd name="connsiteX13" fmla="*/ 3681350 w 3681350"/>
              <a:gd name="connsiteY13" fmla="*/ 513121 h 1795210"/>
              <a:gd name="connsiteX0" fmla="*/ 0 w 3681350"/>
              <a:gd name="connsiteY0" fmla="*/ 842948 h 1875655"/>
              <a:gd name="connsiteX1" fmla="*/ 356259 w 3681350"/>
              <a:gd name="connsiteY1" fmla="*/ 486688 h 1875655"/>
              <a:gd name="connsiteX2" fmla="*/ 688768 w 3681350"/>
              <a:gd name="connsiteY2" fmla="*/ 783571 h 1875655"/>
              <a:gd name="connsiteX3" fmla="*/ 890649 w 3681350"/>
              <a:gd name="connsiteY3" fmla="*/ 1424838 h 1875655"/>
              <a:gd name="connsiteX4" fmla="*/ 1278972 w 3681350"/>
              <a:gd name="connsiteY4" fmla="*/ 1875655 h 1875655"/>
              <a:gd name="connsiteX5" fmla="*/ 1733797 w 3681350"/>
              <a:gd name="connsiteY5" fmla="*/ 1412963 h 1875655"/>
              <a:gd name="connsiteX6" fmla="*/ 2244436 w 3681350"/>
              <a:gd name="connsiteY6" fmla="*/ 106677 h 1875655"/>
              <a:gd name="connsiteX7" fmla="*/ 2375065 w 3681350"/>
              <a:gd name="connsiteY7" fmla="*/ 106677 h 1875655"/>
              <a:gd name="connsiteX8" fmla="*/ 2576945 w 3681350"/>
              <a:gd name="connsiteY8" fmla="*/ 356059 h 1875655"/>
              <a:gd name="connsiteX9" fmla="*/ 2719449 w 3681350"/>
              <a:gd name="connsiteY9" fmla="*/ 1151706 h 1875655"/>
              <a:gd name="connsiteX10" fmla="*/ 2909454 w 3681350"/>
              <a:gd name="connsiteY10" fmla="*/ 1602968 h 1875655"/>
              <a:gd name="connsiteX11" fmla="*/ 3384467 w 3681350"/>
              <a:gd name="connsiteY11" fmla="*/ 1401088 h 1875655"/>
              <a:gd name="connsiteX12" fmla="*/ 3681350 w 3681350"/>
              <a:gd name="connsiteY12" fmla="*/ 593566 h 1875655"/>
              <a:gd name="connsiteX0" fmla="*/ 0 w 3681350"/>
              <a:gd name="connsiteY0" fmla="*/ 796203 h 1828910"/>
              <a:gd name="connsiteX1" fmla="*/ 356259 w 3681350"/>
              <a:gd name="connsiteY1" fmla="*/ 439943 h 1828910"/>
              <a:gd name="connsiteX2" fmla="*/ 688768 w 3681350"/>
              <a:gd name="connsiteY2" fmla="*/ 736826 h 1828910"/>
              <a:gd name="connsiteX3" fmla="*/ 890649 w 3681350"/>
              <a:gd name="connsiteY3" fmla="*/ 1378093 h 1828910"/>
              <a:gd name="connsiteX4" fmla="*/ 1278972 w 3681350"/>
              <a:gd name="connsiteY4" fmla="*/ 1828910 h 1828910"/>
              <a:gd name="connsiteX5" fmla="*/ 1733797 w 3681350"/>
              <a:gd name="connsiteY5" fmla="*/ 1366218 h 1828910"/>
              <a:gd name="connsiteX6" fmla="*/ 2375065 w 3681350"/>
              <a:gd name="connsiteY6" fmla="*/ 59932 h 1828910"/>
              <a:gd name="connsiteX7" fmla="*/ 2576945 w 3681350"/>
              <a:gd name="connsiteY7" fmla="*/ 309314 h 1828910"/>
              <a:gd name="connsiteX8" fmla="*/ 2719449 w 3681350"/>
              <a:gd name="connsiteY8" fmla="*/ 1104961 h 1828910"/>
              <a:gd name="connsiteX9" fmla="*/ 2909454 w 3681350"/>
              <a:gd name="connsiteY9" fmla="*/ 1556223 h 1828910"/>
              <a:gd name="connsiteX10" fmla="*/ 3384467 w 3681350"/>
              <a:gd name="connsiteY10" fmla="*/ 1354343 h 1828910"/>
              <a:gd name="connsiteX11" fmla="*/ 3681350 w 3681350"/>
              <a:gd name="connsiteY11" fmla="*/ 546821 h 1828910"/>
              <a:gd name="connsiteX0" fmla="*/ 0 w 3681350"/>
              <a:gd name="connsiteY0" fmla="*/ 772905 h 1805612"/>
              <a:gd name="connsiteX1" fmla="*/ 356259 w 3681350"/>
              <a:gd name="connsiteY1" fmla="*/ 416645 h 1805612"/>
              <a:gd name="connsiteX2" fmla="*/ 688768 w 3681350"/>
              <a:gd name="connsiteY2" fmla="*/ 713528 h 1805612"/>
              <a:gd name="connsiteX3" fmla="*/ 890649 w 3681350"/>
              <a:gd name="connsiteY3" fmla="*/ 1354795 h 1805612"/>
              <a:gd name="connsiteX4" fmla="*/ 1278972 w 3681350"/>
              <a:gd name="connsiteY4" fmla="*/ 1805612 h 1805612"/>
              <a:gd name="connsiteX5" fmla="*/ 1733797 w 3681350"/>
              <a:gd name="connsiteY5" fmla="*/ 1342920 h 1805612"/>
              <a:gd name="connsiteX6" fmla="*/ 2375065 w 3681350"/>
              <a:gd name="connsiteY6" fmla="*/ 36634 h 1805612"/>
              <a:gd name="connsiteX7" fmla="*/ 2576945 w 3681350"/>
              <a:gd name="connsiteY7" fmla="*/ 286016 h 1805612"/>
              <a:gd name="connsiteX8" fmla="*/ 2719449 w 3681350"/>
              <a:gd name="connsiteY8" fmla="*/ 1081663 h 1805612"/>
              <a:gd name="connsiteX9" fmla="*/ 2909454 w 3681350"/>
              <a:gd name="connsiteY9" fmla="*/ 1532925 h 1805612"/>
              <a:gd name="connsiteX10" fmla="*/ 3384467 w 3681350"/>
              <a:gd name="connsiteY10" fmla="*/ 1331045 h 1805612"/>
              <a:gd name="connsiteX11" fmla="*/ 3681350 w 3681350"/>
              <a:gd name="connsiteY11" fmla="*/ 523523 h 1805612"/>
              <a:gd name="connsiteX0" fmla="*/ 0 w 3681350"/>
              <a:gd name="connsiteY0" fmla="*/ 736509 h 1769216"/>
              <a:gd name="connsiteX1" fmla="*/ 356259 w 3681350"/>
              <a:gd name="connsiteY1" fmla="*/ 380249 h 1769216"/>
              <a:gd name="connsiteX2" fmla="*/ 688768 w 3681350"/>
              <a:gd name="connsiteY2" fmla="*/ 677132 h 1769216"/>
              <a:gd name="connsiteX3" fmla="*/ 890649 w 3681350"/>
              <a:gd name="connsiteY3" fmla="*/ 1318399 h 1769216"/>
              <a:gd name="connsiteX4" fmla="*/ 1278972 w 3681350"/>
              <a:gd name="connsiteY4" fmla="*/ 1769216 h 1769216"/>
              <a:gd name="connsiteX5" fmla="*/ 1733797 w 3681350"/>
              <a:gd name="connsiteY5" fmla="*/ 1306524 h 1769216"/>
              <a:gd name="connsiteX6" fmla="*/ 2375065 w 3681350"/>
              <a:gd name="connsiteY6" fmla="*/ 238 h 1769216"/>
              <a:gd name="connsiteX7" fmla="*/ 2576945 w 3681350"/>
              <a:gd name="connsiteY7" fmla="*/ 249620 h 1769216"/>
              <a:gd name="connsiteX8" fmla="*/ 2719449 w 3681350"/>
              <a:gd name="connsiteY8" fmla="*/ 1045267 h 1769216"/>
              <a:gd name="connsiteX9" fmla="*/ 2909454 w 3681350"/>
              <a:gd name="connsiteY9" fmla="*/ 1496529 h 1769216"/>
              <a:gd name="connsiteX10" fmla="*/ 3384467 w 3681350"/>
              <a:gd name="connsiteY10" fmla="*/ 1294649 h 1769216"/>
              <a:gd name="connsiteX11" fmla="*/ 3681350 w 3681350"/>
              <a:gd name="connsiteY11" fmla="*/ 487127 h 1769216"/>
              <a:gd name="connsiteX0" fmla="*/ 0 w 3681350"/>
              <a:gd name="connsiteY0" fmla="*/ 737904 h 1770611"/>
              <a:gd name="connsiteX1" fmla="*/ 356259 w 3681350"/>
              <a:gd name="connsiteY1" fmla="*/ 381644 h 1770611"/>
              <a:gd name="connsiteX2" fmla="*/ 688768 w 3681350"/>
              <a:gd name="connsiteY2" fmla="*/ 678527 h 1770611"/>
              <a:gd name="connsiteX3" fmla="*/ 890649 w 3681350"/>
              <a:gd name="connsiteY3" fmla="*/ 1319794 h 1770611"/>
              <a:gd name="connsiteX4" fmla="*/ 1278972 w 3681350"/>
              <a:gd name="connsiteY4" fmla="*/ 1770611 h 1770611"/>
              <a:gd name="connsiteX5" fmla="*/ 1733797 w 3681350"/>
              <a:gd name="connsiteY5" fmla="*/ 1307919 h 1770611"/>
              <a:gd name="connsiteX6" fmla="*/ 2375065 w 3681350"/>
              <a:gd name="connsiteY6" fmla="*/ 1633 h 1770611"/>
              <a:gd name="connsiteX7" fmla="*/ 2719449 w 3681350"/>
              <a:gd name="connsiteY7" fmla="*/ 1046662 h 1770611"/>
              <a:gd name="connsiteX8" fmla="*/ 2909454 w 3681350"/>
              <a:gd name="connsiteY8" fmla="*/ 1497924 h 1770611"/>
              <a:gd name="connsiteX9" fmla="*/ 3384467 w 3681350"/>
              <a:gd name="connsiteY9" fmla="*/ 1296044 h 1770611"/>
              <a:gd name="connsiteX10" fmla="*/ 3681350 w 3681350"/>
              <a:gd name="connsiteY10" fmla="*/ 488522 h 1770611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46138 h 1778845"/>
              <a:gd name="connsiteX1" fmla="*/ 356259 w 3681350"/>
              <a:gd name="connsiteY1" fmla="*/ 389878 h 1778845"/>
              <a:gd name="connsiteX2" fmla="*/ 688768 w 3681350"/>
              <a:gd name="connsiteY2" fmla="*/ 686761 h 1778845"/>
              <a:gd name="connsiteX3" fmla="*/ 890649 w 3681350"/>
              <a:gd name="connsiteY3" fmla="*/ 1328028 h 1778845"/>
              <a:gd name="connsiteX4" fmla="*/ 1278972 w 3681350"/>
              <a:gd name="connsiteY4" fmla="*/ 1778845 h 1778845"/>
              <a:gd name="connsiteX5" fmla="*/ 1733797 w 3681350"/>
              <a:gd name="connsiteY5" fmla="*/ 1316153 h 1778845"/>
              <a:gd name="connsiteX6" fmla="*/ 2375065 w 3681350"/>
              <a:gd name="connsiteY6" fmla="*/ 9867 h 1778845"/>
              <a:gd name="connsiteX7" fmla="*/ 2662299 w 3681350"/>
              <a:gd name="connsiteY7" fmla="*/ 757716 h 1778845"/>
              <a:gd name="connsiteX8" fmla="*/ 3000894 w 3681350"/>
              <a:gd name="connsiteY8" fmla="*/ 1517588 h 1778845"/>
              <a:gd name="connsiteX9" fmla="*/ 3384467 w 3681350"/>
              <a:gd name="connsiteY9" fmla="*/ 1304278 h 1778845"/>
              <a:gd name="connsiteX10" fmla="*/ 3681350 w 3681350"/>
              <a:gd name="connsiteY10" fmla="*/ 496756 h 1778845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90649 w 3681350"/>
              <a:gd name="connsiteY2" fmla="*/ 132761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350" h="1778433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ln w="38100">
            <a:solidFill>
              <a:srgbClr val="1354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9BFEE322-2A4B-23C3-DC3D-E69AEC9E0566}"/>
              </a:ext>
            </a:extLst>
          </p:cNvPr>
          <p:cNvSpPr txBox="1"/>
          <p:nvPr/>
        </p:nvSpPr>
        <p:spPr>
          <a:xfrm>
            <a:off x="5861464" y="5252101"/>
            <a:ext cx="17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at local optima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106894ED-32D6-0462-F717-4A7E9240E34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487" y="5345133"/>
            <a:ext cx="199226" cy="224869"/>
          </a:xfrm>
          <a:prstGeom prst="rect">
            <a:avLst/>
          </a:prstGeom>
        </p:spPr>
      </p:pic>
      <p:cxnSp>
        <p:nvCxnSpPr>
          <p:cNvPr id="10" name="Straight Arrow Connector 17">
            <a:extLst>
              <a:ext uri="{FF2B5EF4-FFF2-40B4-BE49-F238E27FC236}">
                <a16:creationId xmlns:a16="http://schemas.microsoft.com/office/drawing/2014/main" id="{AFA75118-B3B3-3DDC-CD98-F30BE25E2C81}"/>
              </a:ext>
            </a:extLst>
          </p:cNvPr>
          <p:cNvCxnSpPr/>
          <p:nvPr/>
        </p:nvCxnSpPr>
        <p:spPr>
          <a:xfrm flipH="1" flipV="1">
            <a:off x="4689764" y="5112788"/>
            <a:ext cx="838200" cy="23234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52B1A50E-62A7-CBE9-2783-001001030C0D}"/>
              </a:ext>
            </a:extLst>
          </p:cNvPr>
          <p:cNvCxnSpPr/>
          <p:nvPr/>
        </p:nvCxnSpPr>
        <p:spPr>
          <a:xfrm>
            <a:off x="4609284" y="5469031"/>
            <a:ext cx="1" cy="185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49">
            <a:extLst>
              <a:ext uri="{FF2B5EF4-FFF2-40B4-BE49-F238E27FC236}">
                <a16:creationId xmlns:a16="http://schemas.microsoft.com/office/drawing/2014/main" id="{44C7AF3E-5DC9-31BA-E7CF-1F682594D3B9}"/>
              </a:ext>
            </a:extLst>
          </p:cNvPr>
          <p:cNvSpPr txBox="1"/>
          <p:nvPr/>
        </p:nvSpPr>
        <p:spPr>
          <a:xfrm>
            <a:off x="1254340" y="6090301"/>
            <a:ext cx="1922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Current value of 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D0FD8446-635C-2E02-DF6B-773DEA3EB2E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231" y="6182413"/>
            <a:ext cx="199226" cy="224869"/>
          </a:xfrm>
          <a:prstGeom prst="rect">
            <a:avLst/>
          </a:prstGeom>
        </p:spPr>
      </p:pic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9D3F4990-1DD8-402C-2DF4-E567A0CB330A}"/>
              </a:ext>
            </a:extLst>
          </p:cNvPr>
          <p:cNvCxnSpPr/>
          <p:nvPr/>
        </p:nvCxnSpPr>
        <p:spPr>
          <a:xfrm flipV="1">
            <a:off x="2937164" y="5654771"/>
            <a:ext cx="1524000" cy="43553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90555985-399A-C5AF-B871-792C6B92A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133" y="1105100"/>
            <a:ext cx="4627262" cy="1386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9">
            <a:extLst>
              <a:ext uri="{FF2B5EF4-FFF2-40B4-BE49-F238E27FC236}">
                <a16:creationId xmlns:a16="http://schemas.microsoft.com/office/drawing/2014/main" id="{838B434C-9517-490B-D944-5D7FD55657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190" y="5959681"/>
            <a:ext cx="3276599" cy="78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3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C2B8-79C0-2DF4-31F5-006026E7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优化求解 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—— </a:t>
            </a:r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变种梯度下降法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1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D0C1B-0D22-A32D-A046-27123150E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022" y="3388534"/>
            <a:ext cx="4471892" cy="3091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6345D-DD14-EE6F-8EB6-57F04120F5D1}"/>
              </a:ext>
            </a:extLst>
          </p:cNvPr>
          <p:cNvSpPr txBox="1"/>
          <p:nvPr/>
        </p:nvSpPr>
        <p:spPr>
          <a:xfrm>
            <a:off x="7893108" y="4934060"/>
            <a:ext cx="1800199" cy="707886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0004"/>
              <a:gd name="adj6" fmla="val -1682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学习率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随梯度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大小调整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680D9DF-9DDC-0B3E-5ADC-E5AC8B63BD90}"/>
              </a:ext>
            </a:extLst>
          </p:cNvPr>
          <p:cNvSpPr txBox="1">
            <a:spLocks/>
          </p:cNvSpPr>
          <p:nvPr/>
        </p:nvSpPr>
        <p:spPr>
          <a:xfrm>
            <a:off x="1330036" y="2709104"/>
            <a:ext cx="8229600" cy="461665"/>
          </a:xfrm>
          <a:prstGeom prst="rect">
            <a:avLst/>
          </a:prstGeom>
        </p:spPr>
        <p:txBody>
          <a:bodyPr vert="horz">
            <a:sp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 algn="ctr">
              <a:buNone/>
            </a:pPr>
            <a:r>
              <a:rPr lang="zh-CN" altLang="en-US" sz="2400" b="1">
                <a:solidFill>
                  <a:srgbClr val="13548C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自动调整学习率的梯度下降法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8C44BD9-54A0-6F56-CFFA-98C22B70B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05" y="1105100"/>
            <a:ext cx="4627262" cy="1386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A913F70A-3AA1-DDE9-0AB8-5E5441E92D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262" y="5959681"/>
            <a:ext cx="3276599" cy="78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5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1AC46-5271-11F5-13DA-71997E60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优化求解 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—— </a:t>
            </a:r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变种梯度下降法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BC046C-2B24-AC1E-37BD-73D2C2071D52}"/>
              </a:ext>
            </a:extLst>
          </p:cNvPr>
          <p:cNvSpPr txBox="1">
            <a:spLocks/>
          </p:cNvSpPr>
          <p:nvPr/>
        </p:nvSpPr>
        <p:spPr>
          <a:xfrm>
            <a:off x="507000" y="1405070"/>
            <a:ext cx="11178000" cy="21513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360000" indent="-360000" algn="just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80000"/>
              <a:buFont typeface="Wingdings" panose="05000000000000000000" pitchFamily="2" charset="2"/>
              <a:buChar char="l"/>
              <a:defRPr sz="2400">
                <a:cs typeface="+mn-ea"/>
              </a:defRPr>
            </a:lvl1pPr>
            <a:lvl2pPr marL="685800" lvl="1" indent="-228600">
              <a:lnSpc>
                <a:spcPct val="130000"/>
              </a:lnSpc>
              <a:spcBef>
                <a:spcPts val="600"/>
              </a:spcBef>
              <a:buClr>
                <a:srgbClr val="FF6600"/>
              </a:buClr>
              <a:buSzPct val="60000"/>
              <a:buFont typeface="Wingdings" panose="05000000000000000000" pitchFamily="2" charset="2"/>
              <a:buChar char="l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  <a:extLst/>
          </a:lstStyle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ym typeface="Times New Roman" panose="02020603050405020304" pitchFamily="18" charset="0"/>
              </a:rPr>
              <a:t>批量梯度下降法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Batch Gradient Descent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BGD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dirty="0">
              <a:sym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从梯度下降算法的处理过程，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可知梯度下降法在每次计算梯度时，都涉及全部样本</a:t>
            </a:r>
            <a:r>
              <a:rPr lang="zh-CN" altLang="en-US" sz="22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在样本数量特别大时，算法的效率会很低</a:t>
            </a:r>
            <a:endParaRPr lang="en-US" altLang="zh-CN" sz="2200" dirty="0">
              <a:sym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200" dirty="0">
              <a:sym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200" dirty="0">
              <a:sym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158E1F-DC9B-FB5F-26D0-FAC97506B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552" y="2920727"/>
            <a:ext cx="6361064" cy="1476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7C4ACDA-6356-A59C-9B53-59BC9C8DDF46}"/>
                  </a:ext>
                </a:extLst>
              </p:cNvPr>
              <p:cNvSpPr/>
              <p:nvPr/>
            </p:nvSpPr>
            <p:spPr>
              <a:xfrm>
                <a:off x="2424552" y="4752449"/>
                <a:ext cx="6758044" cy="1400961"/>
              </a:xfrm>
              <a:prstGeom prst="rect">
                <a:avLst/>
              </a:prstGeom>
              <a:solidFill>
                <a:schemeClr val="accent2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1600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16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6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zh-CN" altLang="en-US" sz="1600" b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zh-CN" altLang="en-US" sz="16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6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600" dirty="0">
                  <a:ea typeface="华文细黑" panose="0201060004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1600" i="1" smtClean="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∇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zh-CN" altLang="en-US" sz="1600" b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𝜽</m:t>
                                    </m:r>
                                  </m:sub>
                                </m:s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16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7C4ACDA-6356-A59C-9B53-59BC9C8D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552" y="4752449"/>
                <a:ext cx="6758044" cy="1400961"/>
              </a:xfrm>
              <a:prstGeom prst="rect">
                <a:avLst/>
              </a:prstGeom>
              <a:blipFill>
                <a:blip r:embed="rId3"/>
                <a:stretch>
                  <a:fillRect l="-373" t="-32456" b="-5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56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1AC46-5271-11F5-13DA-71997E60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优化求解 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—— </a:t>
            </a:r>
            <a:r>
              <a:rPr lang="zh-CN" altLang="en-US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变种梯度下降法</a:t>
            </a:r>
            <a:r>
              <a:rPr lang="en-US" altLang="zh-CN" sz="4400" spc="5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3588A1-6C59-31CB-D354-8E8079FEA548}"/>
              </a:ext>
            </a:extLst>
          </p:cNvPr>
          <p:cNvSpPr txBox="1"/>
          <p:nvPr/>
        </p:nvSpPr>
        <p:spPr>
          <a:xfrm>
            <a:off x="1102745" y="901738"/>
            <a:ext cx="10701327" cy="163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cs typeface="+mn-ea"/>
                <a:sym typeface="Times New Roman" panose="02020603050405020304" pitchFamily="18" charset="0"/>
              </a:rPr>
              <a:t>随机梯度下降法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Stochastic Gradient Descent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SGD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 </a:t>
            </a:r>
            <a:endParaRPr lang="en-US" altLang="zh-CN" sz="24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cs typeface="+mn-ea"/>
                <a:sym typeface="Times New Roman" panose="02020603050405020304" pitchFamily="18" charset="0"/>
              </a:rPr>
              <a:t>（一个数据更新</a:t>
            </a:r>
            <a:r>
              <a:rPr lang="en-US" altLang="zh-CN" sz="2400" b="1" dirty="0">
                <a:cs typeface="+mn-ea"/>
                <a:sym typeface="Times New Roman" panose="02020603050405020304" pitchFamily="18" charset="0"/>
              </a:rPr>
              <a:t>1</a:t>
            </a:r>
            <a:r>
              <a:rPr lang="zh-CN" altLang="en-US" sz="2400" b="1" dirty="0">
                <a:cs typeface="+mn-ea"/>
                <a:sym typeface="Times New Roman" panose="02020603050405020304" pitchFamily="18" charset="0"/>
              </a:rPr>
              <a:t>次权值）</a:t>
            </a:r>
            <a:endParaRPr lang="en-US" altLang="zh-CN" sz="2400" b="1" dirty="0">
              <a:cs typeface="+mn-ea"/>
              <a:sym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ym typeface="Times New Roman" panose="02020603050405020304" pitchFamily="18" charset="0"/>
              </a:rPr>
              <a:t>优点：每一轮参数更新快</a:t>
            </a:r>
            <a:endParaRPr lang="en-US" altLang="zh-CN" sz="2200" dirty="0">
              <a:sym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ym typeface="Times New Roman" panose="02020603050405020304" pitchFamily="18" charset="0"/>
              </a:rPr>
              <a:t>缺点：准确度下降、可能会收敛到局部最优、不易于并行</a:t>
            </a:r>
            <a:endParaRPr lang="en-US" altLang="zh-CN" sz="2200" dirty="0">
              <a:sym typeface="Times New Roman" panose="02020603050405020304" pitchFamily="18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85C9589-818F-C0DF-208E-AF86B784D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892" y="2533660"/>
            <a:ext cx="5167722" cy="1834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FA1C3B-9F23-CC9F-F3FF-030DC252707E}"/>
              </a:ext>
            </a:extLst>
          </p:cNvPr>
          <p:cNvSpPr txBox="1"/>
          <p:nvPr/>
        </p:nvSpPr>
        <p:spPr>
          <a:xfrm>
            <a:off x="1102745" y="4434078"/>
            <a:ext cx="8373764" cy="1688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小批量梯度下降法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Mini-batch Gradient Descent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）是一个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折中办法，每次在计算梯度时，选择小批量样本进行计算</a:t>
            </a:r>
            <a:r>
              <a:rPr lang="zh-CN" altLang="en-US" sz="24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，既考虑了效率问题，又考虑了收敛问题。</a:t>
            </a:r>
          </a:p>
        </p:txBody>
      </p:sp>
    </p:spTree>
    <p:extLst>
      <p:ext uri="{BB962C8B-B14F-4D97-AF65-F5344CB8AC3E}">
        <p14:creationId xmlns:p14="http://schemas.microsoft.com/office/powerpoint/2010/main" val="145124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4C92D-AF57-6F4E-48AE-254AFC6C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1115950" cy="570979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多元线性回归，最小化目标函数求参数方法对比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AAC5D19-DDCE-6EA8-9A19-257C5AF57A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8861354"/>
                  </p:ext>
                </p:extLst>
              </p:nvPr>
            </p:nvGraphicFramePr>
            <p:xfrm>
              <a:off x="1519381" y="1814946"/>
              <a:ext cx="8552874" cy="2746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76437">
                      <a:extLst>
                        <a:ext uri="{9D8B030D-6E8A-4147-A177-3AD203B41FA5}">
                          <a16:colId xmlns:a16="http://schemas.microsoft.com/office/drawing/2014/main" val="2312312668"/>
                        </a:ext>
                      </a:extLst>
                    </a:gridCol>
                    <a:gridCol w="4276437">
                      <a:extLst>
                        <a:ext uri="{9D8B030D-6E8A-4147-A177-3AD203B41FA5}">
                          <a16:colId xmlns:a16="http://schemas.microsoft.com/office/drawing/2014/main" val="111244543"/>
                        </a:ext>
                      </a:extLst>
                    </a:gridCol>
                  </a:tblGrid>
                  <a:tr h="623454">
                    <a:tc>
                      <a:txBody>
                        <a:bodyPr/>
                        <a:lstStyle/>
                        <a:p>
                          <a:r>
                            <a:rPr lang="zh-CN" altLang="en-US" sz="2400" dirty="0"/>
                            <a:t>梯度下降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400" dirty="0"/>
                            <a:t>正规方程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6587416"/>
                      </a:ext>
                    </a:extLst>
                  </a:tr>
                  <a:tr h="554182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需要选择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需要选择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7548508"/>
                      </a:ext>
                    </a:extLst>
                  </a:tr>
                  <a:tr h="526473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需要迭代多轮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不需要迭代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142343"/>
                      </a:ext>
                    </a:extLst>
                  </a:tr>
                  <a:tr h="1042555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当</a:t>
                          </a:r>
                          <a:r>
                            <a:rPr lang="en-US" altLang="zh-CN" dirty="0"/>
                            <a:t>n</a:t>
                          </a:r>
                          <a:r>
                            <a:rPr lang="zh-CN" altLang="en-US" dirty="0"/>
                            <a:t>很大时，效果很好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需要计算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dirty="0"/>
                            <a:t>，计算代价为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当你很大时，效率变慢</a:t>
                          </a:r>
                          <a:endParaRPr lang="en-US" altLang="zh-CN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通常，当</a:t>
                          </a:r>
                          <a:r>
                            <a:rPr lang="en-US" altLang="zh-CN" dirty="0"/>
                            <a:t>n&gt;10000</a:t>
                          </a:r>
                          <a:r>
                            <a:rPr lang="zh-CN" altLang="en-US" dirty="0"/>
                            <a:t>时，应用梯度下降方法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34954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AAC5D19-DDCE-6EA8-9A19-257C5AF57A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8861354"/>
                  </p:ext>
                </p:extLst>
              </p:nvPr>
            </p:nvGraphicFramePr>
            <p:xfrm>
              <a:off x="1519381" y="1814946"/>
              <a:ext cx="8552874" cy="27466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76437">
                      <a:extLst>
                        <a:ext uri="{9D8B030D-6E8A-4147-A177-3AD203B41FA5}">
                          <a16:colId xmlns:a16="http://schemas.microsoft.com/office/drawing/2014/main" val="2312312668"/>
                        </a:ext>
                      </a:extLst>
                    </a:gridCol>
                    <a:gridCol w="4276437">
                      <a:extLst>
                        <a:ext uri="{9D8B030D-6E8A-4147-A177-3AD203B41FA5}">
                          <a16:colId xmlns:a16="http://schemas.microsoft.com/office/drawing/2014/main" val="111244543"/>
                        </a:ext>
                      </a:extLst>
                    </a:gridCol>
                  </a:tblGrid>
                  <a:tr h="623454">
                    <a:tc>
                      <a:txBody>
                        <a:bodyPr/>
                        <a:lstStyle/>
                        <a:p>
                          <a:r>
                            <a:rPr lang="zh-CN" altLang="en-US" sz="2400" dirty="0"/>
                            <a:t>梯度下降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400" dirty="0"/>
                            <a:t>正规方程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6587416"/>
                      </a:ext>
                    </a:extLst>
                  </a:tr>
                  <a:tr h="55418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t="-118182" r="-100296" b="-28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297" t="-118182" r="-593" b="-28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548508"/>
                      </a:ext>
                    </a:extLst>
                  </a:tr>
                  <a:tr h="526473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需要迭代多轮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不需要迭代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142343"/>
                      </a:ext>
                    </a:extLst>
                  </a:tr>
                  <a:tr h="1042555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当</a:t>
                          </a:r>
                          <a:r>
                            <a:rPr lang="en-US" altLang="zh-CN" dirty="0"/>
                            <a:t>n</a:t>
                          </a:r>
                          <a:r>
                            <a:rPr lang="zh-CN" altLang="en-US" dirty="0"/>
                            <a:t>很大时，效果很好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297" t="-166265" r="-593" b="-1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34954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9649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420091" y="707231"/>
            <a:ext cx="935181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当训练集规模较大时，更适合采用下列哪种优化算法估计权值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批量梯度下降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随机梯度下降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FF99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152400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13548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多选题</a:t>
              </a:r>
            </a:p>
          </p:txBody>
        </p:sp>
      </p:grpSp>
      <p:sp>
        <p:nvSpPr>
          <p:cNvPr id="4" name="TextBox 7">
            <a:extLst>
              <a:ext uri="{FF2B5EF4-FFF2-40B4-BE49-F238E27FC236}">
                <a16:creationId xmlns:a16="http://schemas.microsoft.com/office/drawing/2014/main" id="{D3EAF532-3252-49D8-5F97-A45A7776445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小批量梯度下降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AC3CB42-12E6-4411-B647-22257E6280D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FF99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4A0D4AB-8755-69A2-C72D-BC258A0F943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1BBEEAA-2E7F-E1A2-4407-643B34B9A298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587046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回归分析</a:t>
            </a:r>
            <a:r>
              <a:rPr lang="en-US" altLang="zh-CN" sz="3200" b="1" dirty="0"/>
              <a:t>-</a:t>
            </a:r>
            <a:r>
              <a:rPr lang="zh-CN" altLang="en-US" sz="3200" b="1" dirty="0"/>
              <a:t>分类</a:t>
            </a:r>
            <a:endParaRPr lang="en-US" altLang="zh-CN" sz="3200" dirty="0">
              <a:sym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582" y="2925789"/>
            <a:ext cx="3594770" cy="264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88123" y="1187964"/>
                <a:ext cx="7883261" cy="5937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用一根直线将不同类别的样本分开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直线方程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矩阵形式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𝑤</m:t>
                    </m:r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/>
                      </a:rPr>
                      <m:t>x</m:t>
                    </m:r>
                    <m:r>
                      <a:rPr lang="en-US" altLang="zh-CN" sz="240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…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CN" sz="24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 dirty="0">
                        <a:latin typeface="Cambria Math"/>
                      </a:rPr>
                      <m:t>𝑥</m:t>
                    </m:r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altLang="zh-CN" sz="240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/>
                  <a:t>是训练得到的常数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/>
                  <a:t>是每个样本的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个特征</a:t>
                </a:r>
                <a:endParaRPr lang="en-US" altLang="zh-CN" sz="2400" dirty="0"/>
              </a:p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/>
                  <a:t>&gt;0 </a:t>
                </a:r>
                <a:r>
                  <a:rPr lang="zh-CN" altLang="en-US" sz="2400" dirty="0"/>
                  <a:t>则属于第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类（正类），否则属于负类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b="1" dirty="0">
                    <a:solidFill>
                      <a:srgbClr val="FF0000"/>
                    </a:solidFill>
                  </a:rPr>
                  <a:t>如何确定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w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？</a:t>
                </a:r>
                <a:endParaRPr lang="en-US" altLang="zh-CN" sz="2400" b="1" dirty="0">
                  <a:solidFill>
                    <a:srgbClr val="FF0000"/>
                  </a:solidFill>
                </a:endParaRPr>
              </a:p>
              <a:p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23" y="1187964"/>
                <a:ext cx="7883261" cy="5937459"/>
              </a:xfrm>
              <a:prstGeom prst="rect">
                <a:avLst/>
              </a:prstGeom>
              <a:blipFill>
                <a:blip r:embed="rId3"/>
                <a:stretch>
                  <a:fillRect l="-1160" t="-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02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回归分析</a:t>
            </a:r>
            <a:r>
              <a:rPr lang="en-US" altLang="zh-CN" b="1" dirty="0"/>
              <a:t>-</a:t>
            </a:r>
            <a:r>
              <a:rPr lang="zh-CN" altLang="en-US" b="1" dirty="0"/>
              <a:t>分类</a:t>
            </a:r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53646"/>
              </p:ext>
            </p:extLst>
          </p:nvPr>
        </p:nvGraphicFramePr>
        <p:xfrm>
          <a:off x="2384477" y="1149990"/>
          <a:ext cx="5198858" cy="2649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9555">
                  <a:extLst>
                    <a:ext uri="{9D8B030D-6E8A-4147-A177-3AD203B41FA5}">
                      <a16:colId xmlns:a16="http://schemas.microsoft.com/office/drawing/2014/main" val="3044455116"/>
                    </a:ext>
                  </a:extLst>
                </a:gridCol>
                <a:gridCol w="931985">
                  <a:extLst>
                    <a:ext uri="{9D8B030D-6E8A-4147-A177-3AD203B41FA5}">
                      <a16:colId xmlns:a16="http://schemas.microsoft.com/office/drawing/2014/main" val="716905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930772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85380721"/>
                    </a:ext>
                  </a:extLst>
                </a:gridCol>
                <a:gridCol w="1318518">
                  <a:extLst>
                    <a:ext uri="{9D8B030D-6E8A-4147-A177-3AD203B41FA5}">
                      <a16:colId xmlns:a16="http://schemas.microsoft.com/office/drawing/2014/main" val="3796282373"/>
                    </a:ext>
                  </a:extLst>
                </a:gridCol>
              </a:tblGrid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英雄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生命</a:t>
                      </a:r>
                      <a:r>
                        <a:rPr lang="en-US" altLang="zh-CN" sz="1800" b="1" u="none" strike="noStrike" dirty="0">
                          <a:effectLst/>
                        </a:rPr>
                        <a:t>x1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攻击</a:t>
                      </a:r>
                      <a:r>
                        <a:rPr lang="en-US" altLang="zh-CN" sz="1800" b="1" u="none" strike="noStrike" dirty="0">
                          <a:effectLst/>
                        </a:rPr>
                        <a:t>x2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法强</a:t>
                      </a:r>
                      <a:r>
                        <a:rPr lang="en-US" altLang="zh-CN" sz="1800" b="1" u="none" strike="noStrike" dirty="0">
                          <a:effectLst/>
                        </a:rPr>
                        <a:t>x3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前排</a:t>
                      </a:r>
                      <a:r>
                        <a:rPr lang="en-US" altLang="zh-CN" sz="18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1800" b="1" u="none" strike="noStrike" dirty="0">
                          <a:effectLst/>
                        </a:rPr>
                        <a:t>后排</a:t>
                      </a:r>
                      <a:r>
                        <a:rPr lang="en-US" altLang="zh-CN" sz="1800" b="1" u="none" strike="noStrike" dirty="0">
                          <a:effectLst/>
                        </a:rPr>
                        <a:t>y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63899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赫卡里姆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900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50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90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-1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6110682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李青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800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50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-1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8378845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锤石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750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60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150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4018243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瑟庄妮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650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60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8064550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娜美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600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40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90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？</a:t>
                      </a:r>
                      <a:endParaRPr lang="zh-CN" alt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97870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婕拉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600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50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120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2813393"/>
                  </a:ext>
                </a:extLst>
              </a:tr>
              <a:tr h="3312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黑默丁格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>
                          <a:effectLst/>
                        </a:rPr>
                        <a:t>500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40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100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u="none" strike="noStrike" dirty="0">
                          <a:effectLst/>
                        </a:rPr>
                        <a:t>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658601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749079" y="4319636"/>
                <a:ext cx="869384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0" dirty="0"/>
                  <a:t>预测值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：</m:t>
                    </m:r>
                    <m:acc>
                      <m:accPr>
                        <m:chr m:val="̂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CN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800" b="0" dirty="0"/>
              </a:p>
              <a:p>
                <a:r>
                  <a:rPr lang="zh-CN" altLang="en-US" sz="2800" dirty="0"/>
                  <a:t>理论值：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altLang="zh-CN" sz="2800" b="1" dirty="0"/>
              </a:p>
              <a:p>
                <a:endParaRPr lang="en-US" altLang="zh-CN" sz="2800" b="1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079" y="4319636"/>
                <a:ext cx="8693842" cy="1384995"/>
              </a:xfrm>
              <a:prstGeom prst="rect">
                <a:avLst/>
              </a:prstGeom>
              <a:blipFill>
                <a:blip r:embed="rId2"/>
                <a:stretch>
                  <a:fillRect l="-1458" t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195655" y="5406665"/>
                <a:ext cx="2900345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∑</m:t>
                      </m:r>
                      <m:sSup>
                        <m:sSupPr>
                          <m:ctrlPr>
                            <a:rPr lang="en-US" altLang="zh-C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CN" sz="3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655" y="5406665"/>
                <a:ext cx="2900345" cy="595932"/>
              </a:xfrm>
              <a:prstGeom prst="rect">
                <a:avLst/>
              </a:prstGeom>
              <a:blipFill>
                <a:blip r:embed="rId3"/>
                <a:stretch>
                  <a:fillRect l="-435" t="-8333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89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探索性数据分析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991061" y="187428"/>
          <a:ext cx="3508512" cy="653415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69504">
                  <a:extLst>
                    <a:ext uri="{9D8B030D-6E8A-4147-A177-3AD203B41FA5}">
                      <a16:colId xmlns:a16="http://schemas.microsoft.com/office/drawing/2014/main" val="1331505950"/>
                    </a:ext>
                  </a:extLst>
                </a:gridCol>
                <a:gridCol w="1169504">
                  <a:extLst>
                    <a:ext uri="{9D8B030D-6E8A-4147-A177-3AD203B41FA5}">
                      <a16:colId xmlns:a16="http://schemas.microsoft.com/office/drawing/2014/main" val="2214701236"/>
                    </a:ext>
                  </a:extLst>
                </a:gridCol>
                <a:gridCol w="1169504">
                  <a:extLst>
                    <a:ext uri="{9D8B030D-6E8A-4147-A177-3AD203B41FA5}">
                      <a16:colId xmlns:a16="http://schemas.microsoft.com/office/drawing/2014/main" val="2360620942"/>
                    </a:ext>
                  </a:extLst>
                </a:gridCol>
              </a:tblGrid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企业编号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销售收入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广告支出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65721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4597.5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338.6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61170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6611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4326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7349.3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723.5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5426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5525.7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514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1497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4675.9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426.4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06245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4418.6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426.3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92606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5845.4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679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065547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7313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847.3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4949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9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5035.4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470.9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4962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4322.6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393.8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2176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6389.5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701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5738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4152.2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294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935307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5544.8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442.6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194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6095.1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635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30283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3626.2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260.5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26462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3745.4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305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4740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5121.8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624.7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186801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5674.5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600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999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4256.6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299.6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439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20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5803.7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646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671973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1" y="2623930"/>
            <a:ext cx="5969482" cy="4495873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1093467" y="2997278"/>
            <a:ext cx="5054758" cy="366328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9DC95EDC-4642-4D13-8553-D8765CC04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49758"/>
            <a:ext cx="7599175" cy="196652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rgbClr val="002060"/>
              </a:buClr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9-1】</a:t>
            </a:r>
            <a:r>
              <a:rPr lang="zh-CN" altLang="en-US" sz="2800" b="1" dirty="0">
                <a:ea typeface="华文细黑" panose="02010600040101010101" pitchFamily="2" charset="-122"/>
              </a:rPr>
              <a:t>为研究</a:t>
            </a:r>
            <a:r>
              <a:rPr lang="zh-CN" altLang="en-US" sz="2800" b="1" dirty="0">
                <a:solidFill>
                  <a:srgbClr val="FF0000"/>
                </a:solidFill>
                <a:ea typeface="华文细黑" panose="02010600040101010101" pitchFamily="2" charset="-122"/>
              </a:rPr>
              <a:t>销售收入</a:t>
            </a:r>
            <a:r>
              <a:rPr lang="zh-CN" altLang="en-US" sz="2800" b="1" dirty="0">
                <a:ea typeface="华文细黑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ea typeface="华文细黑" panose="02010600040101010101" pitchFamily="2" charset="-122"/>
              </a:rPr>
              <a:t>广告支出</a:t>
            </a:r>
            <a:r>
              <a:rPr lang="zh-CN" altLang="en-US" sz="2800" b="1" dirty="0">
                <a:ea typeface="华文细黑" panose="02010600040101010101" pitchFamily="2" charset="-122"/>
              </a:rPr>
              <a:t>之间的关系，随机抽取</a:t>
            </a:r>
            <a:r>
              <a:rPr lang="en-US" altLang="zh-CN" sz="2800" b="1" dirty="0">
                <a:ea typeface="华文细黑" panose="02010600040101010101" pitchFamily="2" charset="-122"/>
              </a:rPr>
              <a:t>20</a:t>
            </a:r>
            <a:r>
              <a:rPr lang="zh-CN" altLang="en-US" sz="2800" b="1" dirty="0">
                <a:ea typeface="华文细黑" panose="02010600040101010101" pitchFamily="2" charset="-122"/>
              </a:rPr>
              <a:t>家医药生产企业，得到它们的销售收入和广告支出的数据如表所示。绘制散点图描述销售收入与广告支出之的关系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330459" y="5611349"/>
                <a:ext cx="3294112" cy="646331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459" y="5611349"/>
                <a:ext cx="329411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31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17341</TotalTime>
  <Words>945</Words>
  <Application>Microsoft Macintosh PowerPoint</Application>
  <PresentationFormat>宽屏</PresentationFormat>
  <Paragraphs>216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Arial</vt:lpstr>
      <vt:lpstr>Cambria Math</vt:lpstr>
      <vt:lpstr>Times New Roman</vt:lpstr>
      <vt:lpstr>Wingdings</vt:lpstr>
      <vt:lpstr>Wingdings 3</vt:lpstr>
      <vt:lpstr>Office 主题​​</vt:lpstr>
      <vt:lpstr>PowerPoint 演示文稿</vt:lpstr>
      <vt:lpstr>优化求解-梯度下降法</vt:lpstr>
      <vt:lpstr>优化求解-梯度下降法</vt:lpstr>
      <vt:lpstr>优化求解-梯度下降法</vt:lpstr>
      <vt:lpstr>优化求解-梯度下降法求解例子</vt:lpstr>
      <vt:lpstr>优化求解-梯度下降法求解例子</vt:lpstr>
      <vt:lpstr>优化求解-学习率影响</vt:lpstr>
      <vt:lpstr>优化求解 —— 梯度下降法收敛</vt:lpstr>
      <vt:lpstr>优化求解 —— 变种梯度下降法1</vt:lpstr>
      <vt:lpstr>优化求解 —— 变种梯度下降法2</vt:lpstr>
      <vt:lpstr>优化求解 —— 变种梯度下降法2</vt:lpstr>
      <vt:lpstr>多元线性回归，最小化目标函数求参数方法对比</vt:lpstr>
      <vt:lpstr>PowerPoint 演示文稿</vt:lpstr>
      <vt:lpstr>回归分析-分类</vt:lpstr>
      <vt:lpstr>回归分析-分类</vt:lpstr>
      <vt:lpstr>探索性数据分析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575</cp:revision>
  <dcterms:created xsi:type="dcterms:W3CDTF">2021-11-17T13:21:01Z</dcterms:created>
  <dcterms:modified xsi:type="dcterms:W3CDTF">2025-07-26T13:54:12Z</dcterms:modified>
</cp:coreProperties>
</file>
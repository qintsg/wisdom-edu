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508" r:id="rId2"/>
    <p:sldId id="372" r:id="rId3"/>
    <p:sldId id="373" r:id="rId4"/>
    <p:sldId id="374" r:id="rId5"/>
    <p:sldId id="375" r:id="rId6"/>
    <p:sldId id="376" r:id="rId7"/>
    <p:sldId id="377" r:id="rId8"/>
    <p:sldId id="378" r:id="rId9"/>
    <p:sldId id="506" r:id="rId10"/>
    <p:sldId id="379" r:id="rId11"/>
    <p:sldId id="50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19B"/>
    <a:srgbClr val="116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1" autoAdjust="0"/>
    <p:restoredTop sz="93595"/>
  </p:normalViewPr>
  <p:slideViewPr>
    <p:cSldViewPr snapToGrid="0" showGuides="1">
      <p:cViewPr varScale="1">
        <p:scale>
          <a:sx n="118" d="100"/>
          <a:sy n="118" d="100"/>
        </p:scale>
        <p:origin x="304" y="19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4611B-D63D-4827-9508-62293A02981D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B7F5E-4F88-4111-B208-2F260B30B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6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 userDrawn="1"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 userDrawn="1"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1" y="110649"/>
            <a:ext cx="10515600" cy="570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770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50960-1701-48AC-A59F-767B60563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5D7F4C-19FA-4DBB-8E0E-50D86708B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F640-BE20-4B67-A136-5F55CD3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E3503-87F1-4CF7-A256-C5FB9A22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9AA02-E14A-4B76-9C38-2F9B89BB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3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C072B-542B-4EB4-AE3E-3962BC96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FC81C-17BC-4E49-801A-5535D52E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C2DB2-8954-4FAC-BDAC-A41CB9FD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5D9FA-8B05-43CE-A8C6-57D4B1B3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B343-9089-4A86-8CDC-D72C628B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2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C339-9979-439E-AD47-69A80F83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08C4E-EFCC-422B-A0CC-66BF0748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44901-1417-472E-9D15-16ECC074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30AA9-002C-4348-9998-8027E3DF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8E8C9-BD1B-4A76-A9CB-27277C57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C584-3CAE-47D4-911B-4E662122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7A965-7AFF-413E-B0F9-9B383F4D7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C38DE-AED2-4131-8C10-FF03B22F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5F5FA-8460-4FB5-BECF-082CB76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ECCEA3-CC62-4601-B76C-37ADB4AF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FF4BD-83FA-48E8-9D3F-095F4C7C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1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6E1C5-ECAF-42BE-9623-BCADD634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EBD31-3B49-47F1-94AD-B0C6385A0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1D851-B286-458B-B0FF-37C11425C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0DAC4-251D-4CAB-AAC8-1816BA2ED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CAE68-B059-48A9-8FEA-AE16FDCB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B7C04-5F54-4995-8205-02AE75A6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3733C5-CACD-4D73-88DF-0FE47AEB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CC8BD8-3103-46D8-B238-FEE49AA8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9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81B53-CFBA-4ED9-A856-C7F31BDC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5807F-966E-4869-8987-657949B8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0A72C-1EA5-4B8F-99BE-2B5DF012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0E1FBD-CDF9-4E91-99E5-A833BABA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3F8982-6037-4234-AD00-3123D01C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F0542-C8F2-4C1F-BB00-D0D13270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AEC53-34BE-4C4A-856B-8411CD69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1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AC9EE-3E5D-4DAD-862D-E4971473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60C9A-3E3A-47B4-A1B2-682A69B9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AB7B40-FEFE-403A-A042-FE872B9EF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366DE-EBE6-4AFE-B2AF-4C25890E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082D5-0599-48B5-8819-634575D3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55D9C-1A7C-4534-A584-4472E3B8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7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87C38-82A2-4C25-AC3F-F06B1F23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ADE65-B3BE-4A96-890D-E7A188D83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9A9D3-7F46-42D0-B4ED-1773CC926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80096-90BF-4736-A77E-82348CC6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85590-E6CB-4FD1-A1EC-A9509A34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A4A82-6CE2-4CA5-BD5B-08DCB7A0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9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FA93-FCE2-44E4-878C-8FEFA601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DA7C2-F2E1-4F67-8B34-F05CBFC0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967AE-CDF3-4D67-A190-E46F86D0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B9F83-0BEE-42D3-99B3-055F58EB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6528D-DEBF-45D5-AA5C-2081D9B2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93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CEB34-32B0-4BD7-B39A-0AC8E1769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86A30-6588-4D1F-833A-33C5E706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A0ED4-AAED-4792-99F8-043A8A82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7DCE7-E18C-4FD7-A653-9FE1C3A9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F1929-4F93-4E60-A024-16E632D7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67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1174279"/>
            <a:ext cx="7920203" cy="0"/>
          </a:xfrm>
          <a:prstGeom prst="line">
            <a:avLst/>
          </a:prstGeom>
          <a:ln w="15875">
            <a:gradFill>
              <a:gsLst>
                <a:gs pos="1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7333" y="296901"/>
            <a:ext cx="9792824" cy="649287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297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68784-9CD4-4F13-B6FF-DAFB8F5FA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0A121-C4E0-491B-B35A-1ABE4E2B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455DE-3A94-44C9-BD40-E9A302C18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AF917-03E6-4637-A084-DE343516B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5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801092" y="2233853"/>
            <a:ext cx="78970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/>
              <a:t>Part Four</a:t>
            </a:r>
          </a:p>
          <a:p>
            <a:pPr algn="ctr"/>
            <a:r>
              <a:rPr lang="en-US" altLang="zh-CN" sz="6000" b="1" dirty="0" err="1"/>
              <a:t>PySpark</a:t>
            </a:r>
            <a:r>
              <a:rPr lang="zh-CN" altLang="en-US" sz="6000" b="1" dirty="0"/>
              <a:t>线性回归案例</a:t>
            </a:r>
          </a:p>
        </p:txBody>
      </p:sp>
    </p:spTree>
    <p:extLst>
      <p:ext uri="{BB962C8B-B14F-4D97-AF65-F5344CB8AC3E}">
        <p14:creationId xmlns:p14="http://schemas.microsoft.com/office/powerpoint/2010/main" val="219787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08AEF5-0348-E349-8D53-2E42F71D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线性回归案例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2635C0-55DD-1711-6847-FFF37BBDEE4E}"/>
              </a:ext>
            </a:extLst>
          </p:cNvPr>
          <p:cNvSpPr txBox="1"/>
          <p:nvPr/>
        </p:nvSpPr>
        <p:spPr>
          <a:xfrm>
            <a:off x="133941" y="1160040"/>
            <a:ext cx="16629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/>
              <a:t>数据信息</a:t>
            </a:r>
            <a:endParaRPr lang="zh-CN" altLang="en-US" sz="2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69EE726-061B-3503-BDFA-D76004383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236" y="1160040"/>
            <a:ext cx="9510447" cy="539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0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08AEF5-0348-E349-8D53-2E42F71D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线性回归案例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2635C0-55DD-1711-6847-FFF37BBDEE4E}"/>
              </a:ext>
            </a:extLst>
          </p:cNvPr>
          <p:cNvSpPr txBox="1"/>
          <p:nvPr/>
        </p:nvSpPr>
        <p:spPr>
          <a:xfrm>
            <a:off x="133941" y="1160040"/>
            <a:ext cx="16629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/>
              <a:t>数据信息</a:t>
            </a:r>
            <a:endParaRPr lang="zh-CN" altLang="en-US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5C4459B-6656-BF86-DA2F-DC17237D7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459" y="1160040"/>
            <a:ext cx="10190270" cy="491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667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08AEF5-0348-E349-8D53-2E42F71D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线性回归案例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BE3234-B1AF-8E7D-B2BE-9B404D743A94}"/>
              </a:ext>
            </a:extLst>
          </p:cNvPr>
          <p:cNvSpPr txBox="1"/>
          <p:nvPr/>
        </p:nvSpPr>
        <p:spPr>
          <a:xfrm>
            <a:off x="1101436" y="882134"/>
            <a:ext cx="2611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1800" b="1" dirty="0">
                <a:ea typeface="华文细黑" panose="02010600040101010101" pitchFamily="2" charset="-122"/>
              </a:rPr>
              <a:t>Pearson</a:t>
            </a:r>
            <a:r>
              <a:rPr lang="zh-CN" altLang="en-US" sz="1800" b="1" dirty="0"/>
              <a:t>相关系数 </a:t>
            </a:r>
            <a:endParaRPr lang="en-US" altLang="zh-CN" sz="1800" b="1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B0DCF2D-2455-F5B1-6BC5-A9B726FB8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1451972"/>
            <a:ext cx="5422900" cy="42291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290C61A-32FA-429D-27BF-BDC230D05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76928"/>
            <a:ext cx="5207000" cy="50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83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08AEF5-0348-E349-8D53-2E42F71D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线性回归案例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BE3234-B1AF-8E7D-B2BE-9B404D743A94}"/>
              </a:ext>
            </a:extLst>
          </p:cNvPr>
          <p:cNvSpPr txBox="1"/>
          <p:nvPr/>
        </p:nvSpPr>
        <p:spPr>
          <a:xfrm>
            <a:off x="1101436" y="882134"/>
            <a:ext cx="2611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ea typeface="华文细黑" panose="02010600040101010101" pitchFamily="2" charset="-122"/>
              </a:rPr>
              <a:t>特征工程</a:t>
            </a:r>
            <a:endParaRPr lang="en-US" altLang="zh-CN" sz="24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D92163-DD34-221F-7DD2-025EC270720C}"/>
              </a:ext>
            </a:extLst>
          </p:cNvPr>
          <p:cNvSpPr txBox="1"/>
          <p:nvPr/>
        </p:nvSpPr>
        <p:spPr>
          <a:xfrm>
            <a:off x="290946" y="1343799"/>
            <a:ext cx="11312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使用</a:t>
            </a:r>
            <a:r>
              <a:rPr kumimoji="1" lang="en-US" altLang="zh-CN" sz="2400" dirty="0"/>
              <a:t>Spark</a:t>
            </a:r>
            <a:r>
              <a:rPr kumimoji="1" lang="zh-CN" altLang="en-US" sz="2400" dirty="0"/>
              <a:t>的</a:t>
            </a:r>
            <a:r>
              <a:rPr kumimoji="1" lang="en-US" altLang="zh-CN" sz="2400" dirty="0" err="1"/>
              <a:t>VectorAssembler</a:t>
            </a:r>
            <a:r>
              <a:rPr kumimoji="1" lang="zh-CN" altLang="en-US" sz="2400" dirty="0"/>
              <a:t>将所有输入特征列合并成单个特征向量列</a:t>
            </a:r>
            <a:r>
              <a:rPr lang="en-US" altLang="zh-CN" sz="2400" dirty="0" err="1"/>
              <a:t>DenseVector</a:t>
            </a:r>
            <a:endParaRPr kumimoji="1"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34B132-9434-58CB-1125-A377086EB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43" y="1950644"/>
            <a:ext cx="9363950" cy="455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17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08AEF5-0348-E349-8D53-2E42F71D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线性回归案例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BE3234-B1AF-8E7D-B2BE-9B404D743A94}"/>
              </a:ext>
            </a:extLst>
          </p:cNvPr>
          <p:cNvSpPr txBox="1"/>
          <p:nvPr/>
        </p:nvSpPr>
        <p:spPr>
          <a:xfrm>
            <a:off x="1101436" y="882134"/>
            <a:ext cx="2611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ea typeface="华文细黑" panose="02010600040101010101" pitchFamily="2" charset="-122"/>
              </a:rPr>
              <a:t>特征工程</a:t>
            </a:r>
            <a:endParaRPr lang="en-US" altLang="zh-CN" sz="24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D92163-DD34-221F-7DD2-025EC270720C}"/>
              </a:ext>
            </a:extLst>
          </p:cNvPr>
          <p:cNvSpPr txBox="1"/>
          <p:nvPr/>
        </p:nvSpPr>
        <p:spPr>
          <a:xfrm>
            <a:off x="568037" y="1859340"/>
            <a:ext cx="3047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使用</a:t>
            </a:r>
            <a:r>
              <a:rPr kumimoji="1" lang="en-US" altLang="zh-CN" sz="2400" dirty="0"/>
              <a:t>Spark</a:t>
            </a:r>
            <a:r>
              <a:rPr kumimoji="1" lang="zh-CN" altLang="en-US" sz="2400" dirty="0"/>
              <a:t>的</a:t>
            </a:r>
            <a:r>
              <a:rPr kumimoji="1" lang="en-US" altLang="zh-CN" sz="2400" dirty="0" err="1"/>
              <a:t>VectorAssembler</a:t>
            </a:r>
            <a:r>
              <a:rPr kumimoji="1" lang="zh-CN" altLang="en-US" sz="2400" dirty="0"/>
              <a:t>将所有输入特征列合并成单个特征向量列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A457767-520F-66C1-C5CF-81F67F38D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018" y="882134"/>
            <a:ext cx="5349085" cy="582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50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08AEF5-0348-E349-8D53-2E42F71D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线性回归案例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BE3234-B1AF-8E7D-B2BE-9B404D743A94}"/>
              </a:ext>
            </a:extLst>
          </p:cNvPr>
          <p:cNvSpPr txBox="1"/>
          <p:nvPr/>
        </p:nvSpPr>
        <p:spPr>
          <a:xfrm>
            <a:off x="1101436" y="882134"/>
            <a:ext cx="2611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ea typeface="华文细黑" panose="02010600040101010101" pitchFamily="2" charset="-122"/>
              </a:rPr>
              <a:t>划分数据集</a:t>
            </a:r>
            <a:endParaRPr lang="en-US" altLang="zh-CN" sz="24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3FC71E3-9D75-275F-B909-4A71A4EC1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63" y="1590471"/>
            <a:ext cx="6527800" cy="50673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2D92163-DD34-221F-7DD2-025EC270720C}"/>
              </a:ext>
            </a:extLst>
          </p:cNvPr>
          <p:cNvSpPr txBox="1"/>
          <p:nvPr/>
        </p:nvSpPr>
        <p:spPr>
          <a:xfrm>
            <a:off x="5391741" y="928300"/>
            <a:ext cx="4313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按照</a:t>
            </a:r>
            <a:r>
              <a:rPr kumimoji="1" lang="en-US" altLang="zh-CN" sz="2400" dirty="0"/>
              <a:t>70/30</a:t>
            </a:r>
            <a:r>
              <a:rPr kumimoji="1" lang="zh-CN" altLang="en-US" sz="2400" dirty="0"/>
              <a:t>的比例划分数据集</a:t>
            </a:r>
            <a:endParaRPr kumimoji="1" lang="en-US" altLang="zh-CN" sz="2400" dirty="0"/>
          </a:p>
          <a:p>
            <a:r>
              <a:rPr kumimoji="1" lang="zh-CN" altLang="en-US" sz="2400" dirty="0"/>
              <a:t>（训练集和测试集）</a:t>
            </a:r>
          </a:p>
        </p:txBody>
      </p:sp>
    </p:spTree>
    <p:extLst>
      <p:ext uri="{BB962C8B-B14F-4D97-AF65-F5344CB8AC3E}">
        <p14:creationId xmlns:p14="http://schemas.microsoft.com/office/powerpoint/2010/main" val="666052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08AEF5-0348-E349-8D53-2E42F71D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线性回归案例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BE3234-B1AF-8E7D-B2BE-9B404D743A94}"/>
              </a:ext>
            </a:extLst>
          </p:cNvPr>
          <p:cNvSpPr txBox="1"/>
          <p:nvPr/>
        </p:nvSpPr>
        <p:spPr>
          <a:xfrm>
            <a:off x="1101435" y="882134"/>
            <a:ext cx="4290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ea typeface="华文细黑" panose="02010600040101010101" pitchFamily="2" charset="-122"/>
              </a:rPr>
              <a:t>构建和训练线性回归模型</a:t>
            </a:r>
            <a:endParaRPr lang="en-US" altLang="zh-CN" sz="24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3BE003B-32DB-EDD9-962B-A2BFF8B63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26" y="1544305"/>
            <a:ext cx="10136263" cy="48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90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E43804-DF76-9D9B-90A2-78086A83D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线性回归案例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47C677-F1CC-DBA0-0D44-8406AE9ACEE8}"/>
              </a:ext>
            </a:extLst>
          </p:cNvPr>
          <p:cNvSpPr txBox="1"/>
          <p:nvPr/>
        </p:nvSpPr>
        <p:spPr>
          <a:xfrm>
            <a:off x="0" y="1547152"/>
            <a:ext cx="1921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ea typeface="华文细黑" panose="02010600040101010101" pitchFamily="2" charset="-122"/>
              </a:rPr>
              <a:t>模型预测</a:t>
            </a:r>
            <a:endParaRPr lang="en-US" altLang="zh-CN" sz="24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1D1E12-4AE3-4621-8FB1-53F8FF4A1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714" y="968851"/>
            <a:ext cx="7454900" cy="577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84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08AEF5-0348-E349-8D53-2E42F71D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线性回归案例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BE3234-B1AF-8E7D-B2BE-9B404D743A94}"/>
              </a:ext>
            </a:extLst>
          </p:cNvPr>
          <p:cNvSpPr txBox="1"/>
          <p:nvPr/>
        </p:nvSpPr>
        <p:spPr>
          <a:xfrm>
            <a:off x="1357745" y="1324264"/>
            <a:ext cx="1921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ea typeface="华文细黑" panose="02010600040101010101" pitchFamily="2" charset="-122"/>
              </a:rPr>
              <a:t>模型评价</a:t>
            </a:r>
            <a:endParaRPr lang="en-US" altLang="zh-CN" sz="24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455E07E-04F1-D6F2-91E1-873514DCE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782" y="2155536"/>
            <a:ext cx="477520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41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E16991-0F81-5A3D-DCCD-8BD3A034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模型保存和加载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099929-AA35-4BE7-8452-60CFBD3CB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41" y="1541318"/>
            <a:ext cx="11414188" cy="18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562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17341</TotalTime>
  <Words>116</Words>
  <Application>Microsoft Macintosh PowerPoint</Application>
  <PresentationFormat>宽屏</PresentationFormat>
  <Paragraphs>25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Arial</vt:lpstr>
      <vt:lpstr>Wingdings</vt:lpstr>
      <vt:lpstr>Office 主题​​</vt:lpstr>
      <vt:lpstr>PowerPoint 演示文稿</vt:lpstr>
      <vt:lpstr>PySpark线性回归案例</vt:lpstr>
      <vt:lpstr>PySpark线性回归案例</vt:lpstr>
      <vt:lpstr>PySpark线性回归案例</vt:lpstr>
      <vt:lpstr>PySpark线性回归案例</vt:lpstr>
      <vt:lpstr>PySpark线性回归案例</vt:lpstr>
      <vt:lpstr>PySpark线性回归案例</vt:lpstr>
      <vt:lpstr>PySpark线性回归案例</vt:lpstr>
      <vt:lpstr>PySpark线性回归案例</vt:lpstr>
      <vt:lpstr>PySpark线性回归案例</vt:lpstr>
      <vt:lpstr>PySpark模型保存和加载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说课 ——《动力工程测控技术》</dc:title>
  <dc:creator>陈 冰虹</dc:creator>
  <cp:lastModifiedBy>Microsoft Office User</cp:lastModifiedBy>
  <cp:revision>575</cp:revision>
  <dcterms:created xsi:type="dcterms:W3CDTF">2021-11-17T13:21:01Z</dcterms:created>
  <dcterms:modified xsi:type="dcterms:W3CDTF">2025-07-26T13:54:49Z</dcterms:modified>
</cp:coreProperties>
</file>
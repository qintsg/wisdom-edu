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27" r:id="rId3"/>
    <p:sldId id="342" r:id="rId4"/>
    <p:sldId id="330" r:id="rId5"/>
    <p:sldId id="328" r:id="rId6"/>
    <p:sldId id="331" r:id="rId7"/>
    <p:sldId id="332" r:id="rId8"/>
    <p:sldId id="333" r:id="rId9"/>
    <p:sldId id="334" r:id="rId10"/>
    <p:sldId id="362" r:id="rId11"/>
    <p:sldId id="335" r:id="rId12"/>
    <p:sldId id="338" r:id="rId13"/>
    <p:sldId id="370" r:id="rId14"/>
    <p:sldId id="380" r:id="rId15"/>
    <p:sldId id="341" r:id="rId16"/>
    <p:sldId id="361" r:id="rId17"/>
    <p:sldId id="343" r:id="rId18"/>
    <p:sldId id="346" r:id="rId19"/>
    <p:sldId id="344" r:id="rId20"/>
    <p:sldId id="349" r:id="rId21"/>
    <p:sldId id="313" r:id="rId22"/>
    <p:sldId id="348" r:id="rId23"/>
    <p:sldId id="34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3595"/>
  </p:normalViewPr>
  <p:slideViewPr>
    <p:cSldViewPr snapToGrid="0" showGuides="1">
      <p:cViewPr varScale="1">
        <p:scale>
          <a:sx n="118" d="100"/>
          <a:sy n="118" d="100"/>
        </p:scale>
        <p:origin x="304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5%A4%9A%E5%85%83%E7%BA%BF%E6%80%A7%E5%9B%9E%E5%BD%92&amp;search_source=Entity&amp;hybrid_search_source=Entity&amp;hybrid_search_extra=%7B%22sourceType%22%3A%22answer%22%2C%22sourceId%22%3A3177246105%7D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214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0047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931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73655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多元线性回归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</a:t>
            </a:r>
            <a:r>
              <a:rPr lang="en-US" altLang="zh-CN" dirty="0"/>
              <a:t>R</a:t>
            </a:r>
            <a:r>
              <a:rPr lang="zh-CN" altLang="en-US" dirty="0"/>
              <a:t>方有个致命的问题，那就是随着自变量</a:t>
            </a:r>
            <a:r>
              <a:rPr lang="en-US" altLang="zh-CN" dirty="0"/>
              <a:t>X</a:t>
            </a:r>
            <a:r>
              <a:rPr lang="zh-CN" altLang="en-US" dirty="0"/>
              <a:t>的个数增加，</a:t>
            </a:r>
            <a:r>
              <a:rPr lang="en-US" altLang="zh-CN" dirty="0"/>
              <a:t>R</a:t>
            </a:r>
            <a:r>
              <a:rPr lang="zh-CN" altLang="en-US" dirty="0"/>
              <a:t>方会越来越大，</a:t>
            </a:r>
            <a:r>
              <a:rPr lang="en-US" altLang="zh-CN" dirty="0"/>
              <a:t>R</a:t>
            </a:r>
            <a:r>
              <a:rPr lang="zh-CN" altLang="en-US" dirty="0"/>
              <a:t>方越来越大就会认为模型拟合越来越好，但是实际上可能是由于自变量个数的增加导致的</a:t>
            </a:r>
            <a:r>
              <a:rPr lang="en-US" altLang="zh-CN" dirty="0"/>
              <a:t>R</a:t>
            </a:r>
            <a:r>
              <a:rPr lang="zh-CN" altLang="en-US" dirty="0"/>
              <a:t>方增大。这样看来，</a:t>
            </a:r>
            <a:r>
              <a:rPr lang="en-US" altLang="zh-CN" dirty="0"/>
              <a:t>R</a:t>
            </a:r>
            <a:r>
              <a:rPr lang="zh-CN" altLang="en-US" dirty="0"/>
              <a:t>方就不是一个比较客观的指标，此时将自变量个数考虑进公式中，就得到了调整后</a:t>
            </a:r>
            <a:r>
              <a:rPr lang="en-US" altLang="zh-CN" dirty="0"/>
              <a:t>R</a:t>
            </a:r>
            <a:r>
              <a:rPr lang="zh-CN" altLang="en-US" dirty="0"/>
              <a:t>方。</a:t>
            </a:r>
          </a:p>
          <a:p>
            <a:r>
              <a:rPr lang="zh-CN" altLang="en-US" b="1" dirty="0"/>
              <a:t>调整后</a:t>
            </a:r>
            <a:r>
              <a:rPr lang="en-US" altLang="zh-CN" b="1" dirty="0"/>
              <a:t>R</a:t>
            </a:r>
            <a:r>
              <a:rPr lang="zh-CN" altLang="en-US" b="1" dirty="0"/>
              <a:t>方的公式：</a:t>
            </a:r>
            <a:endParaRPr lang="en-US" altLang="zh-CN" b="1" dirty="0"/>
          </a:p>
          <a:p>
            <a:r>
              <a:rPr lang="zh-CN" altLang="en-US" dirty="0"/>
              <a:t>从公式可以看出，调整后的</a:t>
            </a:r>
            <a:r>
              <a:rPr lang="en-US" altLang="zh-CN" dirty="0"/>
              <a:t>R</a:t>
            </a:r>
            <a:r>
              <a:rPr lang="zh-CN" altLang="en-US" dirty="0"/>
              <a:t>方同时考虑了样本量</a:t>
            </a:r>
            <a:r>
              <a:rPr lang="en-US" altLang="zh-CN" dirty="0"/>
              <a:t>n</a:t>
            </a:r>
            <a:r>
              <a:rPr lang="zh-CN" altLang="en-US" dirty="0"/>
              <a:t>和自变量个数</a:t>
            </a:r>
            <a:r>
              <a:rPr lang="en-US" altLang="zh-CN" dirty="0"/>
              <a:t>k</a:t>
            </a:r>
            <a:r>
              <a:rPr lang="zh-CN" altLang="en-US" dirty="0"/>
              <a:t>，且</a:t>
            </a:r>
            <a:r>
              <a:rPr lang="zh-CN" altLang="en-US" b="1" dirty="0"/>
              <a:t>调整后</a:t>
            </a:r>
            <a:r>
              <a:rPr lang="en-US" altLang="zh-CN" b="1" dirty="0"/>
              <a:t>R</a:t>
            </a:r>
            <a:r>
              <a:rPr lang="zh-CN" altLang="en-US" b="1" dirty="0"/>
              <a:t>方</a:t>
            </a:r>
            <a:r>
              <a:rPr lang="en-US" altLang="zh-CN" b="1" dirty="0"/>
              <a:t>&lt;R</a:t>
            </a:r>
            <a:r>
              <a:rPr lang="zh-CN" altLang="en-US" b="1" dirty="0"/>
              <a:t>方</a:t>
            </a:r>
            <a:r>
              <a:rPr lang="zh-CN" altLang="en-US" dirty="0"/>
              <a:t>。调整后</a:t>
            </a:r>
            <a:r>
              <a:rPr lang="en-US" altLang="zh-CN" dirty="0"/>
              <a:t>R</a:t>
            </a:r>
            <a:r>
              <a:rPr lang="zh-CN" altLang="en-US" dirty="0"/>
              <a:t>方不会随着自变量个数的增加越来越大，故在多元线性回归分析中，使用调整后</a:t>
            </a:r>
            <a:r>
              <a:rPr lang="en-US" altLang="zh-CN" dirty="0"/>
              <a:t>R</a:t>
            </a:r>
            <a:r>
              <a:rPr lang="zh-CN" altLang="en-US" dirty="0"/>
              <a:t>方对模型拟合效果进行评价会更加准确。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212020-2693-43A9-8D31-68FE6E005048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0341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D8C1B9-C520-488F-B6CE-E4D4FF0D4C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5896" y="0"/>
            <a:ext cx="93610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7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12.emf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71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E3C0872-64D7-4B76-9B19-E1DAFDFDD242}"/>
              </a:ext>
            </a:extLst>
          </p:cNvPr>
          <p:cNvCxnSpPr>
            <a:cxnSpLocks/>
          </p:cNvCxnSpPr>
          <p:nvPr/>
        </p:nvCxnSpPr>
        <p:spPr>
          <a:xfrm>
            <a:off x="1422400" y="6113732"/>
            <a:ext cx="9093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D4805B-0FE8-4E82-B102-EE270173D087}"/>
              </a:ext>
            </a:extLst>
          </p:cNvPr>
          <p:cNvSpPr txBox="1"/>
          <p:nvPr/>
        </p:nvSpPr>
        <p:spPr>
          <a:xfrm>
            <a:off x="4793315" y="2552789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75000"/>
                  </a:schemeClr>
                </a:solidFill>
              </a:rPr>
              <a:t>线性回归</a:t>
            </a:r>
          </a:p>
        </p:txBody>
      </p:sp>
    </p:spTree>
    <p:extLst>
      <p:ext uri="{BB962C8B-B14F-4D97-AF65-F5344CB8AC3E}">
        <p14:creationId xmlns:p14="http://schemas.microsoft.com/office/powerpoint/2010/main" val="399432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6"/>
    </mc:Choice>
    <mc:Fallback xmlns="">
      <p:transition spd="slow" advTm="101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325F0CF-632C-42A3-807A-856590680EED}"/>
              </a:ext>
            </a:extLst>
          </p:cNvPr>
          <p:cNvSpPr/>
          <p:nvPr/>
        </p:nvSpPr>
        <p:spPr>
          <a:xfrm>
            <a:off x="0" y="-1"/>
            <a:ext cx="93133" cy="6857999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E1FA73-ECA8-4D0A-8534-F63567B9EAFF}"/>
              </a:ext>
            </a:extLst>
          </p:cNvPr>
          <p:cNvSpPr/>
          <p:nvPr/>
        </p:nvSpPr>
        <p:spPr>
          <a:xfrm>
            <a:off x="93133" y="-1"/>
            <a:ext cx="347134" cy="778934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B3E589-56B6-463A-8A7F-6DB673FF9F30}"/>
              </a:ext>
            </a:extLst>
          </p:cNvPr>
          <p:cNvSpPr/>
          <p:nvPr/>
        </p:nvSpPr>
        <p:spPr>
          <a:xfrm>
            <a:off x="3551298" y="2878055"/>
            <a:ext cx="391829" cy="447665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5888E8B-50BA-4D40-A9ED-EAA50B3B67DE}"/>
              </a:ext>
            </a:extLst>
          </p:cNvPr>
          <p:cNvSpPr txBox="1"/>
          <p:nvPr/>
        </p:nvSpPr>
        <p:spPr>
          <a:xfrm>
            <a:off x="4205825" y="269284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多元线性回归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23F5D0C-3CBE-49CA-82BC-E60F9A002071}"/>
              </a:ext>
            </a:extLst>
          </p:cNvPr>
          <p:cNvCxnSpPr>
            <a:cxnSpLocks/>
          </p:cNvCxnSpPr>
          <p:nvPr/>
        </p:nvCxnSpPr>
        <p:spPr>
          <a:xfrm>
            <a:off x="3551298" y="3325720"/>
            <a:ext cx="4704118" cy="0"/>
          </a:xfrm>
          <a:prstGeom prst="line">
            <a:avLst/>
          </a:prstGeom>
          <a:ln w="38100">
            <a:solidFill>
              <a:srgbClr val="0B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EB3E589-56B6-463A-8A7F-6DB673FF9F30}"/>
              </a:ext>
            </a:extLst>
          </p:cNvPr>
          <p:cNvSpPr/>
          <p:nvPr/>
        </p:nvSpPr>
        <p:spPr>
          <a:xfrm>
            <a:off x="3551298" y="1895759"/>
            <a:ext cx="391829" cy="447665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888E8B-50BA-4D40-A9ED-EAA50B3B67DE}"/>
              </a:ext>
            </a:extLst>
          </p:cNvPr>
          <p:cNvSpPr txBox="1"/>
          <p:nvPr/>
        </p:nvSpPr>
        <p:spPr>
          <a:xfrm>
            <a:off x="4205824" y="172595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一元线性回归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23F5D0C-3CBE-49CA-82BC-E60F9A002071}"/>
              </a:ext>
            </a:extLst>
          </p:cNvPr>
          <p:cNvCxnSpPr>
            <a:cxnSpLocks/>
          </p:cNvCxnSpPr>
          <p:nvPr/>
        </p:nvCxnSpPr>
        <p:spPr>
          <a:xfrm>
            <a:off x="3551298" y="2343424"/>
            <a:ext cx="4704118" cy="0"/>
          </a:xfrm>
          <a:prstGeom prst="line">
            <a:avLst/>
          </a:prstGeom>
          <a:ln w="38100">
            <a:solidFill>
              <a:srgbClr val="0B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A06E7230-6514-7E3A-0E3A-6B7C791340A6}"/>
              </a:ext>
            </a:extLst>
          </p:cNvPr>
          <p:cNvSpPr/>
          <p:nvPr/>
        </p:nvSpPr>
        <p:spPr>
          <a:xfrm>
            <a:off x="3551298" y="3858397"/>
            <a:ext cx="391829" cy="447665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FC9CD7-EDFF-C030-F188-4CF8277D9C4F}"/>
              </a:ext>
            </a:extLst>
          </p:cNvPr>
          <p:cNvSpPr txBox="1"/>
          <p:nvPr/>
        </p:nvSpPr>
        <p:spPr>
          <a:xfrm>
            <a:off x="4205825" y="3658754"/>
            <a:ext cx="2111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梯度下降</a:t>
            </a:r>
          </a:p>
        </p:txBody>
      </p:sp>
      <p:cxnSp>
        <p:nvCxnSpPr>
          <p:cNvPr id="4" name="直接连接符 19">
            <a:extLst>
              <a:ext uri="{FF2B5EF4-FFF2-40B4-BE49-F238E27FC236}">
                <a16:creationId xmlns:a16="http://schemas.microsoft.com/office/drawing/2014/main" id="{F4AE423C-251D-9E5B-52CC-F97A45E29826}"/>
              </a:ext>
            </a:extLst>
          </p:cNvPr>
          <p:cNvCxnSpPr>
            <a:cxnSpLocks/>
          </p:cNvCxnSpPr>
          <p:nvPr/>
        </p:nvCxnSpPr>
        <p:spPr>
          <a:xfrm>
            <a:off x="3551298" y="4306062"/>
            <a:ext cx="4704118" cy="0"/>
          </a:xfrm>
          <a:prstGeom prst="line">
            <a:avLst/>
          </a:prstGeom>
          <a:ln w="38100">
            <a:solidFill>
              <a:srgbClr val="0B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7D45253-C00E-2684-C1E2-5F730E0BA5F2}"/>
              </a:ext>
            </a:extLst>
          </p:cNvPr>
          <p:cNvSpPr/>
          <p:nvPr/>
        </p:nvSpPr>
        <p:spPr>
          <a:xfrm>
            <a:off x="3551298" y="4952393"/>
            <a:ext cx="391829" cy="447665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14B6AC-C21E-DF82-F30D-56E20F7C285C}"/>
              </a:ext>
            </a:extLst>
          </p:cNvPr>
          <p:cNvSpPr txBox="1"/>
          <p:nvPr/>
        </p:nvSpPr>
        <p:spPr>
          <a:xfrm>
            <a:off x="4205825" y="4751774"/>
            <a:ext cx="4642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err="1"/>
              <a:t>PySpark</a:t>
            </a:r>
            <a:r>
              <a:rPr lang="zh-CN" altLang="en-US" sz="3600" b="1" dirty="0"/>
              <a:t>线性回归案例</a:t>
            </a:r>
          </a:p>
        </p:txBody>
      </p:sp>
      <p:cxnSp>
        <p:nvCxnSpPr>
          <p:cNvPr id="7" name="直接连接符 19">
            <a:extLst>
              <a:ext uri="{FF2B5EF4-FFF2-40B4-BE49-F238E27FC236}">
                <a16:creationId xmlns:a16="http://schemas.microsoft.com/office/drawing/2014/main" id="{429A97D3-6C99-6D07-AFDF-C6CBF2CA36C9}"/>
              </a:ext>
            </a:extLst>
          </p:cNvPr>
          <p:cNvCxnSpPr>
            <a:cxnSpLocks/>
          </p:cNvCxnSpPr>
          <p:nvPr/>
        </p:nvCxnSpPr>
        <p:spPr>
          <a:xfrm>
            <a:off x="3551298" y="5400058"/>
            <a:ext cx="4704118" cy="0"/>
          </a:xfrm>
          <a:prstGeom prst="line">
            <a:avLst/>
          </a:prstGeom>
          <a:ln w="38100">
            <a:solidFill>
              <a:srgbClr val="0B41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96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9"/>
    </mc:Choice>
    <mc:Fallback xmlns="">
      <p:transition spd="slow" advTm="314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17033" y="2192289"/>
            <a:ext cx="56965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Part One</a:t>
            </a:r>
          </a:p>
          <a:p>
            <a:pPr algn="ctr"/>
            <a:r>
              <a:rPr lang="zh-CN" altLang="en-US" sz="6000" b="1" dirty="0"/>
              <a:t>一元线性回归</a:t>
            </a:r>
          </a:p>
        </p:txBody>
      </p:sp>
    </p:spTree>
    <p:extLst>
      <p:ext uri="{BB962C8B-B14F-4D97-AF65-F5344CB8AC3E}">
        <p14:creationId xmlns:p14="http://schemas.microsoft.com/office/powerpoint/2010/main" val="164279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探索性数据分析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669036"/>
              </p:ext>
            </p:extLst>
          </p:nvPr>
        </p:nvGraphicFramePr>
        <p:xfrm>
          <a:off x="7991061" y="187428"/>
          <a:ext cx="3508512" cy="653415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69504">
                  <a:extLst>
                    <a:ext uri="{9D8B030D-6E8A-4147-A177-3AD203B41FA5}">
                      <a16:colId xmlns:a16="http://schemas.microsoft.com/office/drawing/2014/main" val="1331505950"/>
                    </a:ext>
                  </a:extLst>
                </a:gridCol>
                <a:gridCol w="1169504">
                  <a:extLst>
                    <a:ext uri="{9D8B030D-6E8A-4147-A177-3AD203B41FA5}">
                      <a16:colId xmlns:a16="http://schemas.microsoft.com/office/drawing/2014/main" val="2214701236"/>
                    </a:ext>
                  </a:extLst>
                </a:gridCol>
                <a:gridCol w="1169504">
                  <a:extLst>
                    <a:ext uri="{9D8B030D-6E8A-4147-A177-3AD203B41FA5}">
                      <a16:colId xmlns:a16="http://schemas.microsoft.com/office/drawing/2014/main" val="2360620942"/>
                    </a:ext>
                  </a:extLst>
                </a:gridCol>
              </a:tblGrid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企业编号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销售收入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广告支出</a:t>
                      </a:r>
                      <a:endParaRPr lang="zh-CN" alt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465721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4597.5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338.6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61170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6611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4326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7349.3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723.5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5426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5525.7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514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1497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4675.9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426.4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06245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4418.6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426.3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92606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5845.4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679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065547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7313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847.3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84949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9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5035.4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470.9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74962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4322.6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393.8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2176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6389.5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701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5738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4152.2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294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935307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5544.8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442.6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194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6095.1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635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430283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3626.2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260.5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026462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3745.4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305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47405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5121.8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624.7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186801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18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5674.5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600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49999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19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4256.6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299.6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4390"/>
                  </a:ext>
                </a:extLst>
              </a:tr>
              <a:tr h="2288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20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>
                          <a:effectLst/>
                        </a:rPr>
                        <a:t>5803.7</a:t>
                      </a:r>
                      <a:endParaRPr lang="en-US" altLang="zh-CN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646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671973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1" y="2623930"/>
            <a:ext cx="5969482" cy="4495873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1093467" y="2997278"/>
            <a:ext cx="5054758" cy="366328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">
            <a:extLst>
              <a:ext uri="{FF2B5EF4-FFF2-40B4-BE49-F238E27FC236}">
                <a16:creationId xmlns:a16="http://schemas.microsoft.com/office/drawing/2014/main" id="{9DC95EDC-4642-4D13-8553-D8765CC0420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49758"/>
            <a:ext cx="7599175" cy="1966526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Clr>
                <a:srgbClr val="002060"/>
              </a:buClr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【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000099"/>
                </a:highlight>
                <a:ea typeface="华文细黑" panose="02010600040101010101" pitchFamily="2" charset="-122"/>
              </a:rPr>
              <a:t>9-1】</a:t>
            </a:r>
            <a:r>
              <a:rPr lang="zh-CN" altLang="en-US" sz="2800" b="1" dirty="0">
                <a:ea typeface="华文细黑" panose="02010600040101010101" pitchFamily="2" charset="-122"/>
              </a:rPr>
              <a:t>为研究</a:t>
            </a:r>
            <a:r>
              <a:rPr lang="zh-CN" altLang="en-US" sz="2800" b="1" dirty="0">
                <a:solidFill>
                  <a:srgbClr val="FF0000"/>
                </a:solidFill>
                <a:ea typeface="华文细黑" panose="02010600040101010101" pitchFamily="2" charset="-122"/>
              </a:rPr>
              <a:t>销售收入</a:t>
            </a:r>
            <a:r>
              <a:rPr lang="zh-CN" altLang="en-US" sz="2800" b="1" dirty="0">
                <a:ea typeface="华文细黑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ea typeface="华文细黑" panose="02010600040101010101" pitchFamily="2" charset="-122"/>
              </a:rPr>
              <a:t>广告支出</a:t>
            </a:r>
            <a:r>
              <a:rPr lang="zh-CN" altLang="en-US" sz="2800" b="1" dirty="0">
                <a:ea typeface="华文细黑" panose="02010600040101010101" pitchFamily="2" charset="-122"/>
              </a:rPr>
              <a:t>之间的关系，随机抽取</a:t>
            </a:r>
            <a:r>
              <a:rPr lang="en-US" altLang="zh-CN" sz="2800" b="1" dirty="0">
                <a:ea typeface="华文细黑" panose="02010600040101010101" pitchFamily="2" charset="-122"/>
              </a:rPr>
              <a:t>20</a:t>
            </a:r>
            <a:r>
              <a:rPr lang="zh-CN" altLang="en-US" sz="2800" b="1" dirty="0">
                <a:ea typeface="华文细黑" panose="02010600040101010101" pitchFamily="2" charset="-122"/>
              </a:rPr>
              <a:t>家医药生产企业，得到它们的销售收入和广告支出的数据如表所示。绘制散点图描述销售收入与广告支出之的关系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330459" y="5611349"/>
                <a:ext cx="3294112" cy="646331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36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459" y="5611349"/>
                <a:ext cx="329411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031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变量相关性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536F16-4431-4AF1-BAC0-303864DF220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974" y="110649"/>
            <a:ext cx="7565098" cy="67473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318053" y="1686812"/>
            <a:ext cx="3651920" cy="4031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ea typeface="华文细黑" panose="02010600040101010101" pitchFamily="2" charset="-122"/>
              </a:rPr>
              <a:t>变量间的关系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正线性相关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负线性相关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完全正线性相关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完全负线性相关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非线性相关</a:t>
            </a:r>
            <a:endParaRPr lang="en-US" altLang="zh-CN" sz="3200" b="1" dirty="0"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3200" b="1" dirty="0">
                <a:ea typeface="华文细黑" panose="02010600040101010101" pitchFamily="2" charset="-122"/>
              </a:rPr>
              <a:t>不相关</a:t>
            </a:r>
            <a:endParaRPr lang="en-US" altLang="zh-CN" sz="3200" b="1" dirty="0"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59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>
                <a:ea typeface="华文细黑" panose="02010600040101010101" pitchFamily="2" charset="-122"/>
              </a:rPr>
              <a:t>Pearson</a:t>
            </a:r>
            <a:r>
              <a:rPr lang="zh-CN" altLang="en-US" b="1" dirty="0"/>
              <a:t>相关系数 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870E9B5-8640-4215-8135-D423C01C1C1F}"/>
                  </a:ext>
                </a:extLst>
              </p:cNvPr>
              <p:cNvSpPr/>
              <p:nvPr/>
            </p:nvSpPr>
            <p:spPr>
              <a:xfrm>
                <a:off x="2136959" y="2365176"/>
                <a:ext cx="5860039" cy="1254831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3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3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32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3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320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</m:e>
                              </m:nary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320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3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3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zh-CN" altLang="en-US" sz="32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870E9B5-8640-4215-8135-D423C01C1C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959" y="2365176"/>
                <a:ext cx="5860039" cy="1254831"/>
              </a:xfrm>
              <a:prstGeom prst="rect">
                <a:avLst/>
              </a:prstGeom>
              <a:blipFill>
                <a:blip r:embed="rId2"/>
                <a:stretch>
                  <a:fillRect t="-60194" b="-90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26976" y="1323324"/>
            <a:ext cx="9541566" cy="9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3200" b="1" dirty="0">
                <a:ea typeface="华文细黑" panose="02010600040101010101" pitchFamily="2" charset="-122"/>
              </a:rPr>
              <a:t>Pearson</a:t>
            </a:r>
            <a:r>
              <a:rPr lang="zh-CN" altLang="en-US" sz="3200" b="1" dirty="0"/>
              <a:t>相关系数 </a:t>
            </a:r>
            <a:endParaRPr lang="en-US" altLang="zh-CN" sz="3200" b="1" dirty="0"/>
          </a:p>
          <a:p>
            <a:pPr algn="just">
              <a:lnSpc>
                <a:spcPct val="150000"/>
              </a:lnSpc>
              <a:buClr>
                <a:srgbClr val="002060"/>
              </a:buClr>
              <a:buSzPct val="120000"/>
              <a:defRPr/>
            </a:pPr>
            <a:r>
              <a:rPr lang="zh-CN" altLang="en-US" sz="2000" dirty="0">
                <a:ea typeface="华文细黑" panose="02010600040101010101" pitchFamily="2" charset="-122"/>
              </a:rPr>
              <a:t>度量变量之间线性关系强度的一个统计量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74289" y="3865408"/>
            <a:ext cx="5622709" cy="27186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7663" indent="-357188" algn="just">
              <a:spcBef>
                <a:spcPts val="75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ea typeface="华文细黑" panose="02010600040101010101" pitchFamily="2" charset="-122"/>
              </a:rPr>
              <a:t>|r|=1</a:t>
            </a:r>
            <a:r>
              <a:rPr lang="zh-CN" altLang="en-US" sz="2400" dirty="0">
                <a:ea typeface="华文细黑" panose="02010600040101010101" pitchFamily="2" charset="-122"/>
              </a:rPr>
              <a:t>，为完全相关；</a:t>
            </a:r>
            <a:endParaRPr lang="en-US" altLang="zh-CN" sz="2400" dirty="0">
              <a:ea typeface="华文细黑" panose="02010600040101010101" pitchFamily="2" charset="-122"/>
            </a:endParaRPr>
          </a:p>
          <a:p>
            <a:pPr marL="347663" indent="-357188" algn="just">
              <a:spcBef>
                <a:spcPts val="75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ea typeface="华文细黑" panose="02010600040101010101" pitchFamily="2" charset="-122"/>
              </a:rPr>
              <a:t>r = 0</a:t>
            </a:r>
            <a:r>
              <a:rPr lang="zh-CN" altLang="en-US" sz="2400" dirty="0">
                <a:ea typeface="华文细黑" panose="02010600040101010101" pitchFamily="2" charset="-122"/>
              </a:rPr>
              <a:t>，不存在线性相关关系</a:t>
            </a:r>
            <a:endParaRPr lang="en-US" altLang="zh-CN" sz="2400" dirty="0">
              <a:ea typeface="华文细黑" panose="02010600040101010101" pitchFamily="2" charset="-122"/>
            </a:endParaRPr>
          </a:p>
          <a:p>
            <a:pPr marL="347663" indent="-357188" algn="just">
              <a:spcBef>
                <a:spcPts val="75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ea typeface="华文细黑" panose="02010600040101010101" pitchFamily="2" charset="-122"/>
              </a:rPr>
              <a:t>-1</a:t>
            </a:r>
            <a:r>
              <a:rPr lang="en-US" altLang="zh-CN" sz="2400" dirty="0">
                <a:ea typeface="华文细黑" panose="02010600040101010101" pitchFamily="2" charset="-122"/>
                <a:sym typeface="Symbol" pitchFamily="18" charset="2"/>
              </a:rPr>
              <a:t></a:t>
            </a:r>
            <a:r>
              <a:rPr lang="en-US" altLang="zh-CN" sz="2400" dirty="0">
                <a:ea typeface="华文细黑" panose="02010600040101010101" pitchFamily="2" charset="-122"/>
              </a:rPr>
              <a:t>r&lt;0</a:t>
            </a:r>
            <a:r>
              <a:rPr lang="zh-CN" altLang="en-US" sz="2400" dirty="0">
                <a:ea typeface="华文细黑" panose="02010600040101010101" pitchFamily="2" charset="-122"/>
              </a:rPr>
              <a:t>，为负相关；</a:t>
            </a:r>
            <a:endParaRPr lang="en-US" altLang="zh-CN" sz="2400" dirty="0">
              <a:ea typeface="华文细黑" panose="02010600040101010101" pitchFamily="2" charset="-122"/>
            </a:endParaRPr>
          </a:p>
          <a:p>
            <a:pPr marL="347663" indent="-357188" algn="just">
              <a:spcBef>
                <a:spcPts val="75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ea typeface="华文细黑" panose="02010600040101010101" pitchFamily="2" charset="-122"/>
              </a:rPr>
              <a:t>0</a:t>
            </a:r>
            <a:r>
              <a:rPr lang="en-US" altLang="zh-CN" sz="2400" dirty="0">
                <a:ea typeface="华文细黑" panose="02010600040101010101" pitchFamily="2" charset="-122"/>
                <a:sym typeface="Symbol" pitchFamily="18" charset="2"/>
              </a:rPr>
              <a:t>&lt;</a:t>
            </a:r>
            <a:r>
              <a:rPr lang="en-US" altLang="zh-CN" sz="2400" dirty="0">
                <a:ea typeface="华文细黑" panose="02010600040101010101" pitchFamily="2" charset="-122"/>
              </a:rPr>
              <a:t>r</a:t>
            </a:r>
            <a:r>
              <a:rPr lang="en-US" altLang="zh-CN" sz="2400" dirty="0">
                <a:ea typeface="华文细黑" panose="02010600040101010101" pitchFamily="2" charset="-122"/>
                <a:sym typeface="Symbol" pitchFamily="18" charset="2"/>
              </a:rPr>
              <a:t></a:t>
            </a:r>
            <a:r>
              <a:rPr lang="en-US" altLang="zh-CN" sz="2400" dirty="0">
                <a:ea typeface="华文细黑" panose="02010600040101010101" pitchFamily="2" charset="-122"/>
              </a:rPr>
              <a:t>1</a:t>
            </a:r>
            <a:r>
              <a:rPr lang="zh-CN" altLang="en-US" sz="2400" dirty="0">
                <a:ea typeface="华文细黑" panose="02010600040101010101" pitchFamily="2" charset="-122"/>
              </a:rPr>
              <a:t>，为正相关</a:t>
            </a:r>
            <a:endParaRPr lang="en-US" altLang="zh-CN" sz="2400" dirty="0">
              <a:ea typeface="华文细黑" panose="02010600040101010101" pitchFamily="2" charset="-122"/>
            </a:endParaRPr>
          </a:p>
          <a:p>
            <a:pPr marL="347663" indent="-357188" algn="just">
              <a:spcBef>
                <a:spcPts val="75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u"/>
              <a:defRPr/>
            </a:pPr>
            <a:r>
              <a:rPr lang="en-US" altLang="zh-CN" sz="2400" dirty="0">
                <a:ea typeface="华文细黑" panose="02010600040101010101" pitchFamily="2" charset="-122"/>
              </a:rPr>
              <a:t>|r|</a:t>
            </a:r>
            <a:r>
              <a:rPr lang="zh-CN" altLang="en-US" sz="2400" dirty="0">
                <a:ea typeface="华文细黑" panose="02010600040101010101" pitchFamily="2" charset="-122"/>
              </a:rPr>
              <a:t>越趋于</a:t>
            </a:r>
            <a:r>
              <a:rPr lang="en-US" altLang="zh-CN" sz="2400" dirty="0">
                <a:ea typeface="华文细黑" panose="02010600040101010101" pitchFamily="2" charset="-122"/>
              </a:rPr>
              <a:t>1</a:t>
            </a:r>
            <a:r>
              <a:rPr lang="zh-CN" altLang="en-US" sz="2400" dirty="0">
                <a:ea typeface="华文细黑" panose="02010600040101010101" pitchFamily="2" charset="-122"/>
              </a:rPr>
              <a:t>表示关系越强；</a:t>
            </a:r>
            <a:r>
              <a:rPr lang="en-US" altLang="zh-CN" sz="2400" dirty="0">
                <a:ea typeface="华文细黑" panose="02010600040101010101" pitchFamily="2" charset="-122"/>
              </a:rPr>
              <a:t>|r|</a:t>
            </a:r>
            <a:r>
              <a:rPr lang="zh-CN" altLang="en-US" sz="2400" dirty="0">
                <a:ea typeface="华文细黑" panose="02010600040101010101" pitchFamily="2" charset="-122"/>
              </a:rPr>
              <a:t>越趋于</a:t>
            </a:r>
            <a:r>
              <a:rPr lang="en-US" altLang="zh-CN" sz="2400" dirty="0">
                <a:ea typeface="华文细黑" panose="02010600040101010101" pitchFamily="2" charset="-122"/>
              </a:rPr>
              <a:t>0</a:t>
            </a:r>
            <a:r>
              <a:rPr lang="zh-CN" altLang="en-US" sz="2400" dirty="0">
                <a:ea typeface="华文细黑" panose="02010600040101010101" pitchFamily="2" charset="-122"/>
              </a:rPr>
              <a:t>表示关系越弱</a:t>
            </a:r>
            <a:endParaRPr lang="en-US" altLang="zh-CN" sz="2400" dirty="0"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750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一元线性回归模型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80" y="1267324"/>
            <a:ext cx="7604322" cy="515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2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ea typeface="华文细黑" panose="02010600040101010101" pitchFamily="2" charset="-122"/>
              </a:rPr>
              <a:t>       参数的最小二乘估计</a:t>
            </a:r>
            <a:endParaRPr lang="en-US" altLang="zh-CN" sz="2600" b="1" dirty="0"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E1E741D0-8190-4797-9AF6-8979704DFC0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70816" y="1761469"/>
                <a:ext cx="4765153" cy="4481126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vert="horz" lIns="90488" tIns="44450" rIns="90488" bIns="4445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 algn="just">
                  <a:lnSpc>
                    <a:spcPct val="100000"/>
                  </a:lnSpc>
                  <a:buClr>
                    <a:srgbClr val="002060"/>
                  </a:buClr>
                  <a:buSzPct val="120000"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1800" dirty="0">
                    <a:ea typeface="华文细黑" panose="02010600040101010101" pitchFamily="2" charset="-122"/>
                  </a:rPr>
                  <a:t>德国科学家</a:t>
                </a:r>
                <a:r>
                  <a:rPr lang="en-US" altLang="zh-CN" sz="1800" dirty="0">
                    <a:ea typeface="华文细黑" panose="02010600040101010101" pitchFamily="2" charset="-122"/>
                  </a:rPr>
                  <a:t>Karl Gauss(1777—1855)</a:t>
                </a:r>
                <a:r>
                  <a:rPr lang="zh-CN" altLang="en-US" sz="1800" dirty="0">
                    <a:ea typeface="华文细黑" panose="02010600040101010101" pitchFamily="2" charset="-122"/>
                  </a:rPr>
                  <a:t>提出用最小化图中垂直方向的误差平方和来估计参数 </a:t>
                </a:r>
              </a:p>
              <a:p>
                <a:pPr marL="447675" indent="-447675" algn="just">
                  <a:lnSpc>
                    <a:spcPct val="100000"/>
                  </a:lnSpc>
                  <a:buClr>
                    <a:srgbClr val="002060"/>
                  </a:buClr>
                  <a:buSzPct val="120000"/>
                  <a:buFont typeface="Wingdings" panose="05000000000000000000" pitchFamily="2" charset="2"/>
                  <a:buChar char="l"/>
                  <a:defRPr/>
                </a:pPr>
                <a:r>
                  <a:rPr lang="zh-CN" altLang="zh-CN" sz="1800" dirty="0">
                    <a:ea typeface="华文细黑" panose="02010600040101010101" pitchFamily="2" charset="-122"/>
                  </a:rPr>
                  <a:t>使因变量的观测值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华文细黑" panose="02010600040101010101" pitchFamily="2" charset="-122"/>
                  </a:rPr>
                  <a:t>与估计值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华文细黑" panose="02010600040101010101" pitchFamily="2" charset="-122"/>
                  </a:rPr>
                  <a:t>之间的离差平方和达到最小来估计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1800" dirty="0">
                    <a:ea typeface="华文细黑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18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E1E741D0-8190-4797-9AF6-8979704DF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16" y="1761469"/>
                <a:ext cx="4765153" cy="4481126"/>
              </a:xfrm>
              <a:prstGeom prst="rect">
                <a:avLst/>
              </a:prstGeom>
              <a:blipFill>
                <a:blip r:embed="rId3"/>
                <a:stretch>
                  <a:fillRect l="-1148" t="-1357" r="-1020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DD95B274-F7F2-425E-8581-A23916464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425" y="1761469"/>
            <a:ext cx="5864169" cy="4481126"/>
          </a:xfrm>
          <a:prstGeom prst="rect">
            <a:avLst/>
          </a:prstGeom>
          <a:solidFill>
            <a:schemeClr val="bg1"/>
          </a:solidFill>
          <a:ln w="3175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B92B00F-594A-4963-8CA4-8D3952A79F19}"/>
                  </a:ext>
                </a:extLst>
              </p:cNvPr>
              <p:cNvSpPr/>
              <p:nvPr/>
            </p:nvSpPr>
            <p:spPr>
              <a:xfrm>
                <a:off x="1277592" y="3357921"/>
                <a:ext cx="4181259" cy="688586"/>
              </a:xfrm>
              <a:prstGeom prst="rect">
                <a:avLst/>
              </a:prstGeom>
              <a:solidFill>
                <a:schemeClr val="accent2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16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6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zh-CN" altLang="en-US" sz="1600" b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zh-CN" altLang="en-US" sz="16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600" b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zh-CN" altLang="en-US" sz="1600" b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zh-CN" altLang="en-US" sz="16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sz="16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16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B92B00F-594A-4963-8CA4-8D3952A79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592" y="3357921"/>
                <a:ext cx="4181259" cy="6885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A37DF1E-805A-4EB5-BFD4-EEC39ABE7936}"/>
                  </a:ext>
                </a:extLst>
              </p:cNvPr>
              <p:cNvSpPr/>
              <p:nvPr/>
            </p:nvSpPr>
            <p:spPr>
              <a:xfrm>
                <a:off x="1277592" y="3982869"/>
                <a:ext cx="4181259" cy="1337033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e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  <m:r>
                        <a:rPr lang="zh-CN" altLang="en-US" sz="1400" b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A37DF1E-805A-4EB5-BFD4-EEC39ABE7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592" y="3982869"/>
                <a:ext cx="4181259" cy="13370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5D0079A-C1F7-4183-8837-985A6FC865DC}"/>
                  </a:ext>
                </a:extLst>
              </p:cNvPr>
              <p:cNvSpPr/>
              <p:nvPr/>
            </p:nvSpPr>
            <p:spPr>
              <a:xfrm>
                <a:off x="1277592" y="5345576"/>
                <a:ext cx="4181259" cy="803169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  <m:e>
                          <m:r>
                            <a:rPr lang="zh-CN" altLang="en-US" sz="1400" b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sSub>
                            <m:sSub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eqAr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5D0079A-C1F7-4183-8837-985A6FC86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592" y="5345576"/>
                <a:ext cx="4181259" cy="8031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一元线性回归</a:t>
            </a:r>
          </a:p>
        </p:txBody>
      </p:sp>
    </p:spTree>
    <p:extLst>
      <p:ext uri="{BB962C8B-B14F-4D97-AF65-F5344CB8AC3E}">
        <p14:creationId xmlns:p14="http://schemas.microsoft.com/office/powerpoint/2010/main" val="308330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最小二乘估计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75" y="867846"/>
            <a:ext cx="7851293" cy="55845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88880" y="4409814"/>
                <a:ext cx="3647602" cy="1703030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3200" b="1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32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32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3200" b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𝒙𝒚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altLang="zh-CN" sz="3200" b="1" i="1" smtClean="0">
                                      <a:latin typeface="Cambria Math" panose="02040503050406030204" pitchFamily="18" charset="0"/>
                                    </a:rPr>
                                    <m:t>𝒙𝒙</m:t>
                                  </m:r>
                                </m:sub>
                              </m:sSub>
                            </m:den>
                          </m:f>
                        </m:e>
                        <m:e>
                          <m:r>
                            <a:rPr lang="zh-CN" altLang="en-US" sz="3200" b="1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32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32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zh-CN" altLang="en-US" sz="3200" b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32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32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zh-CN" altLang="en-US" sz="3200" b="1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eqAr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80" y="4409814"/>
                <a:ext cx="3647602" cy="1703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300907" y="6137423"/>
                <a:ext cx="3698320" cy="6298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=∑</m:t>
                      </m:r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𝒏</m:t>
                      </m:r>
                      <m:acc>
                        <m:accPr>
                          <m:chr m:val="̅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07" y="6137423"/>
                <a:ext cx="3698320" cy="629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75285" y="4105717"/>
            <a:ext cx="8780662" cy="26615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483115" y="4938163"/>
            <a:ext cx="1647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背下来</a:t>
            </a:r>
          </a:p>
        </p:txBody>
      </p:sp>
    </p:spTree>
    <p:extLst>
      <p:ext uri="{BB962C8B-B14F-4D97-AF65-F5344CB8AC3E}">
        <p14:creationId xmlns:p14="http://schemas.microsoft.com/office/powerpoint/2010/main" val="4124232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最小二乘估计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146464" y="32441"/>
                <a:ext cx="5831569" cy="138499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=∑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∑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altLang="zh-CN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=∑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464" y="32441"/>
                <a:ext cx="5831569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0" y="1161678"/>
            <a:ext cx="5532290" cy="6441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56" y="1994627"/>
            <a:ext cx="3021759" cy="1404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074402" y="3756815"/>
                <a:ext cx="3461265" cy="128541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402" y="3756815"/>
                <a:ext cx="3461265" cy="1285416"/>
              </a:xfrm>
              <a:prstGeom prst="rect">
                <a:avLst/>
              </a:prstGeom>
              <a:blipFill>
                <a:blip r:embed="rId5"/>
                <a:stretch>
                  <a:fillRect l="-1228" t="-2347" b="-3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/>
          <p:cNvSpPr/>
          <p:nvPr/>
        </p:nvSpPr>
        <p:spPr>
          <a:xfrm>
            <a:off x="4311608" y="2064970"/>
            <a:ext cx="320948" cy="314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4062855" y="4653964"/>
            <a:ext cx="320948" cy="314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4311608" y="2816878"/>
            <a:ext cx="320948" cy="314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5971859" y="1893130"/>
                <a:ext cx="5436946" cy="444525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−∑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∑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∑</m:t>
                      </m:r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−∑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𝑳𝒙𝒚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𝐿𝑥𝑥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859" y="1893130"/>
                <a:ext cx="5436946" cy="4445256"/>
              </a:xfrm>
              <a:prstGeom prst="rect">
                <a:avLst/>
              </a:prstGeom>
              <a:blipFill>
                <a:blip r:embed="rId6"/>
                <a:stretch>
                  <a:fillRect l="-224" t="-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/>
          <p:cNvSpPr/>
          <p:nvPr/>
        </p:nvSpPr>
        <p:spPr>
          <a:xfrm>
            <a:off x="10931419" y="5930787"/>
            <a:ext cx="320948" cy="314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16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例题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3972BB-A179-6A09-A021-C1FEC455DA75}"/>
              </a:ext>
            </a:extLst>
          </p:cNvPr>
          <p:cNvGrpSpPr/>
          <p:nvPr/>
        </p:nvGrpSpPr>
        <p:grpSpPr>
          <a:xfrm>
            <a:off x="1400784" y="1373451"/>
            <a:ext cx="8540550" cy="5080915"/>
            <a:chOff x="1442348" y="888542"/>
            <a:chExt cx="8540550" cy="508091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2A5DFDF-0F41-81B7-EB33-A3A80BAD78F7}"/>
                </a:ext>
              </a:extLst>
            </p:cNvPr>
            <p:cNvGrpSpPr/>
            <p:nvPr/>
          </p:nvGrpSpPr>
          <p:grpSpPr>
            <a:xfrm>
              <a:off x="1442348" y="888542"/>
              <a:ext cx="8540550" cy="5080915"/>
              <a:chOff x="1442348" y="888542"/>
              <a:chExt cx="8540550" cy="5080915"/>
            </a:xfrm>
          </p:grpSpPr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E1652193-C245-9273-E5A6-A1807C60EBAA}"/>
                  </a:ext>
                </a:extLst>
              </p:cNvPr>
              <p:cNvGrpSpPr/>
              <p:nvPr/>
            </p:nvGrpSpPr>
            <p:grpSpPr>
              <a:xfrm>
                <a:off x="1442348" y="888542"/>
                <a:ext cx="8540550" cy="5080915"/>
                <a:chOff x="1442348" y="888542"/>
                <a:chExt cx="8540550" cy="5080915"/>
              </a:xfrm>
            </p:grpSpPr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42348" y="888542"/>
                  <a:ext cx="8540550" cy="5080915"/>
                </a:xfrm>
                <a:prstGeom prst="rect">
                  <a:avLst/>
                </a:prstGeom>
              </p:spPr>
            </p:pic>
            <p:pic>
              <p:nvPicPr>
                <p:cNvPr id="4" name="图片 3">
                  <a:extLst>
                    <a:ext uri="{FF2B5EF4-FFF2-40B4-BE49-F238E27FC236}">
                      <a16:creationId xmlns:a16="http://schemas.microsoft.com/office/drawing/2014/main" id="{10291AF9-88EF-2C70-8E4C-CEB7D24FAA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7123" y="2276890"/>
                  <a:ext cx="3738695" cy="342900"/>
                </a:xfrm>
                <a:prstGeom prst="rect">
                  <a:avLst/>
                </a:prstGeom>
              </p:spPr>
            </p:pic>
          </p:grpSp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2C2C0F8D-08B9-35E5-CB30-CBF4DBB37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2104" y="2303394"/>
                <a:ext cx="2292626" cy="342900"/>
              </a:xfrm>
              <a:prstGeom prst="rect">
                <a:avLst/>
              </a:prstGeom>
            </p:spPr>
          </p:pic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5FA7FD40-32C6-E30C-9C10-57B1E4DE7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5428" y="3424859"/>
                <a:ext cx="1850572" cy="342900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5F686F-5EEF-4369-F89E-4A073C93DA63}"/>
                </a:ext>
              </a:extLst>
            </p:cNvPr>
            <p:cNvSpPr txBox="1"/>
            <p:nvPr/>
          </p:nvSpPr>
          <p:spPr>
            <a:xfrm>
              <a:off x="2706773" y="3344890"/>
              <a:ext cx="536993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solidFill>
                    <a:schemeClr val="accent5">
                      <a:lumMod val="75000"/>
                    </a:schemeClr>
                  </a:solidFill>
                </a:rPr>
                <a:t>误差平方和</a:t>
              </a:r>
              <a:r>
                <a:rPr kumimoji="1" lang="en-US" altLang="zh-CN" dirty="0">
                  <a:solidFill>
                    <a:schemeClr val="accent5">
                      <a:lumMod val="75000"/>
                    </a:schemeClr>
                  </a:solidFill>
                </a:rPr>
                <a:t>SSE</a:t>
              </a:r>
              <a:r>
                <a:rPr kumimoji="1" lang="zh-CN" altLang="en-US" dirty="0">
                  <a:solidFill>
                    <a:schemeClr val="accent5">
                      <a:lumMod val="75000"/>
                    </a:schemeClr>
                  </a:solidFill>
                </a:rPr>
                <a:t>，</a:t>
              </a:r>
              <a:r>
                <a:rPr kumimoji="1" lang="en-US" altLang="zh-CN" dirty="0">
                  <a:solidFill>
                    <a:schemeClr val="accent5">
                      <a:lumMod val="75000"/>
                    </a:schemeClr>
                  </a:solidFill>
                </a:rPr>
                <a:t>R</a:t>
              </a:r>
              <a:r>
                <a:rPr kumimoji="1" lang="en-US" altLang="zh-CN" baseline="30000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  <a:r>
                <a:rPr kumimoji="1" lang="zh-CN" altLang="en-US" dirty="0">
                  <a:solidFill>
                    <a:schemeClr val="accent5">
                      <a:lumMod val="75000"/>
                    </a:schemeClr>
                  </a:solidFill>
                </a:rPr>
                <a:t>值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5D0079A-C1F7-4183-8837-985A6FC865DC}"/>
                  </a:ext>
                </a:extLst>
              </p:cNvPr>
              <p:cNvSpPr/>
              <p:nvPr/>
            </p:nvSpPr>
            <p:spPr>
              <a:xfrm>
                <a:off x="6479378" y="127790"/>
                <a:ext cx="5474434" cy="110767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000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2000" b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acc>
                                <m:accPr>
                                  <m:chr m:val="̅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zh-CN" altLang="en-US" sz="2000" b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zh-CN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2000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zh-CN" altLang="en-US" sz="2000" b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  <m:e>
                          <m:r>
                            <a:rPr lang="zh-CN" altLang="en-US" sz="2000" b="1" smtClean="0">
                              <a:latin typeface="Cambria Math" panose="02040503050406030204" pitchFamily="18" charset="0"/>
                            </a:rPr>
                            <m:t>&amp;</m:t>
                          </m:r>
                          <m:sSub>
                            <m:sSubPr>
                              <m:ctrlPr>
                                <a:rPr lang="zh-CN" alt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000" b="1" i="1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000" b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e>
                      </m:eqAr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5D0079A-C1F7-4183-8837-985A6FC86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378" y="127790"/>
                <a:ext cx="5474434" cy="1107676"/>
              </a:xfrm>
              <a:prstGeom prst="rect">
                <a:avLst/>
              </a:prstGeom>
              <a:blipFill>
                <a:blip r:embed="rId4"/>
                <a:stretch>
                  <a:fillRect t="-40659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670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ea typeface="华文细黑" panose="02010600040101010101" pitchFamily="2" charset="-122"/>
              </a:rPr>
              <a:t>       一元线性回归建模</a:t>
            </a:r>
            <a:r>
              <a:rPr lang="en-US" altLang="zh-CN" sz="2600" b="1" dirty="0"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ea typeface="华文细黑" panose="02010600040101010101" pitchFamily="2" charset="-122"/>
              </a:rPr>
              <a:t>拟合优度</a:t>
            </a:r>
            <a:r>
              <a:rPr lang="en-US" altLang="zh-CN" sz="2600" b="1" dirty="0"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ea typeface="华文细黑" panose="02010600040101010101" pitchFamily="2" charset="-122"/>
              </a:rPr>
              <a:t>误差分解</a:t>
            </a:r>
            <a:endParaRPr lang="en-US" altLang="zh-CN" sz="2600" b="1" dirty="0">
              <a:ea typeface="华文细黑" panose="0201060004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8DAE2E3-92FD-4882-A34F-7F2E5DD83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77" y="3492893"/>
            <a:ext cx="3752983" cy="3318547"/>
          </a:xfrm>
          <a:prstGeom prst="rect">
            <a:avLst/>
          </a:prstGeom>
          <a:solidFill>
            <a:schemeClr val="bg1"/>
          </a:solidFill>
          <a:ln w="3175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/>
              <p:nvPr/>
            </p:nvSpPr>
            <p:spPr>
              <a:xfrm>
                <a:off x="931434" y="5683346"/>
                <a:ext cx="4945209" cy="639983"/>
              </a:xfrm>
              <a:prstGeom prst="rect">
                <a:avLst/>
              </a:prstGeom>
              <a:solidFill>
                <a:schemeClr val="accent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总平方和（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𝑺𝑺𝑻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回归平方和（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𝑺𝑺𝑹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残差平方和（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effectLst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434" y="5683346"/>
                <a:ext cx="4945209" cy="639983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误差分析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88040" y="2680972"/>
                <a:ext cx="8638524" cy="1414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∑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=∑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2800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=∑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∑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0" y="2680972"/>
                <a:ext cx="8638524" cy="1414233"/>
              </a:xfrm>
              <a:prstGeom prst="rect">
                <a:avLst/>
              </a:prstGeom>
              <a:blipFill>
                <a:blip r:embed="rId5"/>
                <a:stretch>
                  <a:fillRect l="-881" b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/>
              <p:nvPr/>
            </p:nvSpPr>
            <p:spPr>
              <a:xfrm>
                <a:off x="2941808" y="4094520"/>
                <a:ext cx="1772955" cy="646331"/>
              </a:xfrm>
              <a:prstGeom prst="rect">
                <a:avLst/>
              </a:prstGeom>
              <a:solidFill>
                <a:srgbClr val="FFCC6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回归平方和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effectLst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808" y="4094520"/>
                <a:ext cx="1772955" cy="646331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/>
              <p:nvPr/>
            </p:nvSpPr>
            <p:spPr>
              <a:xfrm>
                <a:off x="475717" y="4121852"/>
                <a:ext cx="2023070" cy="646331"/>
              </a:xfrm>
              <a:prstGeom prst="rect">
                <a:avLst/>
              </a:prstGeom>
              <a:solidFill>
                <a:srgbClr val="FFCC6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误差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1" i="1">
                          <a:latin typeface="Cambria Math" panose="02040503050406030204" pitchFamily="18" charset="0"/>
                        </a:rPr>
                        <m:t>残差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平方和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zh-CN" altLang="en-US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effectLst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17" y="4121852"/>
                <a:ext cx="2023070" cy="646331"/>
              </a:xfrm>
              <a:prstGeom prst="rect">
                <a:avLst/>
              </a:prstGeom>
              <a:blipFill>
                <a:blip r:embed="rId7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/>
              <p:nvPr/>
            </p:nvSpPr>
            <p:spPr>
              <a:xfrm>
                <a:off x="781875" y="2006916"/>
                <a:ext cx="1772955" cy="707886"/>
              </a:xfrm>
              <a:prstGeom prst="rect">
                <a:avLst/>
              </a:prstGeom>
              <a:solidFill>
                <a:srgbClr val="FFCC6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latin typeface="Cambria Math" panose="02040503050406030204" pitchFamily="18" charset="0"/>
                        </a:rPr>
                        <m:t>总平方和</m:t>
                      </m:r>
                    </m:oMath>
                  </m:oMathPara>
                </a14:m>
                <a:endParaRPr lang="en-US" altLang="zh-CN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0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𝑺𝑺</m:t>
                      </m:r>
                      <m:r>
                        <a:rPr lang="en-US" altLang="zh-CN" sz="2000" b="1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𝐓</m:t>
                      </m:r>
                      <m:r>
                        <a:rPr lang="zh-CN" altLang="en-US" sz="2000" b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zh-CN" altLang="en-US" sz="2000" b="1" dirty="0">
                  <a:solidFill>
                    <a:schemeClr val="tx1"/>
                  </a:solidFill>
                  <a:effectLst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75" y="2006916"/>
                <a:ext cx="1772955" cy="707886"/>
              </a:xfrm>
              <a:prstGeom prst="rect">
                <a:avLst/>
              </a:prstGeom>
              <a:blipFill>
                <a:blip r:embed="rId8"/>
                <a:stretch>
                  <a:fillRect b="-4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/>
              <p:nvPr/>
            </p:nvSpPr>
            <p:spPr>
              <a:xfrm>
                <a:off x="5466082" y="4144111"/>
                <a:ext cx="1772955" cy="369332"/>
              </a:xfrm>
              <a:prstGeom prst="rect">
                <a:avLst/>
              </a:prstGeom>
              <a:solidFill>
                <a:srgbClr val="FFCC66"/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 dirty="0">
                  <a:solidFill>
                    <a:schemeClr val="tx1"/>
                  </a:solidFill>
                  <a:effectLst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9AF255-B5FF-43FF-A696-2A323A6E0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82" y="4144111"/>
                <a:ext cx="177295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940041" y="1836019"/>
                <a:ext cx="5251959" cy="160358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b="1" dirty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</m:oMath>
                </a14:m>
                <a:endParaRPr lang="en-US" altLang="zh-CN" b="1" dirty="0"/>
              </a:p>
              <a:p>
                <a:r>
                  <a:rPr lang="en-US" altLang="zh-CN" b="1" dirty="0"/>
                  <a:t>=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e>
                    </m:d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</m:d>
                  </m:oMath>
                </a14:m>
                <a:endParaRPr lang="en-US" altLang="zh-CN" b="1" dirty="0"/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=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(∑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dirty="0"/>
                  <a:t>-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b="1" i="1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b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CN" dirty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041" y="1836019"/>
                <a:ext cx="5251959" cy="1603581"/>
              </a:xfrm>
              <a:prstGeom prst="rect">
                <a:avLst/>
              </a:prstGeom>
              <a:blipFill>
                <a:blip r:embed="rId10"/>
                <a:stretch>
                  <a:fillRect l="-721" b="-39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A37DF1E-805A-4EB5-BFD4-EEC39ABE7936}"/>
                  </a:ext>
                </a:extLst>
              </p:cNvPr>
              <p:cNvSpPr/>
              <p:nvPr/>
            </p:nvSpPr>
            <p:spPr>
              <a:xfrm>
                <a:off x="7722701" y="12280"/>
                <a:ext cx="4181259" cy="18169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>
                                                  <a:latin typeface="Cambria Math" panose="020405030504060302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  <m:e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"/>
                                      <m:endChr m:val="|"/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𝑸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𝛛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1400" b="1"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1400" b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zh-CN" altLang="en-US" sz="14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zh-CN" altLang="en-US" sz="1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b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zh-CN" altLang="en-US" sz="1400" b="1" i="1">
                                                  <a:latin typeface="Cambria Math" panose="02040503050406030204" pitchFamily="18" charset="0"/>
                                                </a:rPr>
                                                <m:t>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zh-CN" altLang="en-US" sz="1400" b="1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b="1" i="1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1400" b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  <m:r>
                        <a:rPr lang="zh-CN" altLang="en-US" sz="1400" b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1400" b="1" dirty="0"/>
              </a:p>
              <a:p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zh-CN" altLang="en-US" sz="1400" b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sSub>
                        <m:sSubPr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4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  <m:sub>
                          <m:r>
                            <a:rPr lang="zh-CN" altLang="en-US" sz="1400" b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zh-CN" alt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sz="14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A37DF1E-805A-4EB5-BFD4-EEC39ABE7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701" y="12280"/>
                <a:ext cx="4181259" cy="1816972"/>
              </a:xfrm>
              <a:prstGeom prst="rect">
                <a:avLst/>
              </a:prstGeom>
              <a:blipFill>
                <a:blip r:embed="rId11"/>
                <a:stretch>
                  <a:fillRect l="-3625" t="-51034" b="-517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下箭头 4"/>
          <p:cNvSpPr/>
          <p:nvPr/>
        </p:nvSpPr>
        <p:spPr>
          <a:xfrm rot="2270858">
            <a:off x="6543033" y="2899402"/>
            <a:ext cx="252826" cy="5566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1B6B99-960E-8B30-E7CA-A7B2E80C99A4}"/>
              </a:ext>
            </a:extLst>
          </p:cNvPr>
          <p:cNvSpPr txBox="1"/>
          <p:nvPr/>
        </p:nvSpPr>
        <p:spPr>
          <a:xfrm>
            <a:off x="3036893" y="4823428"/>
            <a:ext cx="1772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Sum of Squares of Regression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A0888C-CFEA-4C80-A959-1E21AA42271E}"/>
              </a:ext>
            </a:extLst>
          </p:cNvPr>
          <p:cNvSpPr txBox="1"/>
          <p:nvPr/>
        </p:nvSpPr>
        <p:spPr>
          <a:xfrm>
            <a:off x="725832" y="4823427"/>
            <a:ext cx="1772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Sum of Squares of Error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01C83F-5A84-B9D0-FCEA-F2E56302544B}"/>
              </a:ext>
            </a:extLst>
          </p:cNvPr>
          <p:cNvSpPr txBox="1"/>
          <p:nvPr/>
        </p:nvSpPr>
        <p:spPr>
          <a:xfrm>
            <a:off x="2554830" y="2173538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Total Sum of Square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69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1F53-698B-B73E-BA16-3E8283BC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R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决定系数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C24A065-0530-86C3-A8E5-4EA7B3A81498}"/>
                  </a:ext>
                </a:extLst>
              </p:cNvPr>
              <p:cNvSpPr/>
              <p:nvPr/>
            </p:nvSpPr>
            <p:spPr>
              <a:xfrm>
                <a:off x="2604469" y="5051137"/>
                <a:ext cx="4578209" cy="67056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zh-CN" altLang="en-US" sz="2000" b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0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𝑺𝑺𝑹</m:t>
                          </m:r>
                        </m:num>
                        <m:den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  <m:r>
                        <a:rPr lang="zh-CN" altLang="en-US" sz="20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𝑺𝑺𝑻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𝑺𝑺𝑬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𝑺𝑺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zh-CN" altLang="en-US" sz="2000" b="1" i="1"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</m:oMath>
                  </m:oMathPara>
                </a14:m>
                <a:endParaRPr lang="en-US" altLang="zh-CN" sz="2000" b="1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C24A065-0530-86C3-A8E5-4EA7B3A814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469" y="5051137"/>
                <a:ext cx="4578209" cy="670568"/>
              </a:xfrm>
              <a:prstGeom prst="rect">
                <a:avLst/>
              </a:prstGeom>
              <a:blipFill>
                <a:blip r:embed="rId2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DE9848-690A-AEFC-3242-1562793C8003}"/>
                  </a:ext>
                </a:extLst>
              </p:cNvPr>
              <p:cNvSpPr txBox="1"/>
              <p:nvPr/>
            </p:nvSpPr>
            <p:spPr>
              <a:xfrm>
                <a:off x="324678" y="1555396"/>
                <a:ext cx="6858000" cy="321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47675" indent="-447675" algn="just">
                  <a:lnSpc>
                    <a:spcPct val="100000"/>
                  </a:lnSpc>
                  <a:buClr>
                    <a:srgbClr val="002060"/>
                  </a:buClr>
                  <a:buSzPct val="120000"/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800" b="1" dirty="0">
                    <a:ea typeface="华文细黑" panose="02010600040101010101" pitchFamily="2" charset="-122"/>
                  </a:rPr>
                  <a:t>回归平方和占总误差平方和的比例</a:t>
                </a: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800" b="1" dirty="0">
                    <a:ea typeface="华文细黑" panose="02010600040101010101" pitchFamily="2" charset="-122"/>
                  </a:rPr>
                  <a:t>反映回归直线的拟合程度</a:t>
                </a: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800" b="1" dirty="0">
                    <a:ea typeface="华文细黑" panose="02010600040101010101" pitchFamily="2" charset="-122"/>
                  </a:rPr>
                  <a:t>取值范围在 </a:t>
                </a:r>
                <a:r>
                  <a:rPr lang="en-US" altLang="zh-CN" sz="2800" b="1" dirty="0">
                    <a:ea typeface="华文细黑" panose="02010600040101010101" pitchFamily="2" charset="-122"/>
                  </a:rPr>
                  <a:t>[ 0 , 1 ] </a:t>
                </a:r>
                <a:r>
                  <a:rPr lang="zh-CN" altLang="en-US" sz="2800" b="1" dirty="0">
                    <a:ea typeface="华文细黑" panose="02010600040101010101" pitchFamily="2" charset="-122"/>
                  </a:rPr>
                  <a:t>之间</a:t>
                </a: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>
                    <a:ea typeface="华文细黑" panose="02010600040101010101" pitchFamily="2" charset="-122"/>
                    <a:sym typeface="Symbol" pitchFamily="18" charset="2"/>
                  </a:rPr>
                  <a:t>1</a:t>
                </a:r>
                <a:r>
                  <a:rPr lang="zh-CN" altLang="en-US" sz="2800" b="1" dirty="0">
                    <a:ea typeface="华文细黑" panose="02010600040101010101" pitchFamily="2" charset="-122"/>
                    <a:sym typeface="Symbol" pitchFamily="18" charset="2"/>
                  </a:rPr>
                  <a:t>，说明回归方程拟合的越好；</a:t>
                </a:r>
                <a:endParaRPr lang="en-US" altLang="zh-CN" sz="2800" b="1" dirty="0">
                  <a:ea typeface="华文细黑" panose="02010600040101010101" pitchFamily="2" charset="-122"/>
                  <a:sym typeface="Symbol" pitchFamily="18" charset="2"/>
                </a:endParaRP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𝟐</m:t>
                        </m:r>
                      </m:sup>
                    </m:sSup>
                    <m:r>
                      <a:rPr lang="en-US" altLang="zh-CN" sz="2800" b="1" i="1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sz="2800" b="1" dirty="0">
                    <a:ea typeface="华文细黑" panose="02010600040101010101" pitchFamily="2" charset="-122"/>
                    <a:sym typeface="Symbol" pitchFamily="18" charset="2"/>
                  </a:rPr>
                  <a:t>0</a:t>
                </a:r>
                <a:r>
                  <a:rPr lang="zh-CN" altLang="en-US" sz="2800" b="1" dirty="0">
                    <a:ea typeface="华文细黑" panose="02010600040101010101" pitchFamily="2" charset="-122"/>
                    <a:sym typeface="Symbol" pitchFamily="18" charset="2"/>
                  </a:rPr>
                  <a:t>，说明回归方程拟合的越差</a:t>
                </a: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2800" b="1" dirty="0">
                    <a:ea typeface="华文细黑" panose="02010600040101010101" pitchFamily="2" charset="-122"/>
                    <a:sym typeface="Symbol" pitchFamily="18" charset="2"/>
                  </a:rPr>
                  <a:t>决定系数平方根等于相关系数</a:t>
                </a:r>
                <a:endParaRPr lang="zh-CN" altLang="en-US" sz="2800" b="1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DDE9848-690A-AEFC-3242-1562793C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678" y="1555396"/>
                <a:ext cx="6858000" cy="3210110"/>
              </a:xfrm>
              <a:prstGeom prst="rect">
                <a:avLst/>
              </a:prstGeom>
              <a:blipFill>
                <a:blip r:embed="rId3"/>
                <a:stretch>
                  <a:fillRect l="-2218" t="-3937" r="-370" b="-3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020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回归误差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87022" y="1405462"/>
                <a:ext cx="6807200" cy="392171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平均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绝对误差（</a:t>
                </a:r>
                <a:r>
                  <a:rPr lang="en-US" altLang="zh-CN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Mean Absolute Error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MAE</a:t>
                </a:r>
                <a:r>
                  <a:rPr lang="zh-CN" altLang="en-US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∑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均方误差（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Mean Squared Error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MSE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𝑀𝐴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zh-CN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均方根误差（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Root Mean Squared Error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RMSE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altLang="zh-CN" sz="2000" b="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000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决定系数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d>
                      <m:d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𝑅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qua</m:t>
                        </m:r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sz="2000" b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：仅适用于线性回归模型</a:t>
                </a:r>
                <a:endParaRPr lang="en-US" altLang="zh-CN" sz="2000" b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zh-CN" altLang="en-US" sz="20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zh-CN" alt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𝑺𝑺</m:t>
                          </m:r>
                          <m:r>
                            <a:rPr lang="en-US" altLang="zh-CN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𝑺𝑺𝑻</m:t>
                          </m:r>
                        </m:den>
                      </m:f>
                      <m:r>
                        <a:rPr lang="zh-CN" alt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zh-CN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sz="20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zh-CN" alt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000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en-US" sz="2000" b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0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000" b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000" b="1" dirty="0">
                  <a:solidFill>
                    <a:srgbClr val="FF0000"/>
                  </a:solidFill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22" y="1405462"/>
                <a:ext cx="6807200" cy="3921715"/>
              </a:xfrm>
              <a:prstGeom prst="rect">
                <a:avLst/>
              </a:prstGeom>
              <a:blipFill>
                <a:blip r:embed="rId2"/>
                <a:stretch>
                  <a:fillRect l="-558" t="-643" b="-17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8393288" y="5960533"/>
            <a:ext cx="2968978" cy="581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7986888" y="4572000"/>
            <a:ext cx="3911601" cy="112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7986888" y="1930399"/>
            <a:ext cx="0" cy="26416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8393288" y="2088444"/>
            <a:ext cx="2839156" cy="2122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9435987" y="3436116"/>
                <a:ext cx="12135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>
                        <a:lumMod val="50000"/>
                      </a:schemeClr>
                    </a:solidFill>
                  </a:rPr>
                  <a:t>预测值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b="1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987" y="3436116"/>
                <a:ext cx="1213554" cy="369332"/>
              </a:xfrm>
              <a:prstGeom prst="rect">
                <a:avLst/>
              </a:prstGeom>
              <a:blipFill>
                <a:blip r:embed="rId3"/>
                <a:stretch>
                  <a:fillRect l="-4523" t="-10000" r="-11558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椭圆 19"/>
          <p:cNvSpPr/>
          <p:nvPr/>
        </p:nvSpPr>
        <p:spPr>
          <a:xfrm>
            <a:off x="9356965" y="3236958"/>
            <a:ext cx="182644" cy="199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9344665" y="2533551"/>
            <a:ext cx="182644" cy="19915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21" idx="4"/>
            <a:endCxn id="20" idx="0"/>
          </p:cNvCxnSpPr>
          <p:nvPr/>
        </p:nvCxnSpPr>
        <p:spPr>
          <a:xfrm>
            <a:off x="9435987" y="2732708"/>
            <a:ext cx="12300" cy="50425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左大括号 23"/>
          <p:cNvSpPr/>
          <p:nvPr/>
        </p:nvSpPr>
        <p:spPr>
          <a:xfrm>
            <a:off x="9321748" y="2732708"/>
            <a:ext cx="45719" cy="5042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543121" y="2800167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9344606" y="2058872"/>
                <a:ext cx="13049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理论值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606" y="2058872"/>
                <a:ext cx="1304935" cy="369332"/>
              </a:xfrm>
              <a:prstGeom prst="rect">
                <a:avLst/>
              </a:prstGeom>
              <a:blipFill>
                <a:blip r:embed="rId4"/>
                <a:stretch>
                  <a:fillRect l="-420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/>
          <p:cNvCxnSpPr>
            <a:stCxn id="31" idx="1"/>
          </p:cNvCxnSpPr>
          <p:nvPr/>
        </p:nvCxnSpPr>
        <p:spPr>
          <a:xfrm flipH="1" flipV="1">
            <a:off x="6089301" y="5415335"/>
            <a:ext cx="571496" cy="304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660797" y="5396279"/>
            <a:ext cx="3069358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仅适用于线性回归模型通常</a:t>
            </a:r>
            <a:endParaRPr lang="en-US" altLang="zh-CN" dirty="0"/>
          </a:p>
          <a:p>
            <a:r>
              <a:rPr lang="en-US" altLang="zh-CN" dirty="0"/>
              <a:t>0-1</a:t>
            </a:r>
            <a:r>
              <a:rPr lang="zh-CN" altLang="en-US" dirty="0"/>
              <a:t>之间越大越好</a:t>
            </a:r>
          </a:p>
        </p:txBody>
      </p:sp>
    </p:spTree>
    <p:extLst>
      <p:ext uri="{BB962C8B-B14F-4D97-AF65-F5344CB8AC3E}">
        <p14:creationId xmlns:p14="http://schemas.microsoft.com/office/powerpoint/2010/main" val="293466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例题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9969A00-F186-156C-81BE-622016CFD338}"/>
              </a:ext>
            </a:extLst>
          </p:cNvPr>
          <p:cNvGrpSpPr/>
          <p:nvPr/>
        </p:nvGrpSpPr>
        <p:grpSpPr>
          <a:xfrm>
            <a:off x="1771758" y="1040800"/>
            <a:ext cx="6391581" cy="4021530"/>
            <a:chOff x="1442348" y="888542"/>
            <a:chExt cx="8540550" cy="508091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0D91280-B48A-8717-F18D-2D31B0528F97}"/>
                </a:ext>
              </a:extLst>
            </p:cNvPr>
            <p:cNvGrpSpPr/>
            <p:nvPr/>
          </p:nvGrpSpPr>
          <p:grpSpPr>
            <a:xfrm>
              <a:off x="1442348" y="888542"/>
              <a:ext cx="8540550" cy="5080915"/>
              <a:chOff x="1442348" y="888542"/>
              <a:chExt cx="8540550" cy="5080915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DB5E077C-0609-4980-7AB5-2249EAC46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42348" y="888542"/>
                <a:ext cx="8540550" cy="5080915"/>
              </a:xfrm>
              <a:prstGeom prst="rect">
                <a:avLst/>
              </a:prstGeom>
            </p:spPr>
          </p:pic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65225205-F712-DCDF-8C36-092896466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7123" y="2276890"/>
                <a:ext cx="1960493" cy="342900"/>
              </a:xfrm>
              <a:prstGeom prst="rect">
                <a:avLst/>
              </a:prstGeom>
            </p:spPr>
          </p:pic>
        </p:grp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A219876-C01D-AF36-D64C-83A1B5742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2104" y="2303394"/>
              <a:ext cx="2292626" cy="34290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DBD15B4-08DE-9405-0CB7-49B7DFC43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5428" y="3424859"/>
              <a:ext cx="1850572" cy="3429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09984CE-0ECB-A5ED-C583-0D93B8A5DEA0}"/>
                  </a:ext>
                </a:extLst>
              </p:cNvPr>
              <p:cNvSpPr txBox="1"/>
              <p:nvPr/>
            </p:nvSpPr>
            <p:spPr>
              <a:xfrm>
                <a:off x="901148" y="5062330"/>
                <a:ext cx="10813774" cy="183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i="1" smtClean="0">
                          <a:latin typeface="Cambria Math" panose="02040503050406030204" pitchFamily="18" charset="0"/>
                        </a:rPr>
                        <m:t>SST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=∑</m:t>
                      </m:r>
                      <m:sSup>
                        <m:sSup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8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800" b="1" i="1" smtClean="0">
                              <a:latin typeface="Cambria Math" panose="02040503050406030204" pitchFamily="18" charset="0"/>
                            </a:rPr>
                            <m:t>𝒚𝒚</m:t>
                          </m:r>
                        </m:sub>
                      </m:sSub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𝟏𝟕𝟑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sz="1800" b="1" dirty="0"/>
                  <a:t>SSE = 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1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zh-CN" sz="1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zh-CN" sz="18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sz="1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dirty="0"/>
                        <m:t> (9.84−9.75)</m:t>
                      </m:r>
                      <m:r>
                        <m:rPr>
                          <m:nor/>
                        </m:rPr>
                        <a:rPr lang="en-US" altLang="zh-CN" baseline="30000" dirty="0"/>
                        <m:t>2</m:t>
                      </m:r>
                      <m:r>
                        <m:rPr>
                          <m:nor/>
                        </m:rPr>
                        <a:rPr lang="en-US" altLang="zh-CN" dirty="0"/>
                        <m:t>+(10.85−10.81)</m:t>
                      </m:r>
                      <m:r>
                        <m:rPr>
                          <m:nor/>
                        </m:rPr>
                        <a:rPr lang="en-US" altLang="zh-CN" baseline="30000" dirty="0"/>
                        <m:t>2</m:t>
                      </m:r>
                      <m:r>
                        <m:rPr>
                          <m:nor/>
                        </m:rPr>
                        <a:rPr lang="en-US" altLang="zh-CN" dirty="0"/>
                        <m:t>+(11.85−12.07)</m:t>
                      </m:r>
                      <m:r>
                        <m:rPr>
                          <m:nor/>
                        </m:rPr>
                        <a:rPr lang="en-US" altLang="zh-CN" baseline="30000" dirty="0"/>
                        <m:t>2</m:t>
                      </m:r>
                      <m:r>
                        <m:rPr>
                          <m:nor/>
                        </m:rPr>
                        <a:rPr lang="en-US" altLang="zh-CN" dirty="0"/>
                        <m:t>+(12.86−12.88)</m:t>
                      </m:r>
                      <m:r>
                        <m:rPr>
                          <m:nor/>
                        </m:rPr>
                        <a:rPr lang="en-US" altLang="zh-CN" baseline="30000" dirty="0"/>
                        <m:t>2</m:t>
                      </m:r>
                      <m:r>
                        <m:rPr>
                          <m:nor/>
                        </m:rPr>
                        <a:rPr lang="en-US" altLang="zh-CN" dirty="0"/>
                        <m:t>+(13.74−13.86)</m:t>
                      </m:r>
                      <m:r>
                        <m:rPr>
                          <m:nor/>
                        </m:rPr>
                        <a:rPr lang="en-US" altLang="zh-CN" baseline="30000" dirty="0"/>
                        <m:t>2</m:t>
                      </m:r>
                      <m:r>
                        <m:rPr>
                          <m:nor/>
                        </m:rPr>
                        <a:rPr lang="en-US" altLang="zh-CN" dirty="0"/>
                        <m:t>=0.07275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𝑆𝑆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10.173−0.07275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10.173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=0.9928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=0.9964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09984CE-0ECB-A5ED-C583-0D93B8A5D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48" y="5062330"/>
                <a:ext cx="10813774" cy="1839927"/>
              </a:xfrm>
              <a:prstGeom prst="rect">
                <a:avLst/>
              </a:prstGeom>
              <a:blipFill>
                <a:blip r:embed="rId4"/>
                <a:stretch>
                  <a:fillRect l="-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649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AF3CC82-FAD7-6B12-C214-187021361FE1}"/>
              </a:ext>
            </a:extLst>
          </p:cNvPr>
          <p:cNvGrpSpPr/>
          <p:nvPr/>
        </p:nvGrpSpPr>
        <p:grpSpPr>
          <a:xfrm>
            <a:off x="1046540" y="1286202"/>
            <a:ext cx="8690401" cy="4101206"/>
            <a:chOff x="1424366" y="1249257"/>
            <a:chExt cx="8690401" cy="410120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4366" y="1249257"/>
              <a:ext cx="8543925" cy="214312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978" y="3312113"/>
              <a:ext cx="8543925" cy="203835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4729C24-97D1-DFE8-7FF6-3918ED2DE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79852" y="3465619"/>
              <a:ext cx="6534915" cy="5226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3525ABE-2DFC-4D6C-2491-29A6F6826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6107" y="4664941"/>
              <a:ext cx="1929893" cy="5226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0739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17033" y="2192289"/>
            <a:ext cx="56965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/>
              <a:t>Part Two</a:t>
            </a:r>
          </a:p>
          <a:p>
            <a:pPr algn="ctr"/>
            <a:r>
              <a:rPr lang="zh-CN" altLang="en-US" sz="6000" b="1" dirty="0"/>
              <a:t>多元线性回归</a:t>
            </a:r>
          </a:p>
        </p:txBody>
      </p:sp>
    </p:spTree>
    <p:extLst>
      <p:ext uri="{BB962C8B-B14F-4D97-AF65-F5344CB8AC3E}">
        <p14:creationId xmlns:p14="http://schemas.microsoft.com/office/powerpoint/2010/main" val="239728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93035" y="1651318"/>
                <a:ext cx="5595730" cy="4481126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vert="horz" lIns="90488" tIns="44450" rIns="90488" bIns="44450" rtlCol="0">
                <a:normAutofit lnSpcReduction="1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Clr>
                    <a:srgbClr val="002060"/>
                  </a:buClr>
                  <a:buNone/>
                  <a:defRPr/>
                </a:pPr>
                <a:r>
                  <a:rPr lang="zh-CN" altLang="zh-CN" sz="16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【例</a:t>
                </a:r>
                <a:r>
                  <a:rPr lang="en-US" altLang="zh-CN" sz="16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10-1</a:t>
                </a:r>
                <a:r>
                  <a:rPr lang="zh-CN" altLang="zh-CN" sz="16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】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(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数据：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example10_1.csv)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餐馆的营业额受多种因素影响，比如客流量、价格、交通便捷程度、服务水平、同业竞争者的数量等等。为分析营业额的影响因素，一家市场调查公司在某城市随机抽取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25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家餐馆，调查得到的有关数据如表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10-1 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所示。其中：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𝑦</m:t>
                    </m:r>
                    <m:r>
                      <a:rPr lang="en-US" altLang="zh-CN" sz="1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 </m:t>
                    </m:r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日均营业额（万元）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周边居民人数（万人）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用餐平均支出（元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/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人）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周边居民月平均收入（元）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周边餐馆数（个）</a:t>
                </a: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1600" dirty="0">
                    <a:ea typeface="华文细黑" panose="02010600040101010101" pitchFamily="2" charset="-122"/>
                  </a:rPr>
                  <a:t>=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距市中心距离（</a:t>
                </a:r>
                <a:r>
                  <a:rPr lang="en-US" altLang="zh-CN" sz="1600" dirty="0">
                    <a:ea typeface="华文细黑" panose="02010600040101010101" pitchFamily="2" charset="-122"/>
                  </a:rPr>
                  <a:t>km</a:t>
                </a:r>
                <a:r>
                  <a:rPr lang="zh-CN" altLang="zh-CN" sz="1600" dirty="0">
                    <a:ea typeface="华文细黑" panose="02010600040101010101" pitchFamily="2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35" y="1651318"/>
                <a:ext cx="5595730" cy="4481126"/>
              </a:xfrm>
              <a:prstGeom prst="rect">
                <a:avLst/>
              </a:prstGeom>
              <a:blipFill>
                <a:blip r:embed="rId3"/>
                <a:stretch>
                  <a:fillRect l="-452" r="-452" b="-282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3889A398-46A5-4291-8FDB-8195E8DA1EB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17143" y="1770948"/>
              <a:ext cx="4809544" cy="4481128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7780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8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892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7892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400" dirty="0">
                              <a:effectLst/>
                            </a:rPr>
                            <a:t>餐馆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53.2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163.0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168.6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6004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2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22.5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209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16.0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88.2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109.4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1919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84.7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151.6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277.0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7287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7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79.1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5311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6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60.4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93.0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6109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3.6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7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53.2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21.5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4057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27.3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114.5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4161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9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48.7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61.3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2166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672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23.9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142.8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129.8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11125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8745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3889A398-46A5-4291-8FDB-8195E8DA1E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2644986"/>
                  </p:ext>
                </p:extLst>
              </p:nvPr>
            </p:nvGraphicFramePr>
            <p:xfrm>
              <a:off x="6617143" y="1770948"/>
              <a:ext cx="4809544" cy="4481128"/>
            </p:xfrm>
            <a:graphic>
              <a:graphicData uri="http://schemas.openxmlformats.org/drawingml/2006/table">
                <a:tbl>
                  <a:tblPr>
                    <a:tableStyleId>{BDBED569-4797-4DF1-A0F4-6AAB3CD982D8}</a:tableStyleId>
                  </a:tblPr>
                  <a:tblGrid>
                    <a:gridCol w="7780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8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892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782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7892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CN" sz="1400" dirty="0">
                              <a:effectLst/>
                            </a:rPr>
                            <a:t>餐馆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122857" t="-1724" r="-532381" b="-11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210811" t="-1724" r="-403604" b="-11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308036" t="-1724" r="-300000" b="-11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411712" t="-1724" r="-202703" b="-11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511712" t="-1724" r="-102703" b="-1175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2223" marR="52223" marT="0" marB="0" anchor="ctr">
                        <a:blipFill>
                          <a:blip r:embed="rId4"/>
                          <a:stretch>
                            <a:fillRect l="-606250" t="-1724" r="-1786" b="-11758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53.2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163.0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168.6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6004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2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22.5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209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16.0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88.2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109.4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1919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4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84.7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151.6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277.0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7287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7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79.1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5311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6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60.4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93.0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6109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8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3.6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7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53.2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21.5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4057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8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27.3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108.5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114.5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4161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3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4.0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526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9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5.9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48.7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61.3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2166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11.6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672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10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23.9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142.8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129.8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11125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9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14.2</a:t>
                          </a:r>
                          <a:endParaRPr lang="zh-CN" sz="14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8745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ts val="18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</a:rPr>
                            <a:t>…</a:t>
                          </a:r>
                          <a:endParaRPr lang="zh-CN" sz="14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52223" marR="52223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多元回归</a:t>
            </a:r>
          </a:p>
        </p:txBody>
      </p:sp>
    </p:spTree>
    <p:extLst>
      <p:ext uri="{BB962C8B-B14F-4D97-AF65-F5344CB8AC3E}">
        <p14:creationId xmlns:p14="http://schemas.microsoft.com/office/powerpoint/2010/main" val="318483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ea typeface="华文细黑" panose="02010600040101010101" pitchFamily="2" charset="-122"/>
              </a:rPr>
              <a:t>       多元线性回归模型</a:t>
            </a:r>
            <a:endParaRPr lang="en-US" altLang="zh-CN" sz="2600" b="1" dirty="0"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5312" y="1770587"/>
                <a:ext cx="10725281" cy="4481126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vert="horz" lIns="90488" tIns="44450" rIns="90488" bIns="4445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zh-CN" altLang="zh-CN" sz="2600" dirty="0">
                    <a:ea typeface="华文细黑" panose="02010600040101010101" pitchFamily="2" charset="-122"/>
                  </a:rPr>
                  <a:t>描述因变量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𝑦</m:t>
                    </m:r>
                  </m:oMath>
                </a14:m>
                <a:r>
                  <a:rPr lang="zh-CN" altLang="zh-CN" sz="2600" dirty="0">
                    <a:ea typeface="华文细黑" panose="02010600040101010101" pitchFamily="2" charset="-122"/>
                  </a:rPr>
                  <a:t>依赖于自变量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,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,⋯,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600" dirty="0">
                    <a:ea typeface="华文细黑" panose="02010600040101010101" pitchFamily="2" charset="-122"/>
                  </a:rPr>
                  <a:t>的方程称为多元线性回归模型（</a:t>
                </a:r>
                <a:r>
                  <a:rPr lang="en-US" altLang="zh-CN" sz="2600" dirty="0">
                    <a:ea typeface="华文细黑" panose="02010600040101010101" pitchFamily="2" charset="-122"/>
                  </a:rPr>
                  <a:t>multiple linear regression model</a:t>
                </a:r>
                <a:r>
                  <a:rPr lang="zh-CN" altLang="zh-CN" sz="2600" dirty="0">
                    <a:ea typeface="华文细黑" panose="02010600040101010101" pitchFamily="2" charset="-122"/>
                  </a:rPr>
                  <a:t>）。其一般形式可表示为</a:t>
                </a:r>
                <a:endParaRPr lang="en-US" altLang="zh-CN" sz="2600" dirty="0">
                  <a:ea typeface="华文细黑" panose="02010600040101010101" pitchFamily="2" charset="-122"/>
                </a:endParaRPr>
              </a:p>
              <a:p>
                <a:pPr marL="0" indent="0" algn="just">
                  <a:lnSpc>
                    <a:spcPct val="150000"/>
                  </a:lnSpc>
                  <a:buClr>
                    <a:srgbClr val="002060"/>
                  </a:buCl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细黑" panose="02010600040101010101" pitchFamily="2" charset="-122"/>
                        </a:rPr>
                        <m:t>𝒚</m:t>
                      </m:r>
                      <m:r>
                        <a:rPr lang="en-US" altLang="zh-CN" sz="2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细黑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𝟎</m:t>
                          </m:r>
                        </m:sub>
                      </m:sSub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细黑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𝟏</m:t>
                          </m:r>
                        </m:sub>
                      </m:sSub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细黑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𝟐</m:t>
                          </m:r>
                        </m:sub>
                      </m:sSub>
                      <m:r>
                        <a:rPr lang="en-US" altLang="zh-CN" sz="26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细黑" panose="02010600040101010101" pitchFamily="2" charset="-122"/>
                        </a:rPr>
                        <m:t>+⋯+</m:t>
                      </m:r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zh-CN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细黑" panose="02010600040101010101" pitchFamily="2" charset="-122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zh-CN" altLang="zh-CN" sz="2600" b="1" i="1" dirty="0">
                  <a:ea typeface="华文细黑" panose="02010600040101010101" pitchFamily="2" charset="-122"/>
                </a:endParaRPr>
              </a:p>
              <a:p>
                <a:pPr marL="0" indent="0" algn="just">
                  <a:lnSpc>
                    <a:spcPct val="150000"/>
                  </a:lnSpc>
                  <a:buClr>
                    <a:srgbClr val="002060"/>
                  </a:buClr>
                  <a:buNone/>
                  <a:defRPr/>
                </a:pPr>
                <a:r>
                  <a:rPr lang="en-US" altLang="zh-CN" sz="2600" dirty="0">
                    <a:ea typeface="华文细黑" panose="02010600040101010101" pitchFamily="2" charset="-122"/>
                  </a:rPr>
                  <a:t>       </a:t>
                </a:r>
                <a:r>
                  <a:rPr lang="zh-CN" altLang="zh-CN" sz="2600" dirty="0">
                    <a:ea typeface="华文细黑" panose="02010600040101010101" pitchFamily="2" charset="-122"/>
                  </a:rPr>
                  <a:t>式中，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zh-CN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zh-CN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zh-CN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，</m:t>
                    </m:r>
                    <m:r>
                      <a:rPr lang="en-US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⋯</m:t>
                    </m:r>
                    <m:r>
                      <a:rPr lang="zh-CN" altLang="zh-CN" sz="2600"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，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60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600" dirty="0">
                    <a:ea typeface="华文细黑" panose="02010600040101010101" pitchFamily="2" charset="-122"/>
                  </a:rPr>
                  <a:t>是模型的参数；</a:t>
                </a:r>
                <a:endParaRPr lang="en-US" altLang="zh-CN" sz="26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12" y="1770587"/>
                <a:ext cx="10725281" cy="4481126"/>
              </a:xfrm>
              <a:prstGeom prst="rect">
                <a:avLst/>
              </a:prstGeom>
              <a:blipFill>
                <a:blip r:embed="rId3"/>
                <a:stretch>
                  <a:fillRect l="-946" r="-946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多元线性回归</a:t>
            </a:r>
          </a:p>
        </p:txBody>
      </p:sp>
    </p:spTree>
    <p:extLst>
      <p:ext uri="{BB962C8B-B14F-4D97-AF65-F5344CB8AC3E}">
        <p14:creationId xmlns:p14="http://schemas.microsoft.com/office/powerpoint/2010/main" val="350880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多元线性回归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43846"/>
          <a:stretch/>
        </p:blipFill>
        <p:spPr>
          <a:xfrm>
            <a:off x="698579" y="2226492"/>
            <a:ext cx="6220003" cy="243494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515" y="4589793"/>
            <a:ext cx="7165586" cy="22682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204989" y="1531255"/>
                <a:ext cx="3362266" cy="26825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989" y="1531255"/>
                <a:ext cx="3362266" cy="2682529"/>
              </a:xfrm>
              <a:prstGeom prst="rect">
                <a:avLst/>
              </a:prstGeom>
              <a:blipFill>
                <a:blip r:embed="rId4"/>
                <a:stretch>
                  <a:fillRect l="-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060173" y="1032816"/>
                <a:ext cx="5579166" cy="114287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/>
                  <a:t>预测值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：</m:t>
                    </m:r>
                    <m:acc>
                      <m:accPr>
                        <m:chr m:val="̂"/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altLang="zh-CN" sz="2400" b="1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zh-CN" sz="2400" b="1" i="1">
                            <a:latin typeface="Cambria Math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24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 dirty="0"/>
                  <a:t>理论值：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altLang="zh-CN" sz="2400" b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73" y="1032816"/>
                <a:ext cx="5579166" cy="1142877"/>
              </a:xfrm>
              <a:prstGeom prst="rect">
                <a:avLst/>
              </a:prstGeom>
              <a:blipFill>
                <a:blip r:embed="rId5"/>
                <a:stretch>
                  <a:fillRect l="-1814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04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例题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4207" b="5495"/>
          <a:stretch/>
        </p:blipFill>
        <p:spPr>
          <a:xfrm>
            <a:off x="1374439" y="1005271"/>
            <a:ext cx="8394307" cy="573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6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例题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47" y="916384"/>
            <a:ext cx="9587001" cy="573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63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F555ABDC-FF23-40B4-AEA9-CDCD527A98A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ea typeface="华文细黑" panose="02010600040101010101" pitchFamily="2" charset="-122"/>
              </a:rPr>
              <a:t>       模型的拟合优度</a:t>
            </a:r>
            <a:r>
              <a:rPr lang="en-US" altLang="zh-CN" sz="2600" b="1" dirty="0"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ea typeface="华文细黑" panose="02010600040101010101" pitchFamily="2" charset="-122"/>
              </a:rPr>
              <a:t>多重决定系数</a:t>
            </a:r>
            <a:r>
              <a:rPr lang="en-US" altLang="zh-CN" sz="2600" b="1" dirty="0"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ea typeface="华文细黑" panose="02010600040101010101" pitchFamily="2" charset="-122"/>
              </a:rPr>
              <a:t>估计标准误差</a:t>
            </a:r>
            <a:endParaRPr lang="en-US" altLang="zh-CN" sz="2600" b="1" dirty="0"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65313" y="1770587"/>
                <a:ext cx="9445487" cy="4481126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txBody>
              <a:bodyPr vert="horz" lIns="90488" tIns="44450" rIns="90488" bIns="4445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22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R</a:t>
                </a:r>
                <a:r>
                  <a:rPr lang="zh-CN" altLang="en-US" sz="22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方</a:t>
                </a:r>
                <a:r>
                  <a:rPr lang="en-US" altLang="zh-CN" sz="2200" dirty="0">
                    <a:ea typeface="华文细黑" panose="02010600040101010101" pitchFamily="2" charset="-122"/>
                  </a:rPr>
                  <a:t>——</a:t>
                </a:r>
                <a:r>
                  <a:rPr lang="zh-CN" altLang="en-US" sz="2200" dirty="0">
                    <a:ea typeface="华文细黑" panose="02010600040101010101" pitchFamily="2" charset="-122"/>
                  </a:rPr>
                  <a:t>回归平方和占总平方和的比例，计算公式为</a:t>
                </a:r>
              </a:p>
              <a:p>
                <a:pPr marL="273050" indent="0" algn="just">
                  <a:lnSpc>
                    <a:spcPct val="150000"/>
                  </a:lnSpc>
                  <a:buClr>
                    <a:srgbClr val="002060"/>
                  </a:buClr>
                  <a:buNone/>
                  <a:defRPr/>
                </a:pPr>
                <a:endParaRPr lang="zh-CN" altLang="en-US" sz="2200" dirty="0">
                  <a:ea typeface="华文细黑" panose="02010600040101010101" pitchFamily="2" charset="-122"/>
                </a:endParaRP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endParaRPr lang="en-US" altLang="zh-CN" sz="2200" dirty="0">
                  <a:ea typeface="华文细黑" panose="02010600040101010101" pitchFamily="2" charset="-122"/>
                </a:endParaRP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200" dirty="0">
                    <a:ea typeface="华文细黑" panose="02010600040101010101" pitchFamily="2" charset="-122"/>
                  </a:rPr>
                  <a:t>因变量取值的变差中，能被估计的多元回归方程所解释的比例</a:t>
                </a:r>
                <a:endParaRPr lang="en-US" altLang="zh-CN" sz="2200" dirty="0">
                  <a:ea typeface="华文细黑" panose="02010600040101010101" pitchFamily="2" charset="-122"/>
                </a:endParaRP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r>
                  <a:rPr lang="zh-CN" altLang="en-US" sz="22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调整的</a:t>
                </a:r>
                <a:r>
                  <a:rPr lang="en-US" altLang="zh-CN" sz="22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R</a:t>
                </a:r>
                <a:r>
                  <a:rPr lang="zh-CN" altLang="en-US" sz="2200" b="1" dirty="0">
                    <a:solidFill>
                      <a:schemeClr val="bg1"/>
                    </a:solidFill>
                    <a:highlight>
                      <a:srgbClr val="000099"/>
                    </a:highlight>
                    <a:ea typeface="华文细黑" panose="02010600040101010101" pitchFamily="2" charset="-122"/>
                  </a:rPr>
                  <a:t>方</a:t>
                </a:r>
                <a:r>
                  <a:rPr lang="en-US" altLang="zh-CN" sz="2200" dirty="0">
                    <a:ea typeface="华文细黑" panose="02010600040101010101" pitchFamily="2" charset="-122"/>
                  </a:rPr>
                  <a:t>——</a:t>
                </a:r>
                <a:r>
                  <a:rPr lang="zh-CN" altLang="en-US" sz="2200" dirty="0">
                    <a:ea typeface="华文细黑" panose="02010600040101010101" pitchFamily="2" charset="-122"/>
                  </a:rPr>
                  <a:t>用样本量</a:t>
                </a:r>
                <a:r>
                  <a:rPr lang="en-US" altLang="zh-CN" sz="2200" dirty="0">
                    <a:ea typeface="华文细黑" panose="02010600040101010101" pitchFamily="2" charset="-122"/>
                  </a:rPr>
                  <a:t>n</a:t>
                </a:r>
                <a:r>
                  <a:rPr lang="zh-CN" altLang="en-US" sz="2200" dirty="0">
                    <a:ea typeface="华文细黑" panose="02010600040101010101" pitchFamily="2" charset="-122"/>
                  </a:rPr>
                  <a:t>和自变量的个数</a:t>
                </a:r>
                <a:r>
                  <a:rPr lang="en-US" altLang="zh-CN" sz="2200" dirty="0">
                    <a:ea typeface="华文细黑" panose="02010600040101010101" pitchFamily="2" charset="-122"/>
                  </a:rPr>
                  <a:t>k</a:t>
                </a:r>
                <a:r>
                  <a:rPr lang="zh-CN" altLang="en-US" sz="2200" dirty="0">
                    <a:ea typeface="华文细黑" panose="02010600040101010101" pitchFamily="2" charset="-122"/>
                  </a:rPr>
                  <a:t>去调整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200" dirty="0">
                    <a:ea typeface="华文细黑" panose="02010600040101010101" pitchFamily="2" charset="-122"/>
                  </a:rPr>
                  <a:t>得到 </a:t>
                </a:r>
                <a:r>
                  <a:rPr lang="en-US" altLang="zh-CN" sz="2200" dirty="0">
                    <a:ea typeface="华文细黑" panose="02010600040101010101" pitchFamily="2" charset="-122"/>
                  </a:rPr>
                  <a:t>,</a:t>
                </a:r>
                <a:r>
                  <a:rPr lang="zh-CN" altLang="en-US" sz="2200" dirty="0">
                    <a:ea typeface="华文细黑" panose="02010600040101010101" pitchFamily="2" charset="-122"/>
                  </a:rPr>
                  <a:t>计算公式为</a:t>
                </a:r>
                <a:endParaRPr lang="en-US" altLang="zh-CN" sz="2200" dirty="0">
                  <a:ea typeface="华文细黑" panose="02010600040101010101" pitchFamily="2" charset="-122"/>
                </a:endParaRPr>
              </a:p>
              <a:p>
                <a:pPr marL="720725" indent="-447675" algn="just">
                  <a:lnSpc>
                    <a:spcPct val="150000"/>
                  </a:lnSpc>
                  <a:buClr>
                    <a:srgbClr val="002060"/>
                  </a:buClr>
                  <a:buFont typeface="Wingdings" panose="05000000000000000000" pitchFamily="2" charset="2"/>
                  <a:buChar char="l"/>
                  <a:defRPr/>
                </a:pPr>
                <a:endParaRPr lang="en-US" altLang="zh-CN" sz="2200" dirty="0">
                  <a:ea typeface="华文细黑" panose="02010600040101010101" pitchFamily="2" charset="-122"/>
                </a:endParaRP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1900" dirty="0">
                    <a:ea typeface="华文细黑" panose="02010600040101010101" pitchFamily="2" charset="-122"/>
                  </a:rPr>
                  <a:t>避免增加自变量而高估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900" dirty="0">
                  <a:ea typeface="华文细黑" panose="02010600040101010101" pitchFamily="2" charset="-122"/>
                </a:endParaRPr>
              </a:p>
              <a:p>
                <a:pPr marL="893763" lvl="1" indent="-446088" algn="just">
                  <a:lnSpc>
                    <a:spcPct val="100000"/>
                  </a:lnSpc>
                  <a:spcBef>
                    <a:spcPts val="750"/>
                  </a:spcBef>
                  <a:buClr>
                    <a:srgbClr val="C00000"/>
                  </a:buClr>
                  <a:buSzPct val="10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1900" dirty="0">
                    <a:ea typeface="华文细黑" panose="02010600040101010101" pitchFamily="2" charset="-122"/>
                  </a:rPr>
                  <a:t>意义与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900" dirty="0">
                    <a:ea typeface="华文细黑" panose="02010600040101010101" pitchFamily="2" charset="-122"/>
                  </a:rPr>
                  <a:t>类似，数值小于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𝑅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华文细黑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19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DC95EDC-4642-4D13-8553-D8765CC0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13" y="1770587"/>
                <a:ext cx="9445487" cy="4481126"/>
              </a:xfrm>
              <a:prstGeom prst="rect">
                <a:avLst/>
              </a:prstGeom>
              <a:blipFill>
                <a:blip r:embed="rId3"/>
                <a:stretch>
                  <a:fillRect r="-134" b="-563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32F1F60-E8DB-42C4-9DD1-9F24D7CF1446}"/>
                  </a:ext>
                </a:extLst>
              </p:cNvPr>
              <p:cNvSpPr/>
              <p:nvPr/>
            </p:nvSpPr>
            <p:spPr>
              <a:xfrm>
                <a:off x="1610802" y="2615878"/>
                <a:ext cx="3454081" cy="55502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</m:oMath>
                  </m:oMathPara>
                </a14:m>
                <a:endParaRPr lang="zh-CN" altLang="en-US" sz="1600" i="1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32F1F60-E8DB-42C4-9DD1-9F24D7CF1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802" y="2615878"/>
                <a:ext cx="3454081" cy="5550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F00936-C758-44DC-9F1E-56F1861CA4AB}"/>
                  </a:ext>
                </a:extLst>
              </p:cNvPr>
              <p:cNvSpPr/>
              <p:nvPr/>
            </p:nvSpPr>
            <p:spPr>
              <a:xfrm>
                <a:off x="1610802" y="4874751"/>
                <a:ext cx="3522003" cy="55496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1600" dirty="0"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BF00936-C758-44DC-9F1E-56F1861CA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802" y="4874751"/>
                <a:ext cx="3522003" cy="554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多元回归</a:t>
            </a:r>
          </a:p>
        </p:txBody>
      </p:sp>
    </p:spTree>
    <p:extLst>
      <p:ext uri="{BB962C8B-B14F-4D97-AF65-F5344CB8AC3E}">
        <p14:creationId xmlns:p14="http://schemas.microsoft.com/office/powerpoint/2010/main" val="423618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 dir="r"/>
      </p:transition>
    </mc:Choice>
    <mc:Fallback xmlns="">
      <p:transition>
        <p:wipe dir="r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17341</TotalTime>
  <Words>1427</Words>
  <Application>Microsoft Macintosh PowerPoint</Application>
  <PresentationFormat>宽屏</PresentationFormat>
  <Paragraphs>310</Paragraphs>
  <Slides>23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-apple-system</vt:lpstr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探索性数据分析</vt:lpstr>
      <vt:lpstr>变量相关性</vt:lpstr>
      <vt:lpstr>Pearson相关系数 </vt:lpstr>
      <vt:lpstr>一元线性回归模型</vt:lpstr>
      <vt:lpstr>一元线性回归</vt:lpstr>
      <vt:lpstr>最小二乘估计</vt:lpstr>
      <vt:lpstr>最小二乘估计</vt:lpstr>
      <vt:lpstr>例题1</vt:lpstr>
      <vt:lpstr>误差分析</vt:lpstr>
      <vt:lpstr>R2决定系数</vt:lpstr>
      <vt:lpstr>回归误差</vt:lpstr>
      <vt:lpstr>例题1</vt:lpstr>
      <vt:lpstr>作业</vt:lpstr>
      <vt:lpstr>PowerPoint 演示文稿</vt:lpstr>
      <vt:lpstr>多元回归</vt:lpstr>
      <vt:lpstr>多元线性回归</vt:lpstr>
      <vt:lpstr>多元线性回归</vt:lpstr>
      <vt:lpstr>例题</vt:lpstr>
      <vt:lpstr>例题</vt:lpstr>
      <vt:lpstr>多元回归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575</cp:revision>
  <dcterms:created xsi:type="dcterms:W3CDTF">2021-11-17T13:21:01Z</dcterms:created>
  <dcterms:modified xsi:type="dcterms:W3CDTF">2025-07-26T13:53:35Z</dcterms:modified>
</cp:coreProperties>
</file>
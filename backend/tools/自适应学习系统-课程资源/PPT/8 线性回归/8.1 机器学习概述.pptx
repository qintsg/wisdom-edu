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388" r:id="rId3"/>
    <p:sldId id="381" r:id="rId4"/>
    <p:sldId id="307" r:id="rId5"/>
    <p:sldId id="308" r:id="rId6"/>
    <p:sldId id="325" r:id="rId7"/>
    <p:sldId id="316" r:id="rId8"/>
    <p:sldId id="317" r:id="rId9"/>
    <p:sldId id="320" r:id="rId10"/>
    <p:sldId id="323" r:id="rId11"/>
    <p:sldId id="342" r:id="rId12"/>
    <p:sldId id="377" r:id="rId13"/>
    <p:sldId id="389" r:id="rId14"/>
    <p:sldId id="34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8" autoAdjust="0"/>
    <p:restoredTop sz="84148"/>
  </p:normalViewPr>
  <p:slideViewPr>
    <p:cSldViewPr snapToGrid="0" showGuides="1">
      <p:cViewPr varScale="1">
        <p:scale>
          <a:sx n="85" d="100"/>
          <a:sy n="85" d="100"/>
        </p:scale>
        <p:origin x="432" y="16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226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270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223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076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D8C1B9-C520-488F-B6CE-E4D4FF0D4C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896" y="0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84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48127" y="693329"/>
            <a:ext cx="11907140" cy="0"/>
          </a:xfrm>
          <a:prstGeom prst="line">
            <a:avLst/>
          </a:prstGeom>
          <a:ln w="25400">
            <a:solidFill>
              <a:srgbClr val="F5A6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6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E3C0872-64D7-4B76-9B19-E1DAFDFDD242}"/>
              </a:ext>
            </a:extLst>
          </p:cNvPr>
          <p:cNvCxnSpPr>
            <a:cxnSpLocks/>
          </p:cNvCxnSpPr>
          <p:nvPr/>
        </p:nvCxnSpPr>
        <p:spPr>
          <a:xfrm>
            <a:off x="1422400" y="6113732"/>
            <a:ext cx="9093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D4805B-0FE8-4E82-B102-EE270173D087}"/>
              </a:ext>
            </a:extLst>
          </p:cNvPr>
          <p:cNvSpPr txBox="1"/>
          <p:nvPr/>
        </p:nvSpPr>
        <p:spPr>
          <a:xfrm>
            <a:off x="4229053" y="2552789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75000"/>
                  </a:schemeClr>
                </a:solidFill>
              </a:rPr>
              <a:t>机器学习概述</a:t>
            </a:r>
          </a:p>
        </p:txBody>
      </p:sp>
    </p:spTree>
    <p:extLst>
      <p:ext uri="{BB962C8B-B14F-4D97-AF65-F5344CB8AC3E}">
        <p14:creationId xmlns:p14="http://schemas.microsoft.com/office/powerpoint/2010/main" val="39943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6"/>
    </mc:Choice>
    <mc:Fallback xmlns="">
      <p:transition spd="slow" advTm="101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A86F1-F88E-BFFA-ADB7-25DF261E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dirty="0">
                <a:latin typeface="Times New Roman" panose="02020603050405020304" pitchFamily="18" charset="0"/>
              </a:rPr>
              <a:t>大数据技术的不同层面及其功能</a:t>
            </a:r>
            <a:endParaRPr kumimoji="1" lang="zh-CN" altLang="en-US" dirty="0"/>
          </a:p>
        </p:txBody>
      </p:sp>
      <p:graphicFrame>
        <p:nvGraphicFramePr>
          <p:cNvPr id="3" name="Group 71">
            <a:extLst>
              <a:ext uri="{FF2B5EF4-FFF2-40B4-BE49-F238E27FC236}">
                <a16:creationId xmlns:a16="http://schemas.microsoft.com/office/drawing/2014/main" id="{20FFDBC2-8862-47A3-90CD-F9AE2318B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488794"/>
              </p:ext>
            </p:extLst>
          </p:nvPr>
        </p:nvGraphicFramePr>
        <p:xfrm>
          <a:off x="1030266" y="1414397"/>
          <a:ext cx="9619275" cy="5029200"/>
        </p:xfrm>
        <a:graphic>
          <a:graphicData uri="http://schemas.openxmlformats.org/drawingml/2006/table">
            <a:tbl>
              <a:tblPr/>
              <a:tblGrid>
                <a:gridCol w="2206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技术层面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数据采集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利用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ETL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工具将分布的、异构数据源中的数据如关系数据、平面数据文件等，抽取到临时中间层后进行清洗、转换、集成，最后加载到数据仓库或数据集市中，成为联机分析处理、数据挖掘的基础；或者也可以把实时采集的数据作为流计算系统的输入，进行实时处理分析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数据存储和管理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利用分布式文件系统、数据仓库、关系数据库、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NoSQL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数据库、云数据库等，实现对结构化、半结构化和非结构化海量数据的存储和管理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数据处理与分析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利用分布式并行编程模型和计算框架，结合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机器学习和数据挖掘算法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，实现对海量数据的处理和分析；对分析结果进行可视化呈现，帮助人们更好地理解数据、分析数据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数据隐私和安全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在从大数据中挖掘潜在的巨大商业价值和学术价值的同时，构建隐私数据保护体系和数据安全体系，有效保护个人隐私和数据安全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23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D4805B-0FE8-4E82-B102-EE270173D087}"/>
              </a:ext>
            </a:extLst>
          </p:cNvPr>
          <p:cNvSpPr txBox="1"/>
          <p:nvPr/>
        </p:nvSpPr>
        <p:spPr>
          <a:xfrm>
            <a:off x="4229054" y="2552789"/>
            <a:ext cx="357020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accent1">
                    <a:lumMod val="75000"/>
                  </a:schemeClr>
                </a:solidFill>
              </a:rPr>
              <a:t>Part One</a:t>
            </a:r>
          </a:p>
          <a:p>
            <a:pPr algn="ctr"/>
            <a:r>
              <a:rPr lang="zh-CN" altLang="en-US" sz="4400" b="1" dirty="0">
                <a:solidFill>
                  <a:schemeClr val="accent1">
                    <a:lumMod val="75000"/>
                  </a:schemeClr>
                </a:solidFill>
              </a:rPr>
              <a:t>机器学习框架</a:t>
            </a:r>
          </a:p>
        </p:txBody>
      </p:sp>
    </p:spTree>
    <p:extLst>
      <p:ext uri="{BB962C8B-B14F-4D97-AF65-F5344CB8AC3E}">
        <p14:creationId xmlns:p14="http://schemas.microsoft.com/office/powerpoint/2010/main" val="2446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引入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6032" y="1271044"/>
            <a:ext cx="459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800" b="1" dirty="0"/>
              <a:t> 如何区分前排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后排？</a:t>
            </a:r>
            <a:endParaRPr lang="en-US" altLang="zh-CN" sz="2800" b="1" dirty="0"/>
          </a:p>
        </p:txBody>
      </p:sp>
      <p:sp>
        <p:nvSpPr>
          <p:cNvPr id="7" name="矩形 6"/>
          <p:cNvSpPr/>
          <p:nvPr/>
        </p:nvSpPr>
        <p:spPr>
          <a:xfrm>
            <a:off x="1900741" y="2649902"/>
            <a:ext cx="45227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Dinot"/>
              </a:rPr>
              <a:t>生命：</a:t>
            </a:r>
            <a:r>
              <a:rPr lang="en-US" altLang="zh-CN" sz="2400" b="1" dirty="0">
                <a:latin typeface="Dinot"/>
              </a:rPr>
              <a:t>1000/1800/3240</a:t>
            </a:r>
            <a:br>
              <a:rPr lang="zh-CN" altLang="en-US" sz="2400" b="1" dirty="0"/>
            </a:br>
            <a:r>
              <a:rPr lang="zh-CN" altLang="en-US" sz="2400" b="1" dirty="0">
                <a:latin typeface="Dinot"/>
              </a:rPr>
              <a:t>护甲：</a:t>
            </a:r>
            <a:r>
              <a:rPr lang="en-US" altLang="zh-CN" sz="2400" b="1" dirty="0">
                <a:latin typeface="Dinot"/>
              </a:rPr>
              <a:t>50/50/50</a:t>
            </a:r>
            <a:br>
              <a:rPr lang="zh-CN" altLang="en-US" sz="2400" b="1" dirty="0"/>
            </a:br>
            <a:r>
              <a:rPr lang="zh-CN" altLang="en-US" sz="2400" b="1" dirty="0">
                <a:latin typeface="Dinot"/>
              </a:rPr>
              <a:t>魔抗：</a:t>
            </a:r>
            <a:r>
              <a:rPr lang="en-US" altLang="zh-CN" sz="2400" b="1" dirty="0">
                <a:latin typeface="Dinot"/>
              </a:rPr>
              <a:t>50/50/50</a:t>
            </a:r>
            <a:br>
              <a:rPr lang="zh-CN" altLang="en-US" sz="2400" b="1" dirty="0"/>
            </a:br>
            <a:r>
              <a:rPr lang="zh-CN" altLang="en-US" sz="2400" b="1" dirty="0">
                <a:solidFill>
                  <a:srgbClr val="FF0000"/>
                </a:solidFill>
                <a:latin typeface="Dinot"/>
              </a:rPr>
              <a:t>物攻：</a:t>
            </a:r>
            <a:r>
              <a:rPr lang="en-US" altLang="zh-CN" sz="2400" b="1" dirty="0">
                <a:solidFill>
                  <a:srgbClr val="FF0000"/>
                </a:solidFill>
                <a:latin typeface="Dinot"/>
              </a:rPr>
              <a:t>65/98/146</a:t>
            </a:r>
            <a:br>
              <a:rPr lang="zh-CN" altLang="en-US" sz="2400" b="1" dirty="0">
                <a:solidFill>
                  <a:srgbClr val="FF0000"/>
                </a:solidFill>
              </a:rPr>
            </a:br>
            <a:r>
              <a:rPr lang="zh-CN" altLang="en-US" sz="2400" b="1" dirty="0">
                <a:solidFill>
                  <a:srgbClr val="FF0000"/>
                </a:solidFill>
                <a:latin typeface="Dinot"/>
              </a:rPr>
              <a:t>攻速：</a:t>
            </a:r>
            <a:r>
              <a:rPr lang="en-US" altLang="zh-CN" sz="2400" b="1" dirty="0">
                <a:solidFill>
                  <a:srgbClr val="FF0000"/>
                </a:solidFill>
                <a:latin typeface="Dinot"/>
              </a:rPr>
              <a:t>1/1/1</a:t>
            </a:r>
            <a:br>
              <a:rPr lang="zh-CN" altLang="en-US" sz="2400" b="1" dirty="0"/>
            </a:br>
            <a:r>
              <a:rPr lang="zh-CN" altLang="en-US" sz="2400" b="1" dirty="0">
                <a:latin typeface="Dinot"/>
              </a:rPr>
              <a:t>暴击率：</a:t>
            </a:r>
            <a:r>
              <a:rPr lang="en-US" altLang="zh-CN" sz="2400" b="1" dirty="0">
                <a:latin typeface="Dinot"/>
              </a:rPr>
              <a:t>25%/25%/25%</a:t>
            </a:r>
            <a:br>
              <a:rPr lang="zh-CN" altLang="en-US" sz="2400" b="1" dirty="0"/>
            </a:br>
            <a:r>
              <a:rPr lang="zh-CN" altLang="en-US" sz="2400" b="1" dirty="0">
                <a:solidFill>
                  <a:srgbClr val="FF0000"/>
                </a:solidFill>
                <a:latin typeface="Dinot"/>
              </a:rPr>
              <a:t>攻击距离：</a:t>
            </a:r>
            <a:r>
              <a:rPr lang="en-US" altLang="zh-CN" sz="2400" b="1" dirty="0">
                <a:solidFill>
                  <a:srgbClr val="FF0000"/>
                </a:solidFill>
                <a:latin typeface="Dinot"/>
              </a:rPr>
              <a:t>3/3/3</a:t>
            </a:r>
            <a:br>
              <a:rPr lang="zh-CN" altLang="en-US" sz="2400" b="1" dirty="0">
                <a:solidFill>
                  <a:srgbClr val="FF0000"/>
                </a:solidFill>
              </a:rPr>
            </a:br>
            <a:r>
              <a:rPr lang="zh-CN" altLang="en-US" sz="2400" b="1" dirty="0">
                <a:solidFill>
                  <a:srgbClr val="FF0000"/>
                </a:solidFill>
                <a:latin typeface="Dinot"/>
              </a:rPr>
              <a:t>初始法力值：</a:t>
            </a:r>
            <a:r>
              <a:rPr lang="en-US" altLang="zh-CN" sz="2400" b="1" dirty="0">
                <a:solidFill>
                  <a:srgbClr val="FF0000"/>
                </a:solidFill>
                <a:latin typeface="Dinot"/>
              </a:rPr>
              <a:t>100/100/100</a:t>
            </a:r>
            <a:br>
              <a:rPr lang="zh-CN" altLang="en-US" sz="2400" b="1" dirty="0">
                <a:solidFill>
                  <a:srgbClr val="FF0000"/>
                </a:solidFill>
              </a:rPr>
            </a:br>
            <a:r>
              <a:rPr lang="zh-CN" altLang="en-US" sz="2400" b="1" dirty="0">
                <a:solidFill>
                  <a:srgbClr val="FF0000"/>
                </a:solidFill>
                <a:latin typeface="Dinot"/>
              </a:rPr>
              <a:t>法力值：</a:t>
            </a:r>
            <a:r>
              <a:rPr lang="en-US" altLang="zh-CN" sz="2400" b="1" dirty="0">
                <a:solidFill>
                  <a:srgbClr val="FF0000"/>
                </a:solidFill>
                <a:latin typeface="Dinot"/>
              </a:rPr>
              <a:t>200/200/200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01" y="3770783"/>
            <a:ext cx="1411138" cy="126681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843" y="3813641"/>
            <a:ext cx="1476375" cy="1181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58742" y="2649902"/>
            <a:ext cx="45379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生命：</a:t>
            </a:r>
            <a:r>
              <a:rPr lang="en-US" altLang="zh-CN" sz="2400" b="1" dirty="0">
                <a:solidFill>
                  <a:srgbClr val="FF0000"/>
                </a:solidFill>
              </a:rPr>
              <a:t>1337/2407/4332</a:t>
            </a:r>
            <a:br>
              <a:rPr lang="zh-CN" altLang="en-US" sz="2400" b="1" dirty="0"/>
            </a:br>
            <a:r>
              <a:rPr lang="zh-CN" altLang="en-US" sz="2400" b="1" dirty="0">
                <a:solidFill>
                  <a:srgbClr val="FF0000"/>
                </a:solidFill>
              </a:rPr>
              <a:t>护甲：</a:t>
            </a:r>
            <a:r>
              <a:rPr lang="en-US" altLang="zh-CN" sz="2400" b="1" dirty="0">
                <a:solidFill>
                  <a:srgbClr val="FF0000"/>
                </a:solidFill>
              </a:rPr>
              <a:t>60/60/60</a:t>
            </a:r>
            <a:br>
              <a:rPr lang="zh-CN" altLang="en-US" sz="2400" b="1" dirty="0">
                <a:solidFill>
                  <a:srgbClr val="FF0000"/>
                </a:solidFill>
              </a:rPr>
            </a:br>
            <a:r>
              <a:rPr lang="zh-CN" altLang="en-US" sz="2400" b="1" dirty="0">
                <a:solidFill>
                  <a:srgbClr val="FF0000"/>
                </a:solidFill>
              </a:rPr>
              <a:t>魔抗：</a:t>
            </a:r>
            <a:r>
              <a:rPr lang="en-US" altLang="zh-CN" sz="2400" b="1" dirty="0">
                <a:solidFill>
                  <a:srgbClr val="FF0000"/>
                </a:solidFill>
              </a:rPr>
              <a:t>60/60/60</a:t>
            </a:r>
            <a:br>
              <a:rPr lang="zh-CN" altLang="en-US" sz="2400" b="1" dirty="0"/>
            </a:br>
            <a:r>
              <a:rPr lang="zh-CN" altLang="en-US" sz="2400" b="1" dirty="0"/>
              <a:t>物攻：</a:t>
            </a:r>
            <a:r>
              <a:rPr lang="en-US" altLang="zh-CN" sz="2400" b="1" dirty="0"/>
              <a:t>0/0/0</a:t>
            </a:r>
            <a:br>
              <a:rPr lang="zh-CN" altLang="en-US" sz="2400" b="1" dirty="0"/>
            </a:br>
            <a:r>
              <a:rPr lang="zh-CN" altLang="en-US" sz="2400" b="1" dirty="0"/>
              <a:t>攻速：</a:t>
            </a:r>
            <a:r>
              <a:rPr lang="en-US" altLang="zh-CN" sz="2400" b="1" dirty="0"/>
              <a:t>0.2/0.2/0.2</a:t>
            </a:r>
            <a:br>
              <a:rPr lang="zh-CN" altLang="en-US" sz="2400" b="1" dirty="0"/>
            </a:br>
            <a:r>
              <a:rPr lang="zh-CN" altLang="en-US" sz="2400" b="1" dirty="0"/>
              <a:t>暴击率：</a:t>
            </a:r>
            <a:r>
              <a:rPr lang="en-US" altLang="zh-CN" sz="2400" b="1" dirty="0"/>
              <a:t>25%/25%/25%</a:t>
            </a:r>
            <a:br>
              <a:rPr lang="zh-CN" altLang="en-US" sz="2400" b="1" dirty="0"/>
            </a:br>
            <a:r>
              <a:rPr lang="zh-CN" altLang="en-US" sz="2400" b="1" dirty="0"/>
              <a:t>攻击距离：</a:t>
            </a:r>
            <a:r>
              <a:rPr lang="en-US" altLang="zh-CN" sz="2400" b="1" dirty="0"/>
              <a:t>1/1/1</a:t>
            </a:r>
            <a:br>
              <a:rPr lang="zh-CN" altLang="en-US" sz="2400" b="1" dirty="0"/>
            </a:br>
            <a:r>
              <a:rPr lang="zh-CN" altLang="en-US" sz="2400" b="1" dirty="0"/>
              <a:t>初始法力值：</a:t>
            </a:r>
            <a:r>
              <a:rPr lang="en-US" altLang="zh-CN" sz="2400" b="1" dirty="0"/>
              <a:t>0/0/0</a:t>
            </a:r>
            <a:br>
              <a:rPr lang="zh-CN" altLang="en-US" sz="2400" b="1" dirty="0"/>
            </a:br>
            <a:r>
              <a:rPr lang="zh-CN" altLang="en-US" sz="2400" b="1" dirty="0"/>
              <a:t>法力值：</a:t>
            </a:r>
            <a:r>
              <a:rPr lang="en-US" altLang="zh-CN" sz="2400" b="1" dirty="0"/>
              <a:t>90/90/90</a:t>
            </a:r>
            <a:endParaRPr lang="zh-CN" altLang="en-US" sz="24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508" y="211431"/>
            <a:ext cx="3623957" cy="20362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07134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问题抽象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005" y="1281710"/>
            <a:ext cx="3620305" cy="314551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8978458" y="1017941"/>
            <a:ext cx="2129814" cy="3135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184713"/>
              </p:ext>
            </p:extLst>
          </p:nvPr>
        </p:nvGraphicFramePr>
        <p:xfrm>
          <a:off x="890953" y="2504591"/>
          <a:ext cx="6233035" cy="3153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6607">
                  <a:extLst>
                    <a:ext uri="{9D8B030D-6E8A-4147-A177-3AD203B41FA5}">
                      <a16:colId xmlns:a16="http://schemas.microsoft.com/office/drawing/2014/main" val="3044455116"/>
                    </a:ext>
                  </a:extLst>
                </a:gridCol>
                <a:gridCol w="1246607">
                  <a:extLst>
                    <a:ext uri="{9D8B030D-6E8A-4147-A177-3AD203B41FA5}">
                      <a16:colId xmlns:a16="http://schemas.microsoft.com/office/drawing/2014/main" val="71690534"/>
                    </a:ext>
                  </a:extLst>
                </a:gridCol>
                <a:gridCol w="1246607">
                  <a:extLst>
                    <a:ext uri="{9D8B030D-6E8A-4147-A177-3AD203B41FA5}">
                      <a16:colId xmlns:a16="http://schemas.microsoft.com/office/drawing/2014/main" val="4293077210"/>
                    </a:ext>
                  </a:extLst>
                </a:gridCol>
                <a:gridCol w="1119395">
                  <a:extLst>
                    <a:ext uri="{9D8B030D-6E8A-4147-A177-3AD203B41FA5}">
                      <a16:colId xmlns:a16="http://schemas.microsoft.com/office/drawing/2014/main" val="1785380721"/>
                    </a:ext>
                  </a:extLst>
                </a:gridCol>
                <a:gridCol w="1373819">
                  <a:extLst>
                    <a:ext uri="{9D8B030D-6E8A-4147-A177-3AD203B41FA5}">
                      <a16:colId xmlns:a16="http://schemas.microsoft.com/office/drawing/2014/main" val="3796282373"/>
                    </a:ext>
                  </a:extLst>
                </a:gridCol>
              </a:tblGrid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英雄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生命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x1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攻击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x2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法强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x3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前排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/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后排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y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63899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赫卡里姆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900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90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+1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110682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李青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800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90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+1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378845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婕拉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600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120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01824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黑默丁格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40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06455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锤石</a:t>
                      </a:r>
                      <a:endParaRPr lang="zh-CN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750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150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alt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9787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瑟庄妮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650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1339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娜美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86017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沃利贝尔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？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400833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66731" y="1175193"/>
            <a:ext cx="30812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如何预测前排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后排？</a:t>
            </a:r>
            <a:endParaRPr lang="en-US" altLang="zh-CN" sz="2400" b="1" dirty="0"/>
          </a:p>
        </p:txBody>
      </p:sp>
      <p:sp>
        <p:nvSpPr>
          <p:cNvPr id="8" name="右大括号 7"/>
          <p:cNvSpPr/>
          <p:nvPr/>
        </p:nvSpPr>
        <p:spPr>
          <a:xfrm>
            <a:off x="7123987" y="2887762"/>
            <a:ext cx="293078" cy="1713546"/>
          </a:xfrm>
          <a:prstGeom prst="rightBrace">
            <a:avLst>
              <a:gd name="adj1" fmla="val 58333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0435" y="3421369"/>
            <a:ext cx="69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/>
              <a:t>训练</a:t>
            </a:r>
            <a:endParaRPr lang="en-US" altLang="zh-CN" b="1" dirty="0"/>
          </a:p>
          <a:p>
            <a:r>
              <a:rPr lang="zh-CN" altLang="en-US" b="1" dirty="0"/>
              <a:t>数据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27331" y="4853791"/>
            <a:ext cx="69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/>
              <a:t>测试</a:t>
            </a:r>
            <a:endParaRPr lang="en-US" altLang="zh-CN" b="1" dirty="0"/>
          </a:p>
          <a:p>
            <a:r>
              <a:rPr lang="zh-CN" altLang="en-US" b="1" dirty="0"/>
              <a:t>数据</a:t>
            </a:r>
          </a:p>
        </p:txBody>
      </p:sp>
      <p:sp>
        <p:nvSpPr>
          <p:cNvPr id="11" name="右大括号 10"/>
          <p:cNvSpPr/>
          <p:nvPr/>
        </p:nvSpPr>
        <p:spPr>
          <a:xfrm>
            <a:off x="7123987" y="4602720"/>
            <a:ext cx="293078" cy="1056900"/>
          </a:xfrm>
          <a:prstGeom prst="rightBrace">
            <a:avLst>
              <a:gd name="adj1" fmla="val 38333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2737339" y="2045677"/>
            <a:ext cx="870991" cy="458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663462" y="1711569"/>
            <a:ext cx="380873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ctr"/>
            <a:r>
              <a:rPr lang="zh-CN" altLang="en-US" b="1" dirty="0"/>
              <a:t>特征</a:t>
            </a:r>
            <a:r>
              <a:rPr lang="zh-CN" altLang="en-US" dirty="0"/>
              <a:t>：</a:t>
            </a:r>
            <a:r>
              <a:rPr lang="zh-CN" altLang="zh-CN" b="1" dirty="0"/>
              <a:t>生命</a:t>
            </a:r>
            <a:r>
              <a:rPr lang="en-US" altLang="zh-CN" b="1" dirty="0"/>
              <a:t>x1</a:t>
            </a:r>
            <a:r>
              <a:rPr lang="zh-CN" altLang="en-US" dirty="0"/>
              <a:t>，</a:t>
            </a:r>
            <a:r>
              <a:rPr lang="zh-CN" altLang="zh-CN" b="1" dirty="0"/>
              <a:t>攻击</a:t>
            </a:r>
            <a:r>
              <a:rPr lang="en-US" altLang="zh-CN" b="1" dirty="0"/>
              <a:t>x2</a:t>
            </a:r>
            <a:r>
              <a:rPr lang="zh-CN" altLang="en-US" b="1" dirty="0"/>
              <a:t>，</a:t>
            </a:r>
            <a:r>
              <a:rPr lang="zh-CN" altLang="zh-CN" b="1" dirty="0"/>
              <a:t>法强</a:t>
            </a:r>
            <a:r>
              <a:rPr lang="en-US" altLang="zh-CN" b="1" dirty="0"/>
              <a:t>x3</a:t>
            </a:r>
          </a:p>
          <a:p>
            <a:pPr fontAlgn="ctr"/>
            <a:r>
              <a:rPr lang="zh-CN" altLang="en-US" b="1" dirty="0"/>
              <a:t>标签：前排</a:t>
            </a:r>
            <a:r>
              <a:rPr lang="en-US" altLang="zh-CN" b="1" dirty="0"/>
              <a:t>+1</a:t>
            </a:r>
            <a:r>
              <a:rPr lang="zh-CN" altLang="en-US" b="1" dirty="0"/>
              <a:t>，后排</a:t>
            </a:r>
            <a:r>
              <a:rPr lang="en-US" altLang="zh-CN" b="1" dirty="0"/>
              <a:t>-1</a:t>
            </a:r>
            <a:endParaRPr lang="zh-CN" altLang="zh-CN" dirty="0"/>
          </a:p>
        </p:txBody>
      </p:sp>
      <p:sp>
        <p:nvSpPr>
          <p:cNvPr id="15" name="文本框 14"/>
          <p:cNvSpPr txBox="1"/>
          <p:nvPr/>
        </p:nvSpPr>
        <p:spPr>
          <a:xfrm>
            <a:off x="9249732" y="4427220"/>
            <a:ext cx="171884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/>
              <a:t>任务：二分类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9915" y="3506696"/>
            <a:ext cx="39487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ctr"/>
            <a:r>
              <a:rPr lang="zh-CN" altLang="en-US" b="1" dirty="0"/>
              <a:t>样本</a:t>
            </a:r>
            <a:endParaRPr lang="zh-CN" altLang="zh-CN" dirty="0"/>
          </a:p>
        </p:txBody>
      </p:sp>
      <p:cxnSp>
        <p:nvCxnSpPr>
          <p:cNvPr id="19" name="直接箭头连接符 18"/>
          <p:cNvCxnSpPr>
            <a:stCxn id="17" idx="3"/>
          </p:cNvCxnSpPr>
          <p:nvPr/>
        </p:nvCxnSpPr>
        <p:spPr>
          <a:xfrm flipV="1">
            <a:off x="474785" y="3421369"/>
            <a:ext cx="416167" cy="408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90952" y="5861247"/>
            <a:ext cx="5168348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/>
              <a:t>借助训练数据，捕获特征与标签的潜在关系，实现对未知数据的预测</a:t>
            </a:r>
          </a:p>
        </p:txBody>
      </p:sp>
    </p:spTree>
    <p:extLst>
      <p:ext uri="{BB962C8B-B14F-4D97-AF65-F5344CB8AC3E}">
        <p14:creationId xmlns:p14="http://schemas.microsoft.com/office/powerpoint/2010/main" val="2084558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1C9E85-EA7A-45F8-82B2-19F0BAE0AFC7}"/>
              </a:ext>
            </a:extLst>
          </p:cNvPr>
          <p:cNvSpPr/>
          <p:nvPr/>
        </p:nvSpPr>
        <p:spPr>
          <a:xfrm>
            <a:off x="0" y="756425"/>
            <a:ext cx="770021" cy="254220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F9CB60-8980-4E7F-8138-8957AEA41FA8}"/>
              </a:ext>
            </a:extLst>
          </p:cNvPr>
          <p:cNvSpPr txBox="1"/>
          <p:nvPr/>
        </p:nvSpPr>
        <p:spPr>
          <a:xfrm>
            <a:off x="1093948" y="302759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机器学习的定义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FDFD7A8-6CA4-4221-94DE-BB5E4859A55A}"/>
              </a:ext>
            </a:extLst>
          </p:cNvPr>
          <p:cNvCxnSpPr>
            <a:cxnSpLocks/>
          </p:cNvCxnSpPr>
          <p:nvPr/>
        </p:nvCxnSpPr>
        <p:spPr>
          <a:xfrm>
            <a:off x="0" y="1025933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4526DD2-4FB3-46B1-856B-D6C51C0CBA25}"/>
              </a:ext>
            </a:extLst>
          </p:cNvPr>
          <p:cNvCxnSpPr>
            <a:cxnSpLocks/>
          </p:cNvCxnSpPr>
          <p:nvPr/>
        </p:nvCxnSpPr>
        <p:spPr>
          <a:xfrm>
            <a:off x="1422400" y="6113732"/>
            <a:ext cx="9093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100889" y="1185110"/>
            <a:ext cx="7309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什么是机器学习？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317457" y="2707105"/>
            <a:ext cx="8349916" cy="223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模拟人的思维过程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从经验中学习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拥有一定的决策和分辨能力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88" y="3296653"/>
            <a:ext cx="3536159" cy="27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5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669"/>
    </mc:Choice>
    <mc:Fallback xmlns="">
      <p:transition spd="slow" advTm="4366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机器学习过程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45488" y="1605186"/>
            <a:ext cx="41569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模拟人的思维过程</a:t>
            </a:r>
          </a:p>
          <a:p>
            <a:endParaRPr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1346121" y="3349343"/>
            <a:ext cx="1437774" cy="451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46122" y="3866701"/>
            <a:ext cx="143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知识输入</a:t>
            </a:r>
          </a:p>
        </p:txBody>
      </p:sp>
      <p:sp>
        <p:nvSpPr>
          <p:cNvPr id="6" name="右箭头 5"/>
          <p:cNvSpPr/>
          <p:nvPr/>
        </p:nvSpPr>
        <p:spPr>
          <a:xfrm>
            <a:off x="3243100" y="3360981"/>
            <a:ext cx="1437774" cy="45118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5629362" y="2753780"/>
            <a:ext cx="1100890" cy="974165"/>
          </a:xfrm>
          <a:prstGeom prst="parallelogram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75928" y="3866700"/>
            <a:ext cx="143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汲取知识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70683" y="3878339"/>
            <a:ext cx="143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作业测试</a:t>
            </a:r>
          </a:p>
        </p:txBody>
      </p:sp>
      <p:sp>
        <p:nvSpPr>
          <p:cNvPr id="10" name="平行四边形 9"/>
          <p:cNvSpPr/>
          <p:nvPr/>
        </p:nvSpPr>
        <p:spPr>
          <a:xfrm>
            <a:off x="7725864" y="2753780"/>
            <a:ext cx="1100890" cy="974165"/>
          </a:xfrm>
          <a:prstGeom prst="parallelogram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467185" y="3878339"/>
            <a:ext cx="143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对答案</a:t>
            </a:r>
          </a:p>
        </p:txBody>
      </p:sp>
      <p:sp>
        <p:nvSpPr>
          <p:cNvPr id="12" name="下弧形箭头 11"/>
          <p:cNvSpPr/>
          <p:nvPr/>
        </p:nvSpPr>
        <p:spPr>
          <a:xfrm flipH="1">
            <a:off x="3969003" y="4406178"/>
            <a:ext cx="4385509" cy="804561"/>
          </a:xfrm>
          <a:prstGeom prst="curvedUpArrow">
            <a:avLst>
              <a:gd name="adj1" fmla="val 25000"/>
              <a:gd name="adj2" fmla="val 51336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9296990" y="3360981"/>
            <a:ext cx="1437774" cy="451184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296991" y="3878339"/>
            <a:ext cx="143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期末考试</a:t>
            </a:r>
          </a:p>
        </p:txBody>
      </p:sp>
    </p:spTree>
    <p:extLst>
      <p:ext uri="{BB962C8B-B14F-4D97-AF65-F5344CB8AC3E}">
        <p14:creationId xmlns:p14="http://schemas.microsoft.com/office/powerpoint/2010/main" val="336166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机器学习过程</a:t>
            </a:r>
          </a:p>
        </p:txBody>
      </p:sp>
      <p:sp>
        <p:nvSpPr>
          <p:cNvPr id="3" name="矩形 2"/>
          <p:cNvSpPr/>
          <p:nvPr/>
        </p:nvSpPr>
        <p:spPr>
          <a:xfrm>
            <a:off x="907030" y="2094296"/>
            <a:ext cx="3139440" cy="624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C000">
                  <a:lumMod val="20000"/>
                  <a:lumOff val="8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698320" y="1312379"/>
            <a:ext cx="8521086" cy="2690359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②从经验中学习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吃一堑，长一智</a:t>
            </a: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从大量事例中学习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吃十堑，长一智</a:t>
            </a:r>
            <a:r>
              <a:rPr lang="zh-CN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42031" y="3141378"/>
            <a:ext cx="3465159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总结规律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前排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)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：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x1 +x2 +x3 &gt; 900</a:t>
            </a:r>
          </a:p>
          <a:p>
            <a:pPr lvl="0">
              <a:defRPr/>
            </a:pP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42320"/>
              </p:ext>
            </p:extLst>
          </p:nvPr>
        </p:nvGraphicFramePr>
        <p:xfrm>
          <a:off x="907030" y="3501053"/>
          <a:ext cx="6533480" cy="2803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696">
                  <a:extLst>
                    <a:ext uri="{9D8B030D-6E8A-4147-A177-3AD203B41FA5}">
                      <a16:colId xmlns:a16="http://schemas.microsoft.com/office/drawing/2014/main" val="3044455116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71690534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4293077210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1785380721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3796282373"/>
                    </a:ext>
                  </a:extLst>
                </a:gridCol>
              </a:tblGrid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英雄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生命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x1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攻击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x2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法强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x3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前排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/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后排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y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63899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赫卡里姆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900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90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+1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110682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李青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800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90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8378845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婕拉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600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120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401824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黑默丁格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40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806455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9787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281339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860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6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机器学习过程</a:t>
            </a:r>
          </a:p>
        </p:txBody>
      </p:sp>
      <p:sp>
        <p:nvSpPr>
          <p:cNvPr id="3" name="矩形 2"/>
          <p:cNvSpPr/>
          <p:nvPr/>
        </p:nvSpPr>
        <p:spPr>
          <a:xfrm>
            <a:off x="907030" y="2094296"/>
            <a:ext cx="3139440" cy="624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C000">
                  <a:lumMod val="20000"/>
                  <a:lumOff val="8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698320" y="1312379"/>
            <a:ext cx="8521086" cy="2690359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②从经验中学习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吃一堑，长一智</a:t>
            </a: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从大量事例中学习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吃十堑，长一智</a:t>
            </a:r>
            <a:r>
              <a:rPr lang="zh-CN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42031" y="3141378"/>
            <a:ext cx="3974123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总结规律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前排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：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x1 +x2 +x3 -900&gt;0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X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）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修正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2*x1-x2-x3-1300&gt;0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279569"/>
              </p:ext>
            </p:extLst>
          </p:nvPr>
        </p:nvGraphicFramePr>
        <p:xfrm>
          <a:off x="907030" y="3501053"/>
          <a:ext cx="6533480" cy="2803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696">
                  <a:extLst>
                    <a:ext uri="{9D8B030D-6E8A-4147-A177-3AD203B41FA5}">
                      <a16:colId xmlns:a16="http://schemas.microsoft.com/office/drawing/2014/main" val="3044455116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71690534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4293077210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1785380721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3796282373"/>
                    </a:ext>
                  </a:extLst>
                </a:gridCol>
              </a:tblGrid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英雄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生命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x1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攻击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x2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法强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x3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前排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/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后排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y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63899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赫卡里姆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900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90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+1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110682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李青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800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90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8378845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婕拉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600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120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401824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黑默丁格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40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806455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锤石</a:t>
                      </a:r>
                      <a:endParaRPr lang="zh-CN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750</a:t>
                      </a:r>
                      <a:endParaRPr lang="en-US" altLang="zh-CN" sz="2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</a:t>
                      </a:r>
                      <a:endParaRPr lang="en-US" altLang="zh-CN" sz="2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150</a:t>
                      </a:r>
                      <a:endParaRPr lang="en-US" altLang="zh-CN" sz="2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zh-CN" alt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9787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281339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860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32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机器学习过程</a:t>
            </a:r>
          </a:p>
        </p:txBody>
      </p:sp>
      <p:sp>
        <p:nvSpPr>
          <p:cNvPr id="3" name="矩形 2"/>
          <p:cNvSpPr/>
          <p:nvPr/>
        </p:nvSpPr>
        <p:spPr>
          <a:xfrm>
            <a:off x="907030" y="2094296"/>
            <a:ext cx="3139440" cy="624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C000">
                  <a:lumMod val="20000"/>
                  <a:lumOff val="8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698320" y="1312379"/>
            <a:ext cx="8521086" cy="2690359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③拥有一定的决策和分辨能力</a:t>
            </a: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吃一堑，长一智</a:t>
            </a: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从大量事例中学习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吃十堑，长一智</a:t>
            </a:r>
            <a:r>
              <a:rPr lang="zh-CN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49220" y="1309693"/>
            <a:ext cx="4366846" cy="5078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总结规律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前排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：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x1 +x2 +x3 -900&gt;0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X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）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marL="457200" lvl="0" indent="-457200"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宋体" panose="02010600030101010101" pitchFamily="2" charset="-122"/>
              </a:rPr>
              <a:t>修正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2*x1-x2-x3-1300&gt;0</a:t>
            </a:r>
          </a:p>
          <a:p>
            <a:pPr lvl="0">
              <a:defRPr/>
            </a:pPr>
            <a:endParaRPr lang="en-US" altLang="zh-CN" sz="28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  <a:p>
            <a:pPr marL="457200" lvl="0" indent="-457200"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预测</a:t>
            </a:r>
            <a:endParaRPr lang="en-US" altLang="zh-CN" sz="28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dirty="0"/>
              <a:t>瑟庄妮</a:t>
            </a:r>
            <a:endParaRPr lang="en-US" altLang="zh-CN" sz="20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2*650 – 60 – 90 = 1150</a:t>
            </a:r>
            <a:r>
              <a:rPr lang="zh-CN" altLang="en-US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（后排）</a:t>
            </a:r>
            <a:endParaRPr lang="en-US" altLang="zh-CN" sz="20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dirty="0"/>
              <a:t>娜美</a:t>
            </a:r>
            <a:endParaRPr lang="zh-CN" altLang="en-US" sz="2000" b="1" dirty="0">
              <a:solidFill>
                <a:srgbClr val="000000"/>
              </a:solidFill>
              <a:latin typeface="等线" panose="02010600030101010101" pitchFamily="2" charset="-122"/>
            </a:endParaRPr>
          </a:p>
          <a:p>
            <a:pPr lvl="0"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2*600 – 40 – 90 = 1070 </a:t>
            </a:r>
            <a:r>
              <a:rPr lang="zh-CN" altLang="en-US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（后排）</a:t>
            </a:r>
            <a:endParaRPr lang="en-US" altLang="zh-CN" sz="20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等线" panose="02010600030101010101" pitchFamily="2" charset="-122"/>
              </a:rPr>
              <a:t>沃利贝尔</a:t>
            </a:r>
            <a:endParaRPr lang="en-US" altLang="zh-CN" sz="24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2*750-50-60=1390</a:t>
            </a:r>
            <a:r>
              <a:rPr lang="zh-CN" altLang="en-US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（前排）</a:t>
            </a:r>
            <a:endParaRPr lang="en-US" altLang="zh-CN" sz="20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740313"/>
              </p:ext>
            </p:extLst>
          </p:nvPr>
        </p:nvGraphicFramePr>
        <p:xfrm>
          <a:off x="907030" y="3501053"/>
          <a:ext cx="6533480" cy="3153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696">
                  <a:extLst>
                    <a:ext uri="{9D8B030D-6E8A-4147-A177-3AD203B41FA5}">
                      <a16:colId xmlns:a16="http://schemas.microsoft.com/office/drawing/2014/main" val="3044455116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71690534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4293077210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1785380721"/>
                    </a:ext>
                  </a:extLst>
                </a:gridCol>
                <a:gridCol w="1306696">
                  <a:extLst>
                    <a:ext uri="{9D8B030D-6E8A-4147-A177-3AD203B41FA5}">
                      <a16:colId xmlns:a16="http://schemas.microsoft.com/office/drawing/2014/main" val="3796282373"/>
                    </a:ext>
                  </a:extLst>
                </a:gridCol>
              </a:tblGrid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英雄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生命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x1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攻击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x2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法强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x3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前排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/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后排</a:t>
                      </a:r>
                      <a:r>
                        <a:rPr lang="en-US" altLang="zh-CN" sz="2000" b="1" u="none" strike="noStrike" dirty="0">
                          <a:effectLst/>
                        </a:rPr>
                        <a:t>y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63899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赫卡里姆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900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90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+1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110682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李青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800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90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8378845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>
                          <a:effectLst/>
                        </a:rPr>
                        <a:t>婕拉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600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50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120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401824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黑默丁格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>
                          <a:effectLst/>
                        </a:rPr>
                        <a:t>500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40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effectLst/>
                        </a:rPr>
                        <a:t>100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806455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锤石</a:t>
                      </a:r>
                      <a:endParaRPr lang="zh-CN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750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150</a:t>
                      </a:r>
                      <a:endParaRPr lang="en-US" altLang="zh-CN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alt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97870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瑟庄妮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650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800" b="1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281339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娜美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860173"/>
                  </a:ext>
                </a:extLst>
              </a:tr>
              <a:tr h="3504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沃利贝尔</a:t>
                      </a:r>
                      <a:endParaRPr lang="zh-CN" alt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？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440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322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399207"/>
              </p:ext>
            </p:extLst>
          </p:nvPr>
        </p:nvGraphicFramePr>
        <p:xfrm>
          <a:off x="766354" y="1959469"/>
          <a:ext cx="374117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8234">
                  <a:extLst>
                    <a:ext uri="{9D8B030D-6E8A-4147-A177-3AD203B41FA5}">
                      <a16:colId xmlns:a16="http://schemas.microsoft.com/office/drawing/2014/main" val="3044455116"/>
                    </a:ext>
                  </a:extLst>
                </a:gridCol>
                <a:gridCol w="748234">
                  <a:extLst>
                    <a:ext uri="{9D8B030D-6E8A-4147-A177-3AD203B41FA5}">
                      <a16:colId xmlns:a16="http://schemas.microsoft.com/office/drawing/2014/main" val="71690534"/>
                    </a:ext>
                  </a:extLst>
                </a:gridCol>
                <a:gridCol w="748234">
                  <a:extLst>
                    <a:ext uri="{9D8B030D-6E8A-4147-A177-3AD203B41FA5}">
                      <a16:colId xmlns:a16="http://schemas.microsoft.com/office/drawing/2014/main" val="4293077210"/>
                    </a:ext>
                  </a:extLst>
                </a:gridCol>
                <a:gridCol w="748234">
                  <a:extLst>
                    <a:ext uri="{9D8B030D-6E8A-4147-A177-3AD203B41FA5}">
                      <a16:colId xmlns:a16="http://schemas.microsoft.com/office/drawing/2014/main" val="1785380721"/>
                    </a:ext>
                  </a:extLst>
                </a:gridCol>
                <a:gridCol w="748234">
                  <a:extLst>
                    <a:ext uri="{9D8B030D-6E8A-4147-A177-3AD203B41FA5}">
                      <a16:colId xmlns:a16="http://schemas.microsoft.com/office/drawing/2014/main" val="3796282373"/>
                    </a:ext>
                  </a:extLst>
                </a:gridCol>
              </a:tblGrid>
              <a:tr h="3706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英雄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生命</a:t>
                      </a:r>
                      <a:r>
                        <a:rPr lang="en-US" altLang="zh-CN" sz="1200" b="1" u="none" strike="noStrike" dirty="0">
                          <a:effectLst/>
                        </a:rPr>
                        <a:t>x1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攻击</a:t>
                      </a:r>
                      <a:r>
                        <a:rPr lang="en-US" altLang="zh-CN" sz="1200" b="1" u="none" strike="noStrike" dirty="0">
                          <a:effectLst/>
                        </a:rPr>
                        <a:t>x2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法强</a:t>
                      </a:r>
                      <a:r>
                        <a:rPr lang="en-US" altLang="zh-CN" sz="1200" b="1" u="none" strike="noStrike" dirty="0">
                          <a:effectLst/>
                        </a:rPr>
                        <a:t>x3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前排</a:t>
                      </a:r>
                      <a:endParaRPr lang="en-US" altLang="zh-CN" sz="1200" b="1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/</a:t>
                      </a:r>
                      <a:r>
                        <a:rPr lang="zh-CN" altLang="en-US" sz="1200" b="1" u="none" strike="noStrike" dirty="0">
                          <a:effectLst/>
                        </a:rPr>
                        <a:t>后排</a:t>
                      </a:r>
                      <a:r>
                        <a:rPr lang="en-US" altLang="zh-CN" sz="1200" b="1" u="none" strike="noStrike" dirty="0">
                          <a:effectLst/>
                        </a:rPr>
                        <a:t>y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63899"/>
                  </a:ext>
                </a:extLst>
              </a:tr>
              <a:tr h="1884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赫卡里姆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900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effectLst/>
                        </a:rPr>
                        <a:t>50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effectLst/>
                        </a:rPr>
                        <a:t>90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+1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110682"/>
                  </a:ext>
                </a:extLst>
              </a:tr>
              <a:tr h="1884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李青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800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50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effectLst/>
                        </a:rPr>
                        <a:t>90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8378845"/>
                  </a:ext>
                </a:extLst>
              </a:tr>
              <a:tr h="1884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婕拉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600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50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120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4018243"/>
                  </a:ext>
                </a:extLst>
              </a:tr>
              <a:tr h="1884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黑默丁格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effectLst/>
                        </a:rPr>
                        <a:t>500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40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effectLst/>
                        </a:rPr>
                        <a:t>100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8064550"/>
                  </a:ext>
                </a:extLst>
              </a:tr>
              <a:tr h="1884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锤石</a:t>
                      </a:r>
                      <a:endParaRPr lang="zh-CN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750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150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97870"/>
                  </a:ext>
                </a:extLst>
              </a:tr>
              <a:tr h="17330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瑟庄妮</a:t>
                      </a:r>
                      <a:endParaRPr lang="zh-CN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650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2813393"/>
                  </a:ext>
                </a:extLst>
              </a:tr>
              <a:tr h="17330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娜美</a:t>
                      </a:r>
                      <a:endParaRPr lang="zh-CN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860173"/>
                  </a:ext>
                </a:extLst>
              </a:tr>
              <a:tr h="17330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沃利贝尔</a:t>
                      </a:r>
                      <a:endParaRPr lang="zh-CN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？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44008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273876" y="1438920"/>
                <a:ext cx="5745816" cy="4620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u"/>
                </a:pPr>
                <a:r>
                  <a:rPr lang="zh-CN" altLang="en-US" sz="2000" b="1" dirty="0"/>
                  <a:t>线性方程 （线性回归）</a:t>
                </a:r>
                <a:endParaRPr lang="en-US" altLang="zh-CN" sz="2000" b="1" dirty="0"/>
              </a:p>
              <a:p>
                <a:pPr lvl="0"/>
                <a:r>
                  <a:rPr lang="en-US" altLang="zh-CN" sz="2000" b="1" dirty="0"/>
                  <a:t>     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Calibri"/>
                    <a:ea typeface="宋体" panose="02010600030101010101" pitchFamily="2" charset="-122"/>
                  </a:rPr>
                  <a:t>2*x1-x2-x3-1300&gt;0  </a:t>
                </a:r>
              </a:p>
              <a:p>
                <a:pPr lvl="0"/>
                <a:endParaRPr lang="en-US" altLang="zh-CN" sz="2000" b="1" dirty="0">
                  <a:solidFill>
                    <a:srgbClr val="FF0000"/>
                  </a:solidFill>
                  <a:latin typeface="Calibri"/>
                  <a:ea typeface="宋体" panose="02010600030101010101" pitchFamily="2" charset="-122"/>
                </a:endParaRPr>
              </a:p>
              <a:p>
                <a:pPr marL="342900" indent="-342900">
                  <a:buFont typeface="Wingdings" panose="05000000000000000000" pitchFamily="2" charset="2"/>
                  <a:buChar char="u"/>
                </a:pPr>
                <a:r>
                  <a:rPr lang="zh-CN" altLang="en-US" sz="2000" b="1" dirty="0"/>
                  <a:t>其他方程</a:t>
                </a:r>
                <a:endParaRPr lang="en-US" altLang="zh-CN" sz="2000" b="1" dirty="0"/>
              </a:p>
              <a:p>
                <a:r>
                  <a:rPr lang="en-US" altLang="zh-CN" sz="2000" b="1" dirty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000" b="1" dirty="0"/>
              </a:p>
              <a:p>
                <a:pPr marL="342900" indent="-342900">
                  <a:buFont typeface="Wingdings" panose="05000000000000000000" pitchFamily="2" charset="2"/>
                  <a:buChar char="u"/>
                </a:pPr>
                <a:endParaRPr lang="en-US" altLang="zh-CN" sz="2000" b="1" dirty="0"/>
              </a:p>
              <a:p>
                <a:pPr marL="342900" indent="-342900">
                  <a:buFont typeface="Wingdings" panose="05000000000000000000" pitchFamily="2" charset="2"/>
                  <a:buChar char="u"/>
                </a:pPr>
                <a:r>
                  <a:rPr lang="zh-CN" altLang="en-US" sz="2000" b="1" dirty="0"/>
                  <a:t>概率统计</a:t>
                </a:r>
                <a:endParaRPr lang="en-US" altLang="zh-CN" sz="2000" b="1" dirty="0"/>
              </a:p>
              <a:p>
                <a:r>
                  <a:rPr lang="en-US" altLang="zh-CN" sz="2000" b="1" dirty="0"/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b="1" i="1" dirty="0">
                        <a:latin typeface="Cambria Math" panose="02040503050406030204" pitchFamily="18" charset="0"/>
                      </a:rPr>
                      <m:t>攻击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000" b="1" i="1" dirty="0">
                        <a:latin typeface="Cambria Math" panose="02040503050406030204" pitchFamily="18" charset="0"/>
                      </a:rPr>
                      <m:t>生命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𝟗𝟎𝟎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 dirty="0"/>
              </a:p>
              <a:p>
                <a:endParaRPr lang="en-US" altLang="zh-CN" sz="2000" b="1" dirty="0"/>
              </a:p>
              <a:p>
                <a:r>
                  <a:rPr lang="en-US" altLang="zh-CN" sz="2000" b="1" dirty="0"/>
                  <a:t>……</a:t>
                </a:r>
              </a:p>
              <a:p>
                <a:endParaRPr lang="en-US" altLang="zh-CN" sz="2000" b="1" dirty="0"/>
              </a:p>
              <a:p>
                <a:pPr lvl="0"/>
                <a:endParaRPr lang="en-US" altLang="zh-CN" sz="2000" b="1" dirty="0">
                  <a:solidFill>
                    <a:srgbClr val="FF0000"/>
                  </a:solidFill>
                  <a:latin typeface="Calibri"/>
                  <a:ea typeface="宋体" panose="02010600030101010101" pitchFamily="2" charset="-122"/>
                </a:endParaRPr>
              </a:p>
              <a:p>
                <a:endParaRPr lang="en-US" altLang="zh-CN" sz="2000" b="1" dirty="0"/>
              </a:p>
              <a:p>
                <a:endParaRPr lang="en-US" altLang="zh-CN" sz="20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76" y="1438920"/>
                <a:ext cx="5745816" cy="4620752"/>
              </a:xfrm>
              <a:prstGeom prst="rect">
                <a:avLst/>
              </a:prstGeom>
              <a:blipFill>
                <a:blip r:embed="rId2"/>
                <a:stretch>
                  <a:fillRect l="-1060" t="-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926123" y="1271954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b="1" dirty="0"/>
              <a:t>总结规律</a:t>
            </a:r>
          </a:p>
        </p:txBody>
      </p:sp>
      <p:sp>
        <p:nvSpPr>
          <p:cNvPr id="8" name="矩形 7"/>
          <p:cNvSpPr/>
          <p:nvPr/>
        </p:nvSpPr>
        <p:spPr>
          <a:xfrm>
            <a:off x="648788" y="4083157"/>
            <a:ext cx="21706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b="1" dirty="0"/>
              <a:t>树状模型</a:t>
            </a:r>
            <a:endParaRPr lang="en-US" altLang="zh-CN" b="1" dirty="0"/>
          </a:p>
          <a:p>
            <a:pPr lvl="0"/>
            <a:r>
              <a:rPr lang="en-US" altLang="zh-CN" sz="1600" b="1" dirty="0"/>
              <a:t>     </a:t>
            </a:r>
            <a:r>
              <a:rPr lang="en-US" altLang="zh-CN" sz="1600" b="1" dirty="0">
                <a:latin typeface="Calibri"/>
                <a:ea typeface="宋体" panose="02010600030101010101" pitchFamily="2" charset="-122"/>
              </a:rPr>
              <a:t>if </a:t>
            </a:r>
            <a:r>
              <a:rPr lang="zh-CN" altLang="en-US" sz="1600" b="1" dirty="0">
                <a:latin typeface="Calibri"/>
                <a:ea typeface="宋体" panose="02010600030101010101" pitchFamily="2" charset="-122"/>
              </a:rPr>
              <a:t>生命值 </a:t>
            </a:r>
            <a:r>
              <a:rPr lang="en-US" altLang="zh-CN" sz="1600" b="1" dirty="0">
                <a:latin typeface="Calibri"/>
                <a:ea typeface="宋体" panose="02010600030101010101" pitchFamily="2" charset="-122"/>
              </a:rPr>
              <a:t>&gt; 900</a:t>
            </a:r>
            <a:r>
              <a:rPr lang="zh-CN" altLang="en-US" sz="1600" b="1" dirty="0">
                <a:latin typeface="Calibri"/>
                <a:ea typeface="宋体" panose="02010600030101010101" pitchFamily="2" charset="-122"/>
              </a:rPr>
              <a:t>：</a:t>
            </a:r>
            <a:endParaRPr lang="en-US" altLang="zh-CN" sz="1600" b="1" dirty="0">
              <a:latin typeface="Calibri"/>
              <a:ea typeface="宋体" panose="02010600030101010101" pitchFamily="2" charset="-122"/>
            </a:endParaRPr>
          </a:p>
          <a:p>
            <a:pPr lvl="0"/>
            <a:r>
              <a:rPr lang="en-US" altLang="zh-CN" sz="1600" b="1" dirty="0">
                <a:latin typeface="Calibri"/>
                <a:ea typeface="宋体" panose="02010600030101010101" pitchFamily="2" charset="-122"/>
              </a:rPr>
              <a:t>            if </a:t>
            </a:r>
            <a:r>
              <a:rPr lang="zh-CN" altLang="en-US" sz="1600" b="1" dirty="0">
                <a:latin typeface="Calibri"/>
                <a:ea typeface="宋体" panose="02010600030101010101" pitchFamily="2" charset="-122"/>
              </a:rPr>
              <a:t>攻击 </a:t>
            </a:r>
            <a:r>
              <a:rPr lang="en-US" altLang="zh-CN" sz="1600" b="1" dirty="0">
                <a:latin typeface="Calibri"/>
                <a:ea typeface="宋体" panose="02010600030101010101" pitchFamily="2" charset="-122"/>
              </a:rPr>
              <a:t>&gt; 50:  </a:t>
            </a:r>
          </a:p>
          <a:p>
            <a:pPr lvl="0"/>
            <a:r>
              <a:rPr lang="en-US" altLang="zh-CN" sz="16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                </a:t>
            </a:r>
            <a:r>
              <a:rPr lang="zh-CN" altLang="en-US" sz="16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前排</a:t>
            </a:r>
            <a:endParaRPr lang="en-US" altLang="zh-CN" sz="16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012830" y="4130051"/>
            <a:ext cx="766352" cy="370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生命</a:t>
            </a:r>
          </a:p>
        </p:txBody>
      </p:sp>
      <p:sp>
        <p:nvSpPr>
          <p:cNvPr id="10" name="椭圆 9"/>
          <p:cNvSpPr/>
          <p:nvPr/>
        </p:nvSpPr>
        <p:spPr>
          <a:xfrm>
            <a:off x="2561492" y="4872367"/>
            <a:ext cx="785446" cy="3295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攻击</a:t>
            </a:r>
          </a:p>
        </p:txBody>
      </p:sp>
      <p:cxnSp>
        <p:nvCxnSpPr>
          <p:cNvPr id="12" name="直接箭头连接符 11"/>
          <p:cNvCxnSpPr>
            <a:stCxn id="9" idx="4"/>
            <a:endCxn id="10" idx="0"/>
          </p:cNvCxnSpPr>
          <p:nvPr/>
        </p:nvCxnSpPr>
        <p:spPr>
          <a:xfrm flipH="1">
            <a:off x="2954215" y="4500108"/>
            <a:ext cx="441791" cy="372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3527135" y="4858442"/>
            <a:ext cx="751786" cy="3295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法强</a:t>
            </a:r>
          </a:p>
        </p:txBody>
      </p:sp>
      <p:cxnSp>
        <p:nvCxnSpPr>
          <p:cNvPr id="20" name="直接箭头连接符 19"/>
          <p:cNvCxnSpPr>
            <a:stCxn id="9" idx="4"/>
            <a:endCxn id="13" idx="0"/>
          </p:cNvCxnSpPr>
          <p:nvPr/>
        </p:nvCxnSpPr>
        <p:spPr>
          <a:xfrm>
            <a:off x="3396006" y="4500108"/>
            <a:ext cx="507022" cy="358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705266" y="4500108"/>
            <a:ext cx="556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&gt;900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0180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>
              <a:lnSpc>
                <a:spcPct val="100000"/>
              </a:lnSpc>
              <a:spcAft>
                <a:spcPct val="0"/>
              </a:spcAft>
            </a:pPr>
            <a:r>
              <a:rPr lang="en-US" altLang="zh-CN" sz="4400" spc="50" dirty="0">
                <a:latin typeface="+mn-lt"/>
                <a:ea typeface="+mn-ea"/>
                <a:cs typeface="+mn-ea"/>
                <a:sym typeface="Times New Roman" panose="02020603050405020304" pitchFamily="18" charset="0"/>
              </a:rPr>
              <a:t> </a:t>
            </a:r>
            <a:r>
              <a:rPr lang="zh-CN" altLang="en-US" sz="4400" spc="50" dirty="0">
                <a:latin typeface="+mn-lt"/>
                <a:ea typeface="+mn-ea"/>
                <a:cs typeface="+mn-ea"/>
                <a:sym typeface="Times New Roman" panose="02020603050405020304" pitchFamily="18" charset="0"/>
              </a:rPr>
              <a:t>机器学习的主要研究内容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87DC4B4-1E4A-5EDD-99AE-B21A46E4612F}"/>
              </a:ext>
            </a:extLst>
          </p:cNvPr>
          <p:cNvSpPr txBox="1">
            <a:spLocks noChangeArrowheads="1"/>
          </p:cNvSpPr>
          <p:nvPr/>
        </p:nvSpPr>
        <p:spPr>
          <a:xfrm>
            <a:off x="394596" y="1156832"/>
            <a:ext cx="9994290" cy="526823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有监督式机器学习（需要标注训练数据）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线性回归、逻辑回归、支持向量机（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SVM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）、朴素贝叶斯分类器、随机森林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无监督式机器学习（不需要标注训练数据）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聚类算法（</a:t>
            </a:r>
            <a:r>
              <a:rPr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kmeans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等）、降维技术、主题模型、关联规则挖掘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半监督式机器学习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数据集同时包含标注和未标注数据，利用模型预测未标注数据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其他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推荐系统、强化学习等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457200" lvl="1" indent="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23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>
              <a:lnSpc>
                <a:spcPct val="100000"/>
              </a:lnSpc>
              <a:spcAft>
                <a:spcPct val="0"/>
              </a:spcAft>
            </a:pPr>
            <a:r>
              <a:rPr lang="zh-CN" altLang="en-US" sz="4400" spc="50" dirty="0">
                <a:latin typeface="+mn-lt"/>
                <a:ea typeface="+mn-ea"/>
                <a:cs typeface="+mn-ea"/>
                <a:sym typeface="Times New Roman" panose="02020603050405020304" pitchFamily="18" charset="0"/>
              </a:rPr>
              <a:t>按照模型功能划分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6DA69-9807-8383-BB9F-6CF62A10AC2A}"/>
              </a:ext>
            </a:extLst>
          </p:cNvPr>
          <p:cNvSpPr txBox="1">
            <a:spLocks noChangeArrowheads="1"/>
          </p:cNvSpPr>
          <p:nvPr/>
        </p:nvSpPr>
        <p:spPr>
          <a:xfrm>
            <a:off x="133942" y="1277821"/>
            <a:ext cx="8254140" cy="526823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回归</a:t>
            </a:r>
            <a:endParaRPr lang="en-US" altLang="zh-CN" sz="24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b="0" dirty="0">
                <a:solidFill>
                  <a:srgbClr val="FF0000"/>
                </a:solidFill>
                <a:cs typeface="+mn-ea"/>
                <a:sym typeface="Times New Roman" panose="02020603050405020304" pitchFamily="18" charset="0"/>
              </a:rPr>
              <a:t>线性回归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、</a:t>
            </a:r>
            <a:r>
              <a:rPr lang="zh-CN" altLang="en-US" sz="2000" b="0" dirty="0">
                <a:solidFill>
                  <a:srgbClr val="FF0000"/>
                </a:solidFill>
                <a:cs typeface="+mn-ea"/>
                <a:sym typeface="Times New Roman" panose="02020603050405020304" pitchFamily="18" charset="0"/>
              </a:rPr>
              <a:t>逻辑回归（分类）</a:t>
            </a:r>
            <a:endParaRPr lang="en-US" altLang="zh-CN" sz="2000" b="0" dirty="0">
              <a:solidFill>
                <a:srgbClr val="FF0000"/>
              </a:solidFill>
              <a:cs typeface="+mn-ea"/>
              <a:sym typeface="Times New Roman" panose="02020603050405020304" pitchFamily="18" charset="0"/>
            </a:endParaRPr>
          </a:p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分类</a:t>
            </a:r>
            <a:endParaRPr lang="en-US" altLang="zh-CN" sz="24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b="0" dirty="0">
                <a:solidFill>
                  <a:srgbClr val="FF0000"/>
                </a:solidFill>
                <a:cs typeface="+mn-ea"/>
                <a:sym typeface="Times New Roman" panose="02020603050405020304" pitchFamily="18" charset="0"/>
              </a:rPr>
              <a:t>随机森林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KNN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、朴素贝叶斯、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支持向量机（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SVM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），</a:t>
            </a:r>
            <a:r>
              <a:rPr lang="zh-CN" altLang="en-US" sz="2000" dirty="0">
                <a:solidFill>
                  <a:srgbClr val="FF0000"/>
                </a:solidFill>
                <a:cs typeface="+mn-ea"/>
                <a:sym typeface="Times New Roman" panose="02020603050405020304" pitchFamily="18" charset="0"/>
              </a:rPr>
              <a:t>决策树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等</a:t>
            </a:r>
            <a:endParaRPr lang="en-US" altLang="zh-CN" sz="24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聚类</a:t>
            </a:r>
            <a:endParaRPr lang="en-US" altLang="zh-CN" sz="24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b="0" dirty="0" err="1">
                <a:solidFill>
                  <a:srgbClr val="FF0000"/>
                </a:solidFill>
                <a:cs typeface="+mn-ea"/>
                <a:sym typeface="Times New Roman" panose="02020603050405020304" pitchFamily="18" charset="0"/>
              </a:rPr>
              <a:t>kmeans</a:t>
            </a:r>
            <a:endParaRPr lang="en-US" altLang="zh-CN" sz="2000" b="0" dirty="0">
              <a:solidFill>
                <a:srgbClr val="FF0000"/>
              </a:solidFill>
              <a:cs typeface="+mn-ea"/>
              <a:sym typeface="Times New Roman" panose="02020603050405020304" pitchFamily="18" charset="0"/>
            </a:endParaRPr>
          </a:p>
          <a:p>
            <a:pPr marL="360000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其他</a:t>
            </a:r>
            <a:endParaRPr lang="en-US" altLang="zh-CN" sz="24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817200" lvl="1" indent="-3600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b="0" dirty="0">
                <a:solidFill>
                  <a:srgbClr val="FF0000"/>
                </a:solidFill>
                <a:cs typeface="+mn-ea"/>
                <a:sym typeface="Times New Roman" panose="02020603050405020304" pitchFamily="18" charset="0"/>
              </a:rPr>
              <a:t>推荐系统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、</a:t>
            </a:r>
            <a:r>
              <a:rPr lang="zh-CN" altLang="en-US" sz="2000" b="0" dirty="0">
                <a:solidFill>
                  <a:srgbClr val="FF0000"/>
                </a:solidFill>
                <a:cs typeface="+mn-ea"/>
                <a:sym typeface="Times New Roman" panose="02020603050405020304" pitchFamily="18" charset="0"/>
              </a:rPr>
              <a:t>自然语言处理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Times New Roman" panose="02020603050405020304" pitchFamily="18" charset="0"/>
              </a:rPr>
              <a:t>、强化学习等</a:t>
            </a:r>
            <a:endParaRPr lang="en-US" altLang="zh-CN" sz="20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  <a:p>
            <a:pPr marL="457200" lvl="1" indent="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60000"/>
              <a:buFont typeface="Arial" panose="020B0604020202020204" pitchFamily="34" charset="0"/>
              <a:buNone/>
            </a:pPr>
            <a:endParaRPr lang="en-US" altLang="zh-CN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A26F48-6848-44D2-F4E1-F25F0786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422" y="4850560"/>
            <a:ext cx="1936288" cy="16854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66BBA0-C813-7DA3-CBD0-4F0E622C3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021" y="836879"/>
            <a:ext cx="2349735" cy="18330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52C109-0742-52BB-98C0-C68F937DC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075" y="2825207"/>
            <a:ext cx="2011629" cy="174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08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1930908" y="103632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机器学习的步骤总结</a:t>
            </a:r>
            <a:endParaRPr lang="en-US" altLang="zh-CN" sz="26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）获取大量和任务相关的数据集来构建模型。</a:t>
            </a: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）通过模型在数据集上的误差不断迭代使误差最小来训练模型，得到对数据集拟合合理的模型；</a:t>
            </a:r>
          </a:p>
          <a:p>
            <a:pPr marL="0" indent="457200" defTabSz="913765">
              <a:lnSpc>
                <a:spcPct val="150000"/>
              </a:lnSpc>
              <a:buNone/>
              <a:defRPr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）将训练好调整好的模型应用到真实的场景中。</a:t>
            </a:r>
          </a:p>
        </p:txBody>
      </p:sp>
      <p:sp>
        <p:nvSpPr>
          <p:cNvPr id="41" name="文本框 2"/>
          <p:cNvSpPr txBox="1"/>
          <p:nvPr/>
        </p:nvSpPr>
        <p:spPr>
          <a:xfrm>
            <a:off x="152400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>
              <a:defRPr/>
            </a:pP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机器学习的步骤总结</a:t>
            </a:r>
          </a:p>
        </p:txBody>
      </p:sp>
    </p:spTree>
    <p:extLst>
      <p:ext uri="{BB962C8B-B14F-4D97-AF65-F5344CB8AC3E}">
        <p14:creationId xmlns:p14="http://schemas.microsoft.com/office/powerpoint/2010/main" val="279082485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3221</TotalTime>
  <Words>1167</Words>
  <Application>Microsoft Macintosh PowerPoint</Application>
  <PresentationFormat>宽屏</PresentationFormat>
  <Paragraphs>312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等线 Light</vt:lpstr>
      <vt:lpstr>微软雅黑</vt:lpstr>
      <vt:lpstr>Dinot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大数据技术的不同层面及其功能</vt:lpstr>
      <vt:lpstr>PowerPoint 演示文稿</vt:lpstr>
      <vt:lpstr>引入</vt:lpstr>
      <vt:lpstr>问题抽象</vt:lpstr>
      <vt:lpstr>PowerPoint 演示文稿</vt:lpstr>
      <vt:lpstr>机器学习过程</vt:lpstr>
      <vt:lpstr>机器学习过程</vt:lpstr>
      <vt:lpstr>机器学习过程</vt:lpstr>
      <vt:lpstr>机器学习过程</vt:lpstr>
      <vt:lpstr>PowerPoint 演示文稿</vt:lpstr>
      <vt:lpstr> 机器学习的主要研究内容</vt:lpstr>
      <vt:lpstr>按照模型功能划分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513</cp:revision>
  <dcterms:created xsi:type="dcterms:W3CDTF">2021-11-17T13:21:01Z</dcterms:created>
  <dcterms:modified xsi:type="dcterms:W3CDTF">2025-04-14T05:21:21Z</dcterms:modified>
</cp:coreProperties>
</file>
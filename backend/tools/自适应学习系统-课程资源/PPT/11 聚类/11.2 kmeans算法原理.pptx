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7" r:id="rId2"/>
    <p:sldId id="279" r:id="rId3"/>
    <p:sldId id="280" r:id="rId4"/>
    <p:sldId id="301" r:id="rId5"/>
    <p:sldId id="281" r:id="rId6"/>
    <p:sldId id="282" r:id="rId7"/>
    <p:sldId id="303" r:id="rId8"/>
    <p:sldId id="285" r:id="rId9"/>
    <p:sldId id="286" r:id="rId10"/>
    <p:sldId id="28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49" autoAdjust="0"/>
    <p:restoredTop sz="83196"/>
  </p:normalViewPr>
  <p:slideViewPr>
    <p:cSldViewPr snapToGrid="0" showGuides="1">
      <p:cViewPr varScale="1">
        <p:scale>
          <a:sx n="104" d="100"/>
          <a:sy n="104" d="100"/>
        </p:scale>
        <p:origin x="448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83DB9-62A5-4B1D-9B10-DE4062E9706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969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83DB9-62A5-4B1D-9B10-DE4062E9706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325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06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Part Two</a:t>
            </a:r>
            <a:b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K-means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85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F2CB7A-BA96-49B0-B171-042F421B50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3441"/>
            <a:ext cx="1523260" cy="365125"/>
          </a:xfrm>
        </p:spPr>
        <p:txBody>
          <a:bodyPr/>
          <a:lstStyle/>
          <a:p>
            <a:fld id="{BCF1BC06-E0FE-46B4-923B-F350AE291E25}" type="datetime1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2025/7/26</a:t>
            </a:fld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5A004ED-174F-43CC-9452-2829ADBB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7188" y="6446931"/>
            <a:ext cx="336612" cy="365125"/>
          </a:xfrm>
        </p:spPr>
        <p:txBody>
          <a:bodyPr/>
          <a:lstStyle/>
          <a:p>
            <a:fld id="{9ED3A831-FE31-4C69-83B6-0EC1B23515F3}" type="slidenum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E500F4-BB73-4D20-A156-84CAF8793FC1}"/>
              </a:ext>
            </a:extLst>
          </p:cNvPr>
          <p:cNvSpPr txBox="1"/>
          <p:nvPr/>
        </p:nvSpPr>
        <p:spPr>
          <a:xfrm>
            <a:off x="136189" y="45944"/>
            <a:ext cx="4185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Kmeans</a:t>
            </a:r>
            <a:r>
              <a:rPr lang="zh-CN" altLang="en-US" sz="2000" b="1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聚类算法原理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E2B2D9E-1979-4712-8C7B-C99475789D85}"/>
                  </a:ext>
                </a:extLst>
              </p:cNvPr>
              <p:cNvSpPr txBox="1"/>
              <p:nvPr/>
            </p:nvSpPr>
            <p:spPr>
              <a:xfrm>
                <a:off x="452761" y="709359"/>
                <a:ext cx="11286478" cy="5754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维度大小的样本集合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Kmeans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是要将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个样本划分到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个类别区域，通常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。所以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Kmeans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可以总结为对样本集合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的划分，其学习策略是通过损失函数最小化来选取最优划分。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假设使用欧式距离作为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Kmeans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的距离度量方式，则样本间的距离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可定义为：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定义样本与其所属类中心之间的距离总和为最终损失函数：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为第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个类的</a:t>
                </a:r>
                <a:r>
                  <a:rPr lang="zh-CN" altLang="zh-CN" b="1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质心</a:t>
                </a:r>
                <a:r>
                  <a:rPr lang="zh-CN" altLang="zh-CN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centroid</a:t>
                </a:r>
                <a:r>
                  <a:rPr lang="zh-CN" altLang="zh-CN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，即类的中心点，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</m:nary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表示指示函数，取值为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或者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表示相同类中样本的相似度。所以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均值聚类可以规约为一个优化问题来进行求解：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CN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E2B2D9E-1979-4712-8C7B-C99475789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61" y="709359"/>
                <a:ext cx="11286478" cy="5754652"/>
              </a:xfrm>
              <a:prstGeom prst="rect">
                <a:avLst/>
              </a:prstGeom>
              <a:blipFill>
                <a:blip r:embed="rId3"/>
                <a:stretch>
                  <a:fillRect l="-324" t="-530" r="-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711DC06-7198-F5D6-2AE3-74C9ADC47722}"/>
                  </a:ext>
                </a:extLst>
              </p:cNvPr>
              <p:cNvSpPr txBox="1"/>
              <p:nvPr/>
            </p:nvSpPr>
            <p:spPr>
              <a:xfrm>
                <a:off x="4391891" y="1803573"/>
                <a:ext cx="4059382" cy="466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𝑘𝑖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zh-CN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18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711DC06-7198-F5D6-2AE3-74C9ADC47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891" y="1803573"/>
                <a:ext cx="4059382" cy="466090"/>
              </a:xfrm>
              <a:prstGeom prst="rect">
                <a:avLst/>
              </a:prstGeom>
              <a:blipFill>
                <a:blip r:embed="rId4"/>
                <a:stretch>
                  <a:fillRect t="-78947" b="-144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04463E4-1DAA-E824-88E5-68E15486508E}"/>
                  </a:ext>
                </a:extLst>
              </p:cNvPr>
              <p:cNvSpPr txBox="1"/>
              <p:nvPr/>
            </p:nvSpPr>
            <p:spPr>
              <a:xfrm>
                <a:off x="4738254" y="3218322"/>
                <a:ext cx="3366655" cy="424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zh-CN" altLang="zh-CN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zh-CN" altLang="zh-CN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zh-CN" altLang="zh-CN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zh-CN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altLang="zh-CN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r>
                  <a:rPr lang="en-US" altLang="zh-CN" sz="18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04463E4-1DAA-E824-88E5-68E154865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254" y="3218322"/>
                <a:ext cx="3366655" cy="424219"/>
              </a:xfrm>
              <a:prstGeom prst="rect">
                <a:avLst/>
              </a:prstGeom>
              <a:blipFill>
                <a:blip r:embed="rId5"/>
                <a:stretch>
                  <a:fillRect t="-98571" b="-15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CA6EDA1-7215-0ABF-C081-528C0AA00F03}"/>
                  </a:ext>
                </a:extLst>
              </p:cNvPr>
              <p:cNvSpPr txBox="1"/>
              <p:nvPr/>
            </p:nvSpPr>
            <p:spPr>
              <a:xfrm>
                <a:off x="3048000" y="5260000"/>
                <a:ext cx="6096000" cy="833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b="1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zh-CN" altLang="en-US" sz="1800" b="1" i="1" kern="100">
                              <a:effectLst/>
                              <a:latin typeface="Cambria Math" panose="02040503050406030204" pitchFamily="18" charset="0"/>
                              <a:ea typeface="MS Gothic" panose="020B0609070205080204" pitchFamily="49" charset="-128"/>
                              <a:cs typeface="MS Gothic" panose="020B0609070205080204" pitchFamily="49" charset="-128"/>
                            </a:rPr>
                            <m:t>∗</m:t>
                          </m:r>
                        </m:sup>
                      </m:sSu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1800" b="1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                            </m:t>
                    </m:r>
                    <m:r>
                      <a:rPr lang="en-US" altLang="zh-CN" sz="1800" b="1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zh-CN" altLang="zh-CN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8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zh-CN" altLang="zh-CN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𝑙</m:t>
                                </m:r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zh-CN" altLang="zh-CN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  <m:d>
                                      <m:dPr>
                                        <m:ctrlPr>
                                          <a:rPr lang="zh-CN" altLang="zh-CN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zh-CN" altLang="zh-CN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‖"/>
                                            <m:endChr m:val="‖"/>
                                            <m:ctrlPr>
                                              <a:rPr lang="zh-CN" altLang="zh-CN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zh-CN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zh-CN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8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𝑙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nary>
                          </m:e>
                        </m:func>
                      </m:e>
                    </m:func>
                  </m:oMath>
                </a14:m>
                <a:r>
                  <a:rPr lang="en-US" altLang="zh-CN" sz="18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CA6EDA1-7215-0ABF-C081-528C0AA00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260000"/>
                <a:ext cx="6096000" cy="833433"/>
              </a:xfrm>
              <a:prstGeom prst="rect">
                <a:avLst/>
              </a:prstGeom>
              <a:blipFill>
                <a:blip r:embed="rId6"/>
                <a:stretch>
                  <a:fillRect l="-417" t="-5970" b="-64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59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DF6655-7F7E-4E73-A3C2-AFEE64A0F032}"/>
              </a:ext>
            </a:extLst>
          </p:cNvPr>
          <p:cNvSpPr txBox="1"/>
          <p:nvPr/>
        </p:nvSpPr>
        <p:spPr>
          <a:xfrm>
            <a:off x="4208015" y="6473502"/>
            <a:ext cx="3915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机器学习公式推导与代码实现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@louwill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F2CB7A-BA96-49B0-B171-042F421B50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3441"/>
            <a:ext cx="1523260" cy="365125"/>
          </a:xfrm>
        </p:spPr>
        <p:txBody>
          <a:bodyPr/>
          <a:lstStyle/>
          <a:p>
            <a:fld id="{BCF1BC06-E0FE-46B4-923B-F350AE291E25}" type="datetime1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2025/7/26</a:t>
            </a:fld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5A004ED-174F-43CC-9452-2829ADBB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7188" y="6446931"/>
            <a:ext cx="468230" cy="365125"/>
          </a:xfrm>
        </p:spPr>
        <p:txBody>
          <a:bodyPr/>
          <a:lstStyle/>
          <a:p>
            <a:fld id="{9ED3A831-FE31-4C69-83B6-0EC1B23515F3}" type="slidenum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E500F4-BB73-4D20-A156-84CAF8793FC1}"/>
              </a:ext>
            </a:extLst>
          </p:cNvPr>
          <p:cNvSpPr txBox="1"/>
          <p:nvPr/>
        </p:nvSpPr>
        <p:spPr>
          <a:xfrm>
            <a:off x="136189" y="45944"/>
            <a:ext cx="4185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Kmeans</a:t>
            </a:r>
            <a:r>
              <a:rPr lang="zh-CN" altLang="en-US" sz="2000" b="1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聚类算法原理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E2B2D9E-1979-4712-8C7B-C99475789D85}"/>
                  </a:ext>
                </a:extLst>
              </p:cNvPr>
              <p:cNvSpPr txBox="1"/>
              <p:nvPr/>
            </p:nvSpPr>
            <p:spPr>
              <a:xfrm>
                <a:off x="452761" y="709359"/>
                <a:ext cx="11286478" cy="5813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上式问题是一个</a:t>
                </a:r>
                <a:r>
                  <a:rPr lang="en-US" altLang="zh-CN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NP-hard</a:t>
                </a:r>
                <a:r>
                  <a:rPr lang="zh-CN" altLang="en-US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的组合优化问题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，实际求解时我们采用</a:t>
                </a:r>
                <a:r>
                  <a:rPr lang="zh-CN" altLang="en-US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迭代的方法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zh-CN" altLang="zh-CN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初始化质心。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即在第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次迭代时随机选择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个样本点作为初始化的聚类质心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(0)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,⋯,</m:t>
                        </m:r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,⋯,</m:t>
                        </m:r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(0)</m:t>
                            </m:r>
                          </m:sup>
                        </m:sSubSup>
                      </m:e>
                    </m:d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zh-CN" altLang="zh-CN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按照样本与质心的距离对样本进行聚类。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对固定的质心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,⋯,</m:t>
                        </m:r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,⋯,</m:t>
                        </m:r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d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的质心，计算每个样本到质心的距离，将每个样本划分到与其最近的质心所在的类，构成初步的聚类结果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solidFill>
                    <a:srgbClr val="304D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zh-CN" altLang="zh-CN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计算上一步聚类结果的新的质心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。对聚类结果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计算当前各个类中样本的均值，并作为新的质心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+1)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,⋯,</m:t>
                        </m:r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,⋯,</m:t>
                        </m:r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+1)</m:t>
                            </m:r>
                          </m:sup>
                        </m:sSubSup>
                      </m:e>
                    </m:d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如果迭代收敛或者满足迭代停止条件，则输出最后聚类结果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，否则令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，返回第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(2)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步重新计算。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zh-CN" altLang="zh-CN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CN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E2B2D9E-1979-4712-8C7B-C99475789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61" y="709359"/>
                <a:ext cx="11286478" cy="5813836"/>
              </a:xfrm>
              <a:prstGeom prst="rect">
                <a:avLst/>
              </a:prstGeom>
              <a:blipFill>
                <a:blip r:embed="rId3"/>
                <a:stretch>
                  <a:fillRect l="-337" t="-436" r="-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聚类过程</a:t>
            </a:r>
          </a:p>
        </p:txBody>
      </p:sp>
      <p:sp>
        <p:nvSpPr>
          <p:cNvPr id="135170" name="灯片编号占位符 3">
            <a:extLst>
              <a:ext uri="{FF2B5EF4-FFF2-40B4-BE49-F238E27FC236}">
                <a16:creationId xmlns:a16="http://schemas.microsoft.com/office/drawing/2014/main" id="{6E73CA28-A79C-5647-AF7E-6288F1AB3C4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0" y="6356350"/>
            <a:ext cx="41148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20" indent="-285738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2954" indent="-22859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136" indent="-22859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317" indent="-22859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499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681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8863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044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64">
              <a:spcBef>
                <a:spcPct val="0"/>
              </a:spcBef>
              <a:buClrTx/>
              <a:buNone/>
            </a:pPr>
            <a:fld id="{CC46B178-3A80-2441-B653-307E3A1D5AC0}" type="slidenum">
              <a:rPr lang="en-US" altLang="zh-CN" sz="1400">
                <a:solidFill>
                  <a:srgbClr val="113F71"/>
                </a:solidFill>
                <a:latin typeface="Arial" panose="020B0604020202020204" pitchFamily="34" charset="0"/>
              </a:rPr>
              <a:pPr defTabSz="914364">
                <a:spcBef>
                  <a:spcPct val="0"/>
                </a:spcBef>
                <a:buClrTx/>
                <a:buNone/>
              </a:pPr>
              <a:t>4</a:t>
            </a:fld>
            <a:endParaRPr lang="en-US" altLang="zh-CN" sz="1400">
              <a:solidFill>
                <a:srgbClr val="113F71"/>
              </a:solidFill>
              <a:latin typeface="Arial" panose="020B0604020202020204" pitchFamily="34" charset="0"/>
            </a:endParaRPr>
          </a:p>
        </p:txBody>
      </p:sp>
      <p:pic>
        <p:nvPicPr>
          <p:cNvPr id="135171" name="Picture 2">
            <a:extLst>
              <a:ext uri="{FF2B5EF4-FFF2-40B4-BE49-F238E27FC236}">
                <a16:creationId xmlns:a16="http://schemas.microsoft.com/office/drawing/2014/main" id="{86649846-D258-244C-AC50-2AC337C86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6"/>
          <a:stretch>
            <a:fillRect/>
          </a:stretch>
        </p:blipFill>
        <p:spPr bwMode="auto">
          <a:xfrm>
            <a:off x="2003426" y="1219200"/>
            <a:ext cx="8283575" cy="506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559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K-Means</a:t>
            </a:r>
            <a:r>
              <a:rPr lang="zh-CN" altLang="en-US" dirty="0"/>
              <a:t>案例</a:t>
            </a:r>
          </a:p>
        </p:txBody>
      </p:sp>
      <p:sp>
        <p:nvSpPr>
          <p:cNvPr id="3" name="矩形 2"/>
          <p:cNvSpPr/>
          <p:nvPr/>
        </p:nvSpPr>
        <p:spPr>
          <a:xfrm>
            <a:off x="656228" y="854102"/>
            <a:ext cx="104378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例：对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四个样品分别测量两个变量，得到如下结果，试将这些样品聚成</a:t>
            </a:r>
            <a:r>
              <a:rPr lang="zh-CN" altLang="en-US" sz="2800" b="1" dirty="0">
                <a:solidFill>
                  <a:srgbClr val="FF0000"/>
                </a:solidFill>
              </a:rPr>
              <a:t>两</a:t>
            </a:r>
            <a:r>
              <a:rPr lang="zh-CN" altLang="en-US" sz="2800" b="1" dirty="0"/>
              <a:t>类。 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551647"/>
              </p:ext>
            </p:extLst>
          </p:nvPr>
        </p:nvGraphicFramePr>
        <p:xfrm>
          <a:off x="818789" y="2182875"/>
          <a:ext cx="254417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057">
                  <a:extLst>
                    <a:ext uri="{9D8B030D-6E8A-4147-A177-3AD203B41FA5}">
                      <a16:colId xmlns:a16="http://schemas.microsoft.com/office/drawing/2014/main" val="1363226373"/>
                    </a:ext>
                  </a:extLst>
                </a:gridCol>
                <a:gridCol w="848057">
                  <a:extLst>
                    <a:ext uri="{9D8B030D-6E8A-4147-A177-3AD203B41FA5}">
                      <a16:colId xmlns:a16="http://schemas.microsoft.com/office/drawing/2014/main" val="188105082"/>
                    </a:ext>
                  </a:extLst>
                </a:gridCol>
                <a:gridCol w="848057">
                  <a:extLst>
                    <a:ext uri="{9D8B030D-6E8A-4147-A177-3AD203B41FA5}">
                      <a16:colId xmlns:a16="http://schemas.microsoft.com/office/drawing/2014/main" val="2436473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X1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X2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796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A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5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76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B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-1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19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C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-2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63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D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-3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-2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1826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537540" y="1858492"/>
                <a:ext cx="7892459" cy="488845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zh-CN" altLang="en-US" sz="2000" b="1" dirty="0"/>
                  <a:t>步骤</a:t>
                </a:r>
                <a:r>
                  <a:rPr lang="en-US" altLang="zh-CN" sz="2000" b="1" dirty="0"/>
                  <a:t>1</a:t>
                </a:r>
                <a:r>
                  <a:rPr lang="zh-CN" altLang="en-US" sz="2000" b="1" dirty="0"/>
                  <a:t>：随机初始化两类</a:t>
                </a:r>
                <a:r>
                  <a:rPr lang="en-US" altLang="zh-CN" sz="2000" b="1" dirty="0"/>
                  <a:t>{A, B}</a:t>
                </a:r>
                <a:r>
                  <a:rPr lang="zh-CN" altLang="en-US" sz="2000" b="1" dirty="0"/>
                  <a:t>、</a:t>
                </a:r>
                <a:r>
                  <a:rPr lang="en-US" altLang="zh-CN" sz="2000" b="1" dirty="0"/>
                  <a:t>{C, D}</a:t>
                </a:r>
                <a:r>
                  <a:rPr lang="zh-CN" altLang="en-US" sz="2000" b="1" dirty="0"/>
                  <a:t>，计算中心坐标</a:t>
                </a:r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=(−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b="1" dirty="0"/>
              </a:p>
              <a:p>
                <a:endParaRPr lang="en-US" altLang="zh-CN" sz="2000" b="1" dirty="0"/>
              </a:p>
              <a:p>
                <a:r>
                  <a:rPr lang="zh-CN" altLang="en-US" sz="2000" b="1" dirty="0"/>
                  <a:t>步骤</a:t>
                </a:r>
                <a:r>
                  <a:rPr lang="en-US" altLang="zh-CN" sz="2000" b="1" dirty="0"/>
                  <a:t>2</a:t>
                </a:r>
                <a:r>
                  <a:rPr lang="zh-CN" altLang="en-US" sz="2000" b="1" dirty="0"/>
                  <a:t>：计算每个点到中心坐标的距离</a:t>
                </a:r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𝟔𝟏</m:t>
                      </m:r>
                    </m:oMath>
                  </m:oMathPara>
                </a14:m>
                <a:endParaRPr lang="en-US" altLang="zh-CN" sz="2000" b="1" dirty="0"/>
              </a:p>
              <a:p>
                <a:r>
                  <a:rPr lang="zh-CN" altLang="en-US" sz="2000" b="1" dirty="0"/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所以</m:t>
                    </m:r>
                  </m:oMath>
                </a14:m>
                <a:r>
                  <a:rPr lang="en-US" altLang="zh-CN" sz="2000" b="1" dirty="0"/>
                  <a:t>A</a:t>
                </a:r>
                <a:r>
                  <a:rPr lang="zh-CN" altLang="en-US" sz="2000" b="1" dirty="0"/>
                  <a:t>点离</a:t>
                </a:r>
                <a:r>
                  <a:rPr lang="en-US" altLang="zh-CN" sz="2000" b="1" dirty="0"/>
                  <a:t>C1</a:t>
                </a:r>
                <a:r>
                  <a:rPr lang="zh-CN" altLang="en-US" sz="2000" b="1" dirty="0"/>
                  <a:t>更近，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altLang="zh-CN" sz="2000" b="1" dirty="0"/>
              </a:p>
              <a:p>
                <a:r>
                  <a:rPr lang="zh-CN" altLang="en-US" sz="2000" b="1" dirty="0"/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所以</m:t>
                    </m:r>
                  </m:oMath>
                </a14:m>
                <a:r>
                  <a:rPr lang="en-US" altLang="zh-CN" sz="2000" b="1" dirty="0"/>
                  <a:t>B</a:t>
                </a:r>
                <a:r>
                  <a:rPr lang="zh-CN" altLang="en-US" sz="2000" b="1" dirty="0"/>
                  <a:t>点离</a:t>
                </a:r>
                <a:r>
                  <a:rPr lang="en-US" altLang="zh-CN" sz="2000" b="1" dirty="0"/>
                  <a:t>C2</a:t>
                </a:r>
                <a:r>
                  <a:rPr lang="zh-CN" altLang="en-US" sz="2000" b="1" dirty="0"/>
                  <a:t>更近，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endParaRPr lang="en-US" altLang="zh-CN" sz="2000" b="1" dirty="0"/>
              </a:p>
              <a:p>
                <a:r>
                  <a:rPr lang="zh-CN" altLang="en-US" sz="2000" b="1" dirty="0"/>
                  <a:t>同理，可得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r>
                  <a:rPr lang="zh-CN" altLang="en-US" sz="2400" b="1" dirty="0">
                    <a:solidFill>
                      <a:srgbClr val="FF0000"/>
                    </a:solidFill>
                  </a:rPr>
                  <a:t>所以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C1 = {A}, C2={B, C, D}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540" y="1858492"/>
                <a:ext cx="7892459" cy="4888454"/>
              </a:xfrm>
              <a:prstGeom prst="rect">
                <a:avLst/>
              </a:prstGeom>
              <a:blipFill>
                <a:blip r:embed="rId2"/>
                <a:stretch>
                  <a:fillRect l="-1079" t="-622" b="-18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4080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K-Means</a:t>
            </a:r>
            <a:r>
              <a:rPr lang="zh-CN" altLang="en-US" dirty="0"/>
              <a:t>案例</a:t>
            </a:r>
          </a:p>
        </p:txBody>
      </p:sp>
      <p:sp>
        <p:nvSpPr>
          <p:cNvPr id="3" name="矩形 2"/>
          <p:cNvSpPr/>
          <p:nvPr/>
        </p:nvSpPr>
        <p:spPr>
          <a:xfrm>
            <a:off x="656228" y="854102"/>
            <a:ext cx="104378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例：对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四个样品分别测量两个变量，得到如下结果，试将这些样品聚成</a:t>
            </a:r>
            <a:r>
              <a:rPr lang="zh-CN" altLang="en-US" sz="2800" b="1" dirty="0">
                <a:solidFill>
                  <a:srgbClr val="FF0000"/>
                </a:solidFill>
              </a:rPr>
              <a:t>两</a:t>
            </a:r>
            <a:r>
              <a:rPr lang="zh-CN" altLang="en-US" sz="2800" b="1" dirty="0"/>
              <a:t>类。 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18789" y="2182875"/>
          <a:ext cx="254417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057">
                  <a:extLst>
                    <a:ext uri="{9D8B030D-6E8A-4147-A177-3AD203B41FA5}">
                      <a16:colId xmlns:a16="http://schemas.microsoft.com/office/drawing/2014/main" val="1363226373"/>
                    </a:ext>
                  </a:extLst>
                </a:gridCol>
                <a:gridCol w="848057">
                  <a:extLst>
                    <a:ext uri="{9D8B030D-6E8A-4147-A177-3AD203B41FA5}">
                      <a16:colId xmlns:a16="http://schemas.microsoft.com/office/drawing/2014/main" val="188105082"/>
                    </a:ext>
                  </a:extLst>
                </a:gridCol>
                <a:gridCol w="848057">
                  <a:extLst>
                    <a:ext uri="{9D8B030D-6E8A-4147-A177-3AD203B41FA5}">
                      <a16:colId xmlns:a16="http://schemas.microsoft.com/office/drawing/2014/main" val="2436473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X1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X2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796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A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5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76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B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-1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19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C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-2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63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D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-3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-2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1826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537540" y="1858492"/>
                <a:ext cx="8654460" cy="457368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zh-CN" altLang="en-US" sz="2000" b="1" dirty="0"/>
                  <a:t>步骤</a:t>
                </a:r>
                <a:r>
                  <a:rPr lang="en-US" altLang="zh-CN" sz="2000" b="1" dirty="0"/>
                  <a:t>3</a:t>
                </a:r>
                <a:r>
                  <a:rPr lang="zh-CN" altLang="en-US" sz="2000" b="1" dirty="0"/>
                  <a:t>：重新计算类中心</a:t>
                </a:r>
                <a:r>
                  <a:rPr lang="en-US" altLang="zh-CN" sz="2000" b="1" dirty="0"/>
                  <a:t>{A}</a:t>
                </a:r>
                <a:r>
                  <a:rPr lang="zh-CN" altLang="en-US" sz="2000" b="1" dirty="0"/>
                  <a:t>、</a:t>
                </a:r>
                <a:r>
                  <a:rPr lang="en-US" altLang="zh-CN" sz="2000" b="1" dirty="0"/>
                  <a:t>{B, C, D}</a:t>
                </a:r>
                <a:r>
                  <a:rPr lang="zh-CN" altLang="en-US" sz="2000" b="1" dirty="0"/>
                  <a:t>，计算中心坐标</a:t>
                </a:r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=(−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b="1" dirty="0"/>
              </a:p>
              <a:p>
                <a:endParaRPr lang="en-US" altLang="zh-CN" sz="2000" b="1" dirty="0"/>
              </a:p>
              <a:p>
                <a:r>
                  <a:rPr lang="zh-CN" altLang="en-US" sz="2000" b="1" dirty="0"/>
                  <a:t>步骤</a:t>
                </a:r>
                <a:r>
                  <a:rPr lang="en-US" altLang="zh-CN" sz="2000" b="1" dirty="0"/>
                  <a:t>4</a:t>
                </a:r>
                <a:r>
                  <a:rPr lang="zh-CN" altLang="en-US" sz="2000" b="1" dirty="0"/>
                  <a:t>：计算每个点到中心坐标的距离</a:t>
                </a:r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𝟓𝟐</m:t>
                      </m:r>
                    </m:oMath>
                  </m:oMathPara>
                </a14:m>
                <a:endParaRPr lang="en-US" altLang="zh-CN" sz="2000" b="1" dirty="0"/>
              </a:p>
              <a:p>
                <a:r>
                  <a:rPr lang="zh-CN" altLang="en-US" sz="2000" b="1" dirty="0"/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所以</m:t>
                    </m:r>
                  </m:oMath>
                </a14:m>
                <a:r>
                  <a:rPr lang="en-US" altLang="zh-CN" sz="2000" b="1" dirty="0"/>
                  <a:t>A</a:t>
                </a:r>
                <a:r>
                  <a:rPr lang="zh-CN" altLang="en-US" sz="2000" b="1" dirty="0"/>
                  <a:t>点离</a:t>
                </a:r>
                <a:r>
                  <a:rPr lang="en-US" altLang="zh-CN" sz="2000" b="1" dirty="0"/>
                  <a:t>C1</a:t>
                </a:r>
                <a:r>
                  <a:rPr lang="zh-CN" altLang="en-US" sz="2000" b="1" dirty="0"/>
                  <a:t>更近，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altLang="zh-CN" sz="2000" b="1" dirty="0"/>
              </a:p>
              <a:p>
                <a:r>
                  <a:rPr lang="zh-CN" altLang="en-US" sz="2000" b="1" dirty="0"/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所以</m:t>
                    </m:r>
                  </m:oMath>
                </a14:m>
                <a:r>
                  <a:rPr lang="en-US" altLang="zh-CN" sz="2000" b="1" dirty="0"/>
                  <a:t>B</a:t>
                </a:r>
                <a:r>
                  <a:rPr lang="zh-CN" altLang="en-US" sz="2000" b="1" dirty="0"/>
                  <a:t>点离</a:t>
                </a:r>
                <a:r>
                  <a:rPr lang="en-US" altLang="zh-CN" sz="2000" b="1" dirty="0"/>
                  <a:t>C2</a:t>
                </a:r>
                <a:r>
                  <a:rPr lang="zh-CN" altLang="en-US" sz="2000" b="1" dirty="0"/>
                  <a:t>更近，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endParaRPr lang="en-US" altLang="zh-CN" sz="2000" b="1" dirty="0"/>
              </a:p>
              <a:p>
                <a:r>
                  <a:rPr lang="zh-CN" altLang="en-US" sz="2000" b="1" dirty="0"/>
                  <a:t>同理，可得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altLang="zh-CN" sz="2000" b="1" dirty="0">
                  <a:solidFill>
                    <a:srgbClr val="FF0000"/>
                  </a:solidFill>
                </a:endParaRPr>
              </a:p>
              <a:p>
                <a:r>
                  <a:rPr lang="zh-CN" altLang="en-US" sz="2400" b="1" dirty="0">
                    <a:solidFill>
                      <a:srgbClr val="FF0000"/>
                    </a:solidFill>
                  </a:rPr>
                  <a:t>所以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C1 = {A}, C2={B, C, D}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， 聚类中心不再变化，算法终止！</a:t>
                </a:r>
                <a:endParaRPr lang="en-US" altLang="zh-CN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540" y="1858492"/>
                <a:ext cx="8654460" cy="4573688"/>
              </a:xfrm>
              <a:prstGeom prst="rect">
                <a:avLst/>
              </a:prstGeom>
              <a:blipFill>
                <a:blip r:embed="rId2"/>
                <a:stretch>
                  <a:fillRect l="-985" t="-665"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825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ECFAF-E72A-65C4-22AA-5D319266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K-Means</a:t>
            </a:r>
            <a:r>
              <a:rPr lang="zh-CN" altLang="en-US" dirty="0"/>
              <a:t>练习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BCCD04-7D7F-6614-E868-D497702165E1}"/>
              </a:ext>
            </a:extLst>
          </p:cNvPr>
          <p:cNvSpPr/>
          <p:nvPr/>
        </p:nvSpPr>
        <p:spPr>
          <a:xfrm>
            <a:off x="656228" y="1208944"/>
            <a:ext cx="104378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例：对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四个样品分别测量两个变量，得到如下结果，试将这些样品聚成</a:t>
            </a:r>
            <a:r>
              <a:rPr lang="zh-CN" altLang="en-US" sz="2800" b="1" dirty="0">
                <a:solidFill>
                  <a:srgbClr val="FF0000"/>
                </a:solidFill>
              </a:rPr>
              <a:t>两</a:t>
            </a:r>
            <a:r>
              <a:rPr lang="zh-CN" altLang="en-US" sz="2800" b="1" dirty="0"/>
              <a:t>类。 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627221B-EBE4-7D31-A125-274EFF1F8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261960"/>
              </p:ext>
            </p:extLst>
          </p:nvPr>
        </p:nvGraphicFramePr>
        <p:xfrm>
          <a:off x="955267" y="2408950"/>
          <a:ext cx="254417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057">
                  <a:extLst>
                    <a:ext uri="{9D8B030D-6E8A-4147-A177-3AD203B41FA5}">
                      <a16:colId xmlns:a16="http://schemas.microsoft.com/office/drawing/2014/main" val="1363226373"/>
                    </a:ext>
                  </a:extLst>
                </a:gridCol>
                <a:gridCol w="848057">
                  <a:extLst>
                    <a:ext uri="{9D8B030D-6E8A-4147-A177-3AD203B41FA5}">
                      <a16:colId xmlns:a16="http://schemas.microsoft.com/office/drawing/2014/main" val="188105082"/>
                    </a:ext>
                  </a:extLst>
                </a:gridCol>
                <a:gridCol w="848057">
                  <a:extLst>
                    <a:ext uri="{9D8B030D-6E8A-4147-A177-3AD203B41FA5}">
                      <a16:colId xmlns:a16="http://schemas.microsoft.com/office/drawing/2014/main" val="2436473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X1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X2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796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A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5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76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B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-1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19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C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-2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63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D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-3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-2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18262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F755128-A70F-7AE1-7281-B35F314E7C8F}"/>
              </a:ext>
            </a:extLst>
          </p:cNvPr>
          <p:cNvSpPr txBox="1"/>
          <p:nvPr/>
        </p:nvSpPr>
        <p:spPr>
          <a:xfrm>
            <a:off x="4217158" y="2163051"/>
            <a:ext cx="7697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步骤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：随机初始化两类</a:t>
            </a:r>
            <a:r>
              <a:rPr lang="en-US" altLang="zh-CN" sz="1800" b="1" dirty="0"/>
              <a:t>{A, C}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{B, D}</a:t>
            </a:r>
            <a:r>
              <a:rPr lang="zh-CN" altLang="en-US" sz="1800" b="1" dirty="0"/>
              <a:t>，计算中心坐标</a:t>
            </a:r>
            <a:endParaRPr lang="en-US" altLang="zh-CN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EF1BD42-FBB3-F0CE-8899-FF779B534725}"/>
                  </a:ext>
                </a:extLst>
              </p:cNvPr>
              <p:cNvSpPr txBox="1"/>
              <p:nvPr/>
            </p:nvSpPr>
            <p:spPr>
              <a:xfrm>
                <a:off x="4142094" y="2690367"/>
                <a:ext cx="7847463" cy="624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altLang="zh-CN" sz="1800" b="1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800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CN" sz="1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=(−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8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EF1BD42-FBB3-F0CE-8899-FF779B534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094" y="2690367"/>
                <a:ext cx="7847463" cy="624210"/>
              </a:xfrm>
              <a:prstGeom prst="rect">
                <a:avLst/>
              </a:prstGeom>
              <a:blipFill>
                <a:blip r:embed="rId2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644FD5F4-C4D9-87CE-E9BF-40FE05B197A1}"/>
              </a:ext>
            </a:extLst>
          </p:cNvPr>
          <p:cNvSpPr txBox="1"/>
          <p:nvPr/>
        </p:nvSpPr>
        <p:spPr>
          <a:xfrm>
            <a:off x="4142094" y="3486490"/>
            <a:ext cx="6141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步骤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：计算每个点到中心坐标的距离</a:t>
            </a:r>
            <a:endParaRPr lang="en-US" altLang="zh-CN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0E0B67C-C37D-5DFA-12A9-F0E0C34C1253}"/>
                  </a:ext>
                </a:extLst>
              </p:cNvPr>
              <p:cNvSpPr txBox="1"/>
              <p:nvPr/>
            </p:nvSpPr>
            <p:spPr>
              <a:xfrm>
                <a:off x="4312693" y="4027735"/>
                <a:ext cx="6141492" cy="941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altLang="zh-CN" sz="1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1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altLang="zh-CN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1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8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𝟔𝟏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altLang="zh-CN" sz="1800" b="1" dirty="0"/>
              </a:p>
              <a:p>
                <a:r>
                  <a:rPr lang="zh-CN" altLang="en-US" sz="1800" b="1" dirty="0"/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CN" sz="1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800" b="1" i="1">
                        <a:latin typeface="Cambria Math" panose="02040503050406030204" pitchFamily="18" charset="0"/>
                      </a:rPr>
                      <m:t>所以</m:t>
                    </m:r>
                  </m:oMath>
                </a14:m>
                <a:r>
                  <a:rPr lang="en-US" altLang="zh-CN" sz="1800" b="1" dirty="0"/>
                  <a:t>A</a:t>
                </a:r>
                <a:r>
                  <a:rPr lang="zh-CN" altLang="en-US" sz="1800" b="1" dirty="0"/>
                  <a:t>点离</a:t>
                </a:r>
                <a:r>
                  <a:rPr lang="en-US" altLang="zh-CN" sz="1800" b="1" dirty="0"/>
                  <a:t>C1</a:t>
                </a:r>
                <a:r>
                  <a:rPr lang="zh-CN" altLang="en-US" sz="1800" b="1" dirty="0"/>
                  <a:t>更近，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0E0B67C-C37D-5DFA-12A9-F0E0C34C1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693" y="4027735"/>
                <a:ext cx="6141492" cy="941989"/>
              </a:xfrm>
              <a:prstGeom prst="rect">
                <a:avLst/>
              </a:prstGeom>
              <a:blipFill>
                <a:blip r:embed="rId3"/>
                <a:stretch>
                  <a:fillRect l="-825"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B8D5CF0-BE27-B097-3150-EAAB23F6B763}"/>
                  </a:ext>
                </a:extLst>
              </p:cNvPr>
              <p:cNvSpPr txBox="1"/>
              <p:nvPr/>
            </p:nvSpPr>
            <p:spPr>
              <a:xfrm>
                <a:off x="4312693" y="5069829"/>
                <a:ext cx="614149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/>
                  <a:t>同理，可得</a:t>
                </a:r>
                <a:r>
                  <a:rPr lang="en-US" altLang="zh-CN" sz="1600" b="1" dirty="0"/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zh-CN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r>
                  <a:rPr lang="zh-CN" altLang="en-US" sz="1800" b="1" dirty="0">
                    <a:solidFill>
                      <a:srgbClr val="FF0000"/>
                    </a:solidFill>
                  </a:rPr>
                  <a:t>所以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C1 = {A,C}, C2={B, D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}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B8D5CF0-BE27-B097-3150-EAAB23F6B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693" y="5069829"/>
                <a:ext cx="6141492" cy="923330"/>
              </a:xfrm>
              <a:prstGeom prst="rect">
                <a:avLst/>
              </a:prstGeom>
              <a:blipFill>
                <a:blip r:embed="rId4"/>
                <a:stretch>
                  <a:fillRect l="-825" t="-4110" b="-10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D1666DB5-D774-3D2C-BD29-A52FE602CCC7}"/>
              </a:ext>
            </a:extLst>
          </p:cNvPr>
          <p:cNvSpPr txBox="1"/>
          <p:nvPr/>
        </p:nvSpPr>
        <p:spPr>
          <a:xfrm>
            <a:off x="4312693" y="6209311"/>
            <a:ext cx="6141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</a:rPr>
              <a:t>聚类中心不再变化，算法终止！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005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初始聚类中心选择</a:t>
            </a:r>
          </a:p>
        </p:txBody>
      </p:sp>
      <p:sp>
        <p:nvSpPr>
          <p:cNvPr id="135170" name="灯片编号占位符 3">
            <a:extLst>
              <a:ext uri="{FF2B5EF4-FFF2-40B4-BE49-F238E27FC236}">
                <a16:creationId xmlns:a16="http://schemas.microsoft.com/office/drawing/2014/main" id="{6E73CA28-A79C-5647-AF7E-6288F1AB3C4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0" y="6356350"/>
            <a:ext cx="41148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20" indent="-285738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2954" indent="-22859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136" indent="-22859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317" indent="-22859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499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681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8863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044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64">
              <a:spcBef>
                <a:spcPct val="0"/>
              </a:spcBef>
              <a:buClrTx/>
              <a:buNone/>
            </a:pPr>
            <a:fld id="{CC46B178-3A80-2441-B653-307E3A1D5AC0}" type="slidenum">
              <a:rPr lang="en-US" altLang="zh-CN" sz="1400">
                <a:solidFill>
                  <a:srgbClr val="113F71"/>
                </a:solidFill>
                <a:latin typeface="Arial" panose="020B0604020202020204" pitchFamily="34" charset="0"/>
              </a:rPr>
              <a:pPr defTabSz="914364">
                <a:spcBef>
                  <a:spcPct val="0"/>
                </a:spcBef>
                <a:buClrTx/>
                <a:buNone/>
              </a:pPr>
              <a:t>8</a:t>
            </a:fld>
            <a:endParaRPr lang="en-US" altLang="zh-CN" sz="1400">
              <a:solidFill>
                <a:srgbClr val="113F71"/>
              </a:solidFill>
              <a:latin typeface="Arial" panose="020B0604020202020204" pitchFamily="34" charset="0"/>
            </a:endParaRPr>
          </a:p>
        </p:txBody>
      </p:sp>
      <p:pic>
        <p:nvPicPr>
          <p:cNvPr id="135171" name="Picture 2">
            <a:extLst>
              <a:ext uri="{FF2B5EF4-FFF2-40B4-BE49-F238E27FC236}">
                <a16:creationId xmlns:a16="http://schemas.microsoft.com/office/drawing/2014/main" id="{86649846-D258-244C-AC50-2AC337C86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6"/>
          <a:stretch>
            <a:fillRect/>
          </a:stretch>
        </p:blipFill>
        <p:spPr bwMode="auto">
          <a:xfrm>
            <a:off x="2003426" y="1219200"/>
            <a:ext cx="8283575" cy="506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0746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初始聚类中心选择</a:t>
            </a:r>
          </a:p>
        </p:txBody>
      </p:sp>
      <p:sp>
        <p:nvSpPr>
          <p:cNvPr id="136194" name="灯片编号占位符 3">
            <a:extLst>
              <a:ext uri="{FF2B5EF4-FFF2-40B4-BE49-F238E27FC236}">
                <a16:creationId xmlns:a16="http://schemas.microsoft.com/office/drawing/2014/main" id="{663A9070-7772-924A-ABAF-C3CAC5B66E9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0" y="6356350"/>
            <a:ext cx="41148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20" indent="-285738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2954" indent="-22859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136" indent="-22859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317" indent="-22859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499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681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8863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044" indent="-22859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64">
              <a:spcBef>
                <a:spcPct val="0"/>
              </a:spcBef>
              <a:buClrTx/>
              <a:buNone/>
            </a:pPr>
            <a:fld id="{049F1F1D-B5D4-874D-AF47-6A543167F009}" type="slidenum">
              <a:rPr lang="en-US" altLang="zh-CN" sz="1400">
                <a:solidFill>
                  <a:srgbClr val="113F71"/>
                </a:solidFill>
                <a:latin typeface="Arial" panose="020B0604020202020204" pitchFamily="34" charset="0"/>
              </a:rPr>
              <a:pPr defTabSz="914364">
                <a:spcBef>
                  <a:spcPct val="0"/>
                </a:spcBef>
                <a:buClrTx/>
                <a:buNone/>
              </a:pPr>
              <a:t>9</a:t>
            </a:fld>
            <a:endParaRPr lang="en-US" altLang="zh-CN" sz="1400">
              <a:solidFill>
                <a:srgbClr val="113F71"/>
              </a:solidFill>
              <a:latin typeface="Arial" panose="020B0604020202020204" pitchFamily="34" charset="0"/>
            </a:endParaRPr>
          </a:p>
        </p:txBody>
      </p:sp>
      <p:pic>
        <p:nvPicPr>
          <p:cNvPr id="136195" name="Picture 2">
            <a:extLst>
              <a:ext uri="{FF2B5EF4-FFF2-40B4-BE49-F238E27FC236}">
                <a16:creationId xmlns:a16="http://schemas.microsoft.com/office/drawing/2014/main" id="{37D11CEE-C416-0E43-BF24-2A191511D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813" y="1304926"/>
            <a:ext cx="8132762" cy="4943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485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文本框 3"/>
          <p:cNvSpPr txBox="1">
            <a:spLocks noChangeArrowheads="1"/>
          </p:cNvSpPr>
          <p:nvPr/>
        </p:nvSpPr>
        <p:spPr bwMode="auto">
          <a:xfrm>
            <a:off x="133942" y="1230254"/>
            <a:ext cx="10515599" cy="393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zh-CN" altLang="en-US" sz="2880" b="1" dirty="0">
                <a:solidFill>
                  <a:prstClr val="black"/>
                </a:solidFill>
              </a:rPr>
              <a:t>轮廓系数：用来评估聚类结果的指标</a:t>
            </a:r>
            <a:endParaRPr lang="en-US" altLang="zh-CN" sz="2880" b="1" dirty="0">
              <a:solidFill>
                <a:prstClr val="black"/>
              </a:solidFill>
            </a:endParaRPr>
          </a:p>
          <a:p>
            <a:pPr marL="457200" indent="-457200" algn="just" eaLnBrk="1" hangingPunct="1">
              <a:buFont typeface="Wingdings" panose="05000000000000000000" pitchFamily="2" charset="2"/>
              <a:buChar char="u"/>
            </a:pPr>
            <a:r>
              <a:rPr lang="zh-CN" altLang="en-US" sz="2880" b="1" dirty="0">
                <a:solidFill>
                  <a:prstClr val="black"/>
                </a:solidFill>
              </a:rPr>
              <a:t>组内距离尽量小（类内的更紧密）</a:t>
            </a:r>
            <a:endParaRPr lang="en-US" altLang="zh-CN" sz="2880" b="1" dirty="0">
              <a:solidFill>
                <a:prstClr val="black"/>
              </a:solidFill>
            </a:endParaRPr>
          </a:p>
          <a:p>
            <a:pPr marL="457200" indent="-457200" algn="just" eaLnBrk="1" hangingPunct="1">
              <a:buFont typeface="Wingdings" panose="05000000000000000000" pitchFamily="2" charset="2"/>
              <a:buChar char="u"/>
            </a:pPr>
            <a:r>
              <a:rPr lang="zh-CN" altLang="en-US" sz="2880" b="1" dirty="0">
                <a:solidFill>
                  <a:prstClr val="black"/>
                </a:solidFill>
              </a:rPr>
              <a:t>组间距离尽量大（类间的更分离）</a:t>
            </a:r>
            <a:endParaRPr lang="en-US" altLang="zh-CN" sz="2880" b="1" dirty="0">
              <a:solidFill>
                <a:prstClr val="black"/>
              </a:solidFill>
            </a:endParaRPr>
          </a:p>
          <a:p>
            <a:pPr marL="457200" indent="-457200" algn="just" eaLnBrk="1" hangingPunct="1">
              <a:buFont typeface="Wingdings" panose="05000000000000000000" pitchFamily="2" charset="2"/>
              <a:buChar char="u"/>
            </a:pPr>
            <a:endParaRPr lang="en-US" altLang="zh-CN" sz="2880" b="1" dirty="0">
              <a:solidFill>
                <a:prstClr val="black"/>
              </a:solidFill>
            </a:endParaRPr>
          </a:p>
          <a:p>
            <a:pPr algn="just" eaLnBrk="1" hangingPunct="1"/>
            <a:endParaRPr lang="en-US" altLang="zh-CN" sz="2880" b="1" dirty="0">
              <a:solidFill>
                <a:prstClr val="black"/>
              </a:solidFill>
            </a:endParaRPr>
          </a:p>
          <a:p>
            <a:pPr algn="just" eaLnBrk="1" hangingPunct="1"/>
            <a:endParaRPr lang="en-US" altLang="zh-CN" sz="2880" b="1" dirty="0">
              <a:solidFill>
                <a:prstClr val="black"/>
              </a:solidFill>
            </a:endParaRPr>
          </a:p>
          <a:p>
            <a:pPr algn="just" eaLnBrk="1" hangingPunct="1"/>
            <a:r>
              <a:rPr lang="en-US" altLang="zh-CN" dirty="0"/>
              <a:t>a(</a:t>
            </a:r>
            <a:r>
              <a:rPr lang="en-US" altLang="zh-CN" dirty="0" err="1"/>
              <a:t>i</a:t>
            </a:r>
            <a:r>
              <a:rPr lang="en-US" altLang="zh-CN" dirty="0"/>
              <a:t>) = </a:t>
            </a:r>
            <a:r>
              <a:rPr lang="zh-CN" altLang="en-US" dirty="0"/>
              <a:t>样本</a:t>
            </a:r>
            <a:r>
              <a:rPr lang="en-US" altLang="zh-CN" dirty="0" err="1"/>
              <a:t>i</a:t>
            </a:r>
            <a:r>
              <a:rPr lang="zh-CN" altLang="en-US" dirty="0"/>
              <a:t>与同一簇类内其他点的平均距离</a:t>
            </a:r>
            <a:endParaRPr lang="en-US" altLang="zh-CN" dirty="0"/>
          </a:p>
          <a:p>
            <a:pPr algn="just" eaLnBrk="1" hangingPunct="1"/>
            <a:r>
              <a:rPr lang="en-US" altLang="zh-CN" dirty="0"/>
              <a:t>b(</a:t>
            </a:r>
            <a:r>
              <a:rPr lang="en-US" altLang="zh-CN" dirty="0" err="1"/>
              <a:t>i</a:t>
            </a:r>
            <a:r>
              <a:rPr lang="en-US" altLang="zh-CN" dirty="0"/>
              <a:t>) = min{</a:t>
            </a:r>
            <a:r>
              <a:rPr lang="zh-CN" altLang="en-US" dirty="0"/>
              <a:t>样本</a:t>
            </a:r>
            <a:r>
              <a:rPr lang="en-US" altLang="zh-CN" dirty="0" err="1"/>
              <a:t>i</a:t>
            </a:r>
            <a:r>
              <a:rPr lang="zh-CN" altLang="en-US" dirty="0"/>
              <a:t>与其他簇类内其他点的平均距离</a:t>
            </a:r>
            <a:r>
              <a:rPr lang="en-US" altLang="zh-CN" dirty="0"/>
              <a:t>}</a:t>
            </a:r>
          </a:p>
          <a:p>
            <a:pPr algn="just" eaLnBrk="1" hangingPunct="1"/>
            <a:endParaRPr lang="en-US" altLang="zh-CN" sz="2880" b="1" dirty="0">
              <a:solidFill>
                <a:prstClr val="blac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评估聚类结果指标：轮廓系数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267EC8-20E2-37A9-E943-7205D1B0C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66" y="2808299"/>
            <a:ext cx="3265180" cy="94854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96657D2-068D-A215-EED4-28CB39F2DF9B}"/>
              </a:ext>
            </a:extLst>
          </p:cNvPr>
          <p:cNvSpPr txBox="1"/>
          <p:nvPr/>
        </p:nvSpPr>
        <p:spPr>
          <a:xfrm>
            <a:off x="6632812" y="2728573"/>
            <a:ext cx="542524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‌</a:t>
            </a:r>
            <a:r>
              <a:rPr lang="en-US" altLang="zh-CN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1‌</a:t>
            </a: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：数据点聚类合理，内聚度高且分离度大。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‌</a:t>
            </a:r>
            <a:r>
              <a:rPr lang="en-US" altLang="zh-CN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0‌</a:t>
            </a: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：数据点处于簇边界，难以明确分类。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‌</a:t>
            </a:r>
            <a:r>
              <a:rPr lang="en-US" altLang="zh-CN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-1‌</a:t>
            </a:r>
            <a:r>
              <a:rPr lang="zh-CN" altLang="en-US" sz="22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：数据点可能被错误分配到相邻簇。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93C5B4-4413-64E8-88DF-72463BB90814}"/>
              </a:ext>
            </a:extLst>
          </p:cNvPr>
          <p:cNvSpPr txBox="1"/>
          <p:nvPr/>
        </p:nvSpPr>
        <p:spPr>
          <a:xfrm>
            <a:off x="6498871" y="1563915"/>
            <a:ext cx="55591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zh-CN" altLang="en-US" sz="2400" b="1" dirty="0">
                <a:solidFill>
                  <a:prstClr val="black"/>
                </a:solidFill>
              </a:rPr>
              <a:t>计算每个样本轮廓系数的平均值，即为聚类轮廓系数</a:t>
            </a:r>
            <a:r>
              <a:rPr lang="en-US" altLang="zh-CN" sz="2400" b="1" dirty="0">
                <a:solidFill>
                  <a:prstClr val="black"/>
                </a:solidFill>
              </a:rPr>
              <a:t>,</a:t>
            </a:r>
            <a:r>
              <a:rPr lang="zh-CN" altLang="en-US" sz="2400" b="1" dirty="0">
                <a:solidFill>
                  <a:prstClr val="black"/>
                </a:solidFill>
              </a:rPr>
              <a:t>轮廓系数取值范围在</a:t>
            </a:r>
            <a:r>
              <a:rPr lang="en-US" altLang="zh-CN" sz="2400" b="1" dirty="0">
                <a:solidFill>
                  <a:prstClr val="black"/>
                </a:solidFill>
              </a:rPr>
              <a:t>[1,-1]</a:t>
            </a:r>
          </a:p>
        </p:txBody>
      </p:sp>
    </p:spTree>
    <p:extLst>
      <p:ext uri="{BB962C8B-B14F-4D97-AF65-F5344CB8AC3E}">
        <p14:creationId xmlns:p14="http://schemas.microsoft.com/office/powerpoint/2010/main" val="1161061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8625</TotalTime>
  <Words>1137</Words>
  <Application>Microsoft Macintosh PowerPoint</Application>
  <PresentationFormat>宽屏</PresentationFormat>
  <Paragraphs>146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等线 Light</vt:lpstr>
      <vt:lpstr>微软雅黑</vt:lpstr>
      <vt:lpstr>PingFang SC</vt:lpstr>
      <vt:lpstr>Arial</vt:lpstr>
      <vt:lpstr>Cambria Math</vt:lpstr>
      <vt:lpstr>Times New Roman</vt:lpstr>
      <vt:lpstr>Wingdings</vt:lpstr>
      <vt:lpstr>Office 主题​​</vt:lpstr>
      <vt:lpstr>Part Two K-means</vt:lpstr>
      <vt:lpstr>PowerPoint 演示文稿</vt:lpstr>
      <vt:lpstr>PowerPoint 演示文稿</vt:lpstr>
      <vt:lpstr>聚类过程</vt:lpstr>
      <vt:lpstr>K-Means案例</vt:lpstr>
      <vt:lpstr>K-Means案例</vt:lpstr>
      <vt:lpstr>K-Means练习</vt:lpstr>
      <vt:lpstr>初始聚类中心选择</vt:lpstr>
      <vt:lpstr>初始聚类中心选择</vt:lpstr>
      <vt:lpstr>评估聚类结果指标：轮廓系数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596</cp:revision>
  <dcterms:created xsi:type="dcterms:W3CDTF">2021-11-17T13:21:01Z</dcterms:created>
  <dcterms:modified xsi:type="dcterms:W3CDTF">2025-07-26T14:06:13Z</dcterms:modified>
</cp:coreProperties>
</file>
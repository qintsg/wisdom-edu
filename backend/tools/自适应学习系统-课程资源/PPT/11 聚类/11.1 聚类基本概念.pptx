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73" r:id="rId3"/>
    <p:sldId id="277" r:id="rId4"/>
    <p:sldId id="275" r:id="rId5"/>
    <p:sldId id="276" r:id="rId6"/>
    <p:sldId id="27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419B"/>
    <a:srgbClr val="116A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449" autoAdjust="0"/>
    <p:restoredTop sz="83196"/>
  </p:normalViewPr>
  <p:slideViewPr>
    <p:cSldViewPr snapToGrid="0" showGuides="1">
      <p:cViewPr varScale="1">
        <p:scale>
          <a:sx n="104" d="100"/>
          <a:sy n="104" d="100"/>
        </p:scale>
        <p:origin x="448" y="20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4611B-D63D-4827-9508-62293A02981D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FB7F5E-4F88-4111-B208-2F260B30B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663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Cos</a:t>
            </a:r>
            <a:r>
              <a:rPr kumimoji="1" lang="zh-CN" altLang="en-US" dirty="0"/>
              <a:t>（</a:t>
            </a:r>
            <a:r>
              <a:rPr kumimoji="1" lang="en-US" altLang="zh-CN" dirty="0"/>
              <a:t>0</a:t>
            </a:r>
            <a:r>
              <a:rPr kumimoji="1" lang="zh-CN" altLang="en-US" dirty="0"/>
              <a:t>）</a:t>
            </a:r>
            <a:r>
              <a:rPr kumimoji="1" lang="en-US" altLang="zh-CN" dirty="0"/>
              <a:t>=1</a:t>
            </a:r>
          </a:p>
          <a:p>
            <a:r>
              <a:rPr kumimoji="1" lang="en-US" altLang="zh-CN" dirty="0"/>
              <a:t>Cos</a:t>
            </a:r>
            <a:r>
              <a:rPr kumimoji="1" lang="zh-CN" altLang="en-US" dirty="0"/>
              <a:t>（</a:t>
            </a:r>
            <a:r>
              <a:rPr kumimoji="1" lang="en-US" altLang="zh-CN" dirty="0"/>
              <a:t>90</a:t>
            </a:r>
            <a:r>
              <a:rPr kumimoji="1" lang="zh-CN" altLang="en-US" dirty="0"/>
              <a:t>）</a:t>
            </a:r>
            <a:r>
              <a:rPr kumimoji="1" lang="en-US" altLang="zh-CN" dirty="0"/>
              <a:t>=0</a:t>
            </a:r>
          </a:p>
          <a:p>
            <a:r>
              <a:rPr kumimoji="1" lang="en-US" altLang="zh-CN" dirty="0"/>
              <a:t>Cos</a:t>
            </a:r>
            <a:r>
              <a:rPr kumimoji="1" lang="zh-CN" altLang="en-US" dirty="0"/>
              <a:t>（</a:t>
            </a:r>
            <a:r>
              <a:rPr kumimoji="1" lang="en-US" altLang="zh-CN" dirty="0"/>
              <a:t>180</a:t>
            </a:r>
            <a:r>
              <a:rPr kumimoji="1" lang="zh-CN" altLang="en-US" dirty="0"/>
              <a:t>）</a:t>
            </a:r>
            <a:r>
              <a:rPr kumimoji="1" lang="en-US" altLang="zh-CN" dirty="0"/>
              <a:t>=-1</a:t>
            </a:r>
          </a:p>
          <a:p>
            <a:r>
              <a:rPr kumimoji="1" lang="en-US" altLang="zh-CN" dirty="0"/>
              <a:t>Cos</a:t>
            </a:r>
            <a:r>
              <a:rPr kumimoji="1" lang="zh-CN" altLang="en-US" dirty="0"/>
              <a:t>（</a:t>
            </a:r>
            <a:r>
              <a:rPr kumimoji="1" lang="en-US" altLang="zh-CN" dirty="0"/>
              <a:t>270</a:t>
            </a:r>
            <a:r>
              <a:rPr kumimoji="1" lang="zh-CN" altLang="en-US" dirty="0"/>
              <a:t>）</a:t>
            </a:r>
            <a:r>
              <a:rPr kumimoji="1" lang="en-US" altLang="zh-CN" dirty="0"/>
              <a:t>=0</a:t>
            </a:r>
            <a:br>
              <a:rPr kumimoji="1" lang="en-US" altLang="zh-CN" dirty="0"/>
            </a:br>
            <a:r>
              <a:rPr kumimoji="1" lang="en-US" altLang="zh-CN" dirty="0"/>
              <a:t>cos</a:t>
            </a:r>
            <a:r>
              <a:rPr kumimoji="1" lang="zh-CN" altLang="en-US" dirty="0"/>
              <a:t>（</a:t>
            </a:r>
            <a:r>
              <a:rPr kumimoji="1" lang="en-US" altLang="zh-CN" dirty="0"/>
              <a:t>360</a:t>
            </a:r>
            <a:r>
              <a:rPr kumimoji="1" lang="zh-CN" altLang="en-US" dirty="0"/>
              <a:t>）</a:t>
            </a:r>
            <a:r>
              <a:rPr kumimoji="1" lang="en-US" altLang="zh-CN" dirty="0"/>
              <a:t>=1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FB7F5E-4F88-4111-B208-2F260B30BFD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93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18720A-802B-4124-A8FE-D6F5FDE4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5E09-60C7-49E8-A9DF-8D1D9F6D10C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1B39824-60B1-4087-9654-852D1F012284}"/>
              </a:ext>
            </a:extLst>
          </p:cNvPr>
          <p:cNvCxnSpPr>
            <a:cxnSpLocks/>
          </p:cNvCxnSpPr>
          <p:nvPr userDrawn="1"/>
        </p:nvCxnSpPr>
        <p:spPr>
          <a:xfrm>
            <a:off x="0" y="829334"/>
            <a:ext cx="9525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980355FC-FEB3-439F-8098-5C06013AAE42}"/>
              </a:ext>
            </a:extLst>
          </p:cNvPr>
          <p:cNvSpPr/>
          <p:nvPr userDrawn="1"/>
        </p:nvSpPr>
        <p:spPr>
          <a:xfrm>
            <a:off x="0" y="829334"/>
            <a:ext cx="1028700" cy="275566"/>
          </a:xfrm>
          <a:prstGeom prst="rect">
            <a:avLst/>
          </a:prstGeom>
          <a:solidFill>
            <a:srgbClr val="0B41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占位符 1">
            <a:extLst>
              <a:ext uri="{FF2B5EF4-FFF2-40B4-BE49-F238E27FC236}">
                <a16:creationId xmlns:a16="http://schemas.microsoft.com/office/drawing/2014/main" id="{E097D3BA-A3ED-4163-977C-3D2326AE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941" y="110649"/>
            <a:ext cx="10515600" cy="570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27705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A50960-1701-48AC-A59F-767B60563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5D7F4C-19FA-4DBB-8E0E-50D86708B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CEF640-BE20-4B67-A136-5F55CD33F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DE3503-87F1-4CF7-A256-C5FB9A222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49AA02-E14A-4B76-9C38-2F9B89BBF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03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C072B-542B-4EB4-AE3E-3962BC96C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7FC81C-17BC-4E49-801A-5535D52E3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EC2DB2-8954-4FAC-BDAC-A41CB9FD1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45D9FA-8B05-43CE-A8C6-57D4B1B33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2FB343-9089-4A86-8CDC-D72C628B1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520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AC339-9979-439E-AD47-69A80F834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B08C4E-EFCC-422B-A0CC-66BF07485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044901-1417-472E-9D15-16ECC074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930AA9-002C-4348-9998-8027E3DF5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58E8C9-BD1B-4A76-A9CB-27277C57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32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A2C584-3CAE-47D4-911B-4E6621220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7A965-7AFF-413E-B0F9-9B383F4D7F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2C38DE-AED2-4131-8C10-FF03B22F8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95F5FA-8460-4FB5-BECF-082CB763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ECCEA3-CC62-4601-B76C-37ADB4AFA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DFF4BD-83FA-48E8-9D3F-095F4C7C0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516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C6E1C5-ECAF-42BE-9623-BCADD634B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1EBD31-3B49-47F1-94AD-B0C6385A0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F1D851-B286-458B-B0FF-37C11425C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B0DAC4-251D-4CAB-AAC8-1816BA2EDE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B3CAE68-B059-48A9-8FEA-AE16FDCBB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91B7C04-5F54-4995-8205-02AE75A6B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43733C5-CACD-4D73-88DF-0FE47AEB4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3CC8BD8-3103-46D8-B238-FEE49AA89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697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381B53-CFBA-4ED9-A856-C7F31BDC6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65807F-966E-4869-8987-657949B8D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10A72C-1EA5-4B8F-99BE-2B5DF012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0E1FBD-CDF9-4E91-99E5-A833BABA4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404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E3F8982-6037-4234-AD00-3123D01C4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94F0542-C8F2-4C1F-BB00-D0D132707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6AEC53-34BE-4C4A-856B-8411CD692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614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AC9EE-3E5D-4DAD-862D-E4971473A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160C9A-3E3A-47B4-A1B2-682A69B92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AB7B40-FEFE-403A-A042-FE872B9EF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1366DE-EBE6-4AFE-B2AF-4C25890EC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2082D5-0599-48B5-8819-634575D36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55D9C-1A7C-4534-A584-4472E3B81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07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087C38-82A2-4C25-AC3F-F06B1F238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8ADE65-B3BE-4A96-890D-E7A188D83D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79A9D3-7F46-42D0-B4ED-1773CC926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080096-90BF-4736-A77E-82348CC61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485590-E6CB-4FD1-A1EC-A9509A346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DA4A82-6CE2-4CA5-BD5B-08DCB7A0D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983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CFA93-FCE2-44E4-878C-8FEFA6018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6DA7C2-F2E1-4F67-8B34-F05CBFC08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C967AE-CDF3-4D67-A190-E46F86D01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9B9F83-0BEE-42D3-99B3-055F58EB0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16528D-DEBF-45D5-AA5C-2081D9B2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693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DBCEB34-32B0-4BD7-B39A-0AC8E1769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086A30-6588-4D1F-833A-33C5E7066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EA0ED4-AAED-4792-99F8-043A8A82B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47DCE7-E18C-4FD7-A653-9FE1C3A98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9F1929-4F93-4E60-A024-16E632D7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3676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0" y="1174279"/>
            <a:ext cx="7920203" cy="0"/>
          </a:xfrm>
          <a:prstGeom prst="line">
            <a:avLst/>
          </a:prstGeom>
          <a:ln w="15875">
            <a:gradFill>
              <a:gsLst>
                <a:gs pos="13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7333" y="296901"/>
            <a:ext cx="9792824" cy="649287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297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097D3BA-A3ED-4163-977C-3D2326AE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A68784-9CD4-4F13-B6FF-DAFB8F5FA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20A121-C4E0-491B-B35A-1ABE4E2B7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4455DE-3A94-44C9-BD40-E9A302C186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2AF917-03E6-4637-A084-DE343516B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58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E3C0872-64D7-4B76-9B19-E1DAFDFDD242}"/>
              </a:ext>
            </a:extLst>
          </p:cNvPr>
          <p:cNvCxnSpPr>
            <a:cxnSpLocks/>
          </p:cNvCxnSpPr>
          <p:nvPr/>
        </p:nvCxnSpPr>
        <p:spPr>
          <a:xfrm>
            <a:off x="1422400" y="6113732"/>
            <a:ext cx="9093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1B39824-60B1-4087-9654-852D1F012284}"/>
              </a:ext>
            </a:extLst>
          </p:cNvPr>
          <p:cNvCxnSpPr>
            <a:cxnSpLocks/>
          </p:cNvCxnSpPr>
          <p:nvPr/>
        </p:nvCxnSpPr>
        <p:spPr>
          <a:xfrm>
            <a:off x="0" y="829334"/>
            <a:ext cx="9525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980355FC-FEB3-439F-8098-5C06013AAE42}"/>
              </a:ext>
            </a:extLst>
          </p:cNvPr>
          <p:cNvSpPr/>
          <p:nvPr/>
        </p:nvSpPr>
        <p:spPr>
          <a:xfrm>
            <a:off x="0" y="829334"/>
            <a:ext cx="1028700" cy="275566"/>
          </a:xfrm>
          <a:prstGeom prst="rect">
            <a:avLst/>
          </a:prstGeom>
          <a:solidFill>
            <a:srgbClr val="0B41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1D4805B-0FE8-4E82-B102-EE270173D087}"/>
              </a:ext>
            </a:extLst>
          </p:cNvPr>
          <p:cNvSpPr txBox="1"/>
          <p:nvPr/>
        </p:nvSpPr>
        <p:spPr>
          <a:xfrm>
            <a:off x="4793315" y="2552789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b="1" dirty="0">
                <a:solidFill>
                  <a:schemeClr val="accent1">
                    <a:lumMod val="75000"/>
                  </a:schemeClr>
                </a:solidFill>
              </a:rPr>
              <a:t>聚类模型</a:t>
            </a:r>
          </a:p>
        </p:txBody>
      </p:sp>
    </p:spTree>
    <p:extLst>
      <p:ext uri="{BB962C8B-B14F-4D97-AF65-F5344CB8AC3E}">
        <p14:creationId xmlns:p14="http://schemas.microsoft.com/office/powerpoint/2010/main" val="3994329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76"/>
    </mc:Choice>
    <mc:Fallback xmlns="">
      <p:transition spd="slow" advTm="1017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聚类算法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D40233-C365-E08B-0863-3472080D027F}"/>
              </a:ext>
            </a:extLst>
          </p:cNvPr>
          <p:cNvSpPr txBox="1"/>
          <p:nvPr/>
        </p:nvSpPr>
        <p:spPr>
          <a:xfrm>
            <a:off x="737237" y="1256098"/>
            <a:ext cx="104851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当数据集没有标签时，可以仅通过特征进行聚类、降维等分析，这种无标签情况的下的机器学习问题叫做</a:t>
            </a:r>
            <a:r>
              <a:rPr lang="zh-CN" altLang="en-US" sz="2000" b="1" dirty="0">
                <a:solidFill>
                  <a:srgbClr val="304D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无监督学习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无监督学习是一类用于在数据中探索内在规律的机器学习模型。</a:t>
            </a:r>
          </a:p>
        </p:txBody>
      </p:sp>
      <p:pic>
        <p:nvPicPr>
          <p:cNvPr id="4" name="Picture 2" descr="An Introduction to Unsupervised Learning for Trading">
            <a:extLst>
              <a:ext uri="{FF2B5EF4-FFF2-40B4-BE49-F238E27FC236}">
                <a16:creationId xmlns:a16="http://schemas.microsoft.com/office/drawing/2014/main" id="{1C3EB2CE-D0FE-AB3B-C607-7D26152D58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787" y="2373764"/>
            <a:ext cx="8760980" cy="4091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CFA32BF-E48A-0416-3F7E-9C4DD21D6F68}"/>
              </a:ext>
            </a:extLst>
          </p:cNvPr>
          <p:cNvSpPr txBox="1"/>
          <p:nvPr/>
        </p:nvSpPr>
        <p:spPr>
          <a:xfrm>
            <a:off x="4129292" y="6354394"/>
            <a:ext cx="50676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图片源自：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https://blog.quantinsti.com/unsupervised-learning/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2127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4DF6655-7F7E-4E73-A3C2-AFEE64A0F032}"/>
              </a:ext>
            </a:extLst>
          </p:cNvPr>
          <p:cNvSpPr txBox="1"/>
          <p:nvPr/>
        </p:nvSpPr>
        <p:spPr>
          <a:xfrm>
            <a:off x="4208015" y="6473502"/>
            <a:ext cx="39150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机器学习公式推导与代码实现 </a:t>
            </a:r>
            <a:r>
              <a:rPr lang="en-US" altLang="zh-CN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@louwill</a:t>
            </a:r>
            <a:endParaRPr lang="zh-CN" altLang="en-US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4F2CB7A-BA96-49B0-B171-042F421B50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73441"/>
            <a:ext cx="1523260" cy="365125"/>
          </a:xfrm>
        </p:spPr>
        <p:txBody>
          <a:bodyPr/>
          <a:lstStyle/>
          <a:p>
            <a:fld id="{BCF1BC06-E0FE-46B4-923B-F350AE291E25}" type="datetime1">
              <a:rPr lang="zh-CN" altLang="en-US" sz="16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2025/7/26</a:t>
            </a:fld>
            <a:endParaRPr lang="zh-CN" altLang="en-US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B5A004ED-174F-43CC-9452-2829ADBB3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7188" y="6446931"/>
            <a:ext cx="336612" cy="365125"/>
          </a:xfrm>
        </p:spPr>
        <p:txBody>
          <a:bodyPr/>
          <a:lstStyle/>
          <a:p>
            <a:fld id="{9ED3A831-FE31-4C69-83B6-0EC1B23515F3}" type="slidenum">
              <a:rPr lang="zh-CN" altLang="en-US" sz="16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fld>
            <a:endParaRPr lang="zh-CN" altLang="en-US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5E500F4-BB73-4D20-A156-84CAF8793FC1}"/>
              </a:ext>
            </a:extLst>
          </p:cNvPr>
          <p:cNvSpPr txBox="1"/>
          <p:nvPr/>
        </p:nvSpPr>
        <p:spPr>
          <a:xfrm>
            <a:off x="136189" y="45944"/>
            <a:ext cx="4185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304D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聚类分析算法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E2B2D9E-1979-4712-8C7B-C99475789D85}"/>
              </a:ext>
            </a:extLst>
          </p:cNvPr>
          <p:cNvSpPr txBox="1"/>
          <p:nvPr/>
        </p:nvSpPr>
        <p:spPr>
          <a:xfrm>
            <a:off x="452761" y="709359"/>
            <a:ext cx="112864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聚类算法通过</a:t>
            </a:r>
            <a:r>
              <a:rPr lang="zh-CN" altLang="en-US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距离度量将相似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的样本归入同一个</a:t>
            </a:r>
            <a:r>
              <a:rPr lang="zh-CN" altLang="en-US" b="1" kern="100" dirty="0">
                <a:solidFill>
                  <a:srgbClr val="304D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簇</a:t>
            </a:r>
            <a:r>
              <a:rPr lang="zh-CN" altLang="en-US" kern="100" dirty="0">
                <a:solidFill>
                  <a:srgbClr val="304D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solidFill>
                  <a:srgbClr val="304D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cluster</a:t>
            </a:r>
            <a:r>
              <a:rPr lang="zh-CN" altLang="en-US" kern="100" dirty="0">
                <a:solidFill>
                  <a:srgbClr val="304D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中，这使得同一个簇中的样本对象的</a:t>
            </a:r>
            <a:r>
              <a:rPr lang="zh-CN" altLang="en-US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相似性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尽可能大，同时不同簇中的样本对象的差异性也尽可能大。</a:t>
            </a:r>
            <a:endParaRPr lang="zh-CN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CC3FF18-FAA6-0FBD-FAE7-4CDDCC993A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1527" y="1535868"/>
            <a:ext cx="7477279" cy="452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673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4DF6655-7F7E-4E73-A3C2-AFEE64A0F032}"/>
              </a:ext>
            </a:extLst>
          </p:cNvPr>
          <p:cNvSpPr txBox="1"/>
          <p:nvPr/>
        </p:nvSpPr>
        <p:spPr>
          <a:xfrm>
            <a:off x="4208015" y="6473502"/>
            <a:ext cx="39150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机器学习公式推导与代码实现 </a:t>
            </a:r>
            <a:r>
              <a:rPr lang="en-US" altLang="zh-CN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@louwill</a:t>
            </a:r>
            <a:endParaRPr lang="zh-CN" altLang="en-US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4F2CB7A-BA96-49B0-B171-042F421B50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73441"/>
            <a:ext cx="1523260" cy="365125"/>
          </a:xfrm>
        </p:spPr>
        <p:txBody>
          <a:bodyPr/>
          <a:lstStyle/>
          <a:p>
            <a:fld id="{BCF1BC06-E0FE-46B4-923B-F350AE291E25}" type="datetime1">
              <a:rPr lang="zh-CN" altLang="en-US" sz="16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2025/7/26</a:t>
            </a:fld>
            <a:endParaRPr lang="zh-CN" altLang="en-US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B5A004ED-174F-43CC-9452-2829ADBB3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7188" y="6446931"/>
            <a:ext cx="336612" cy="365125"/>
          </a:xfrm>
        </p:spPr>
        <p:txBody>
          <a:bodyPr/>
          <a:lstStyle/>
          <a:p>
            <a:fld id="{9ED3A831-FE31-4C69-83B6-0EC1B23515F3}" type="slidenum">
              <a:rPr lang="zh-CN" altLang="en-US" sz="16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fld>
            <a:endParaRPr lang="zh-CN" altLang="en-US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3ED3DE4-1680-4799-B628-8C5171F0D600}"/>
              </a:ext>
            </a:extLst>
          </p:cNvPr>
          <p:cNvSpPr txBox="1"/>
          <p:nvPr/>
        </p:nvSpPr>
        <p:spPr>
          <a:xfrm>
            <a:off x="88776" y="62144"/>
            <a:ext cx="2547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304D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距离度量方式</a:t>
            </a:r>
            <a:endParaRPr lang="zh-CN" altLang="en-US" sz="2000" b="1" dirty="0">
              <a:solidFill>
                <a:srgbClr val="304D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D49ED77-E434-4355-A289-DEF4C9CC40CD}"/>
                  </a:ext>
                </a:extLst>
              </p:cNvPr>
              <p:cNvSpPr txBox="1"/>
              <p:nvPr/>
            </p:nvSpPr>
            <p:spPr>
              <a:xfrm>
                <a:off x="727968" y="564131"/>
                <a:ext cx="11286478" cy="5909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为了衡量特征空间中两个实例点之间的相似度，我们可以用</a:t>
                </a:r>
                <a:r>
                  <a:rPr lang="zh-CN" altLang="en-US" b="1" kern="100" dirty="0">
                    <a:solidFill>
                      <a:srgbClr val="33429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距离（</a:t>
                </a:r>
                <a:r>
                  <a:rPr lang="en-US" altLang="zh-CN" b="1" kern="100" dirty="0">
                    <a:solidFill>
                      <a:srgbClr val="33429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distance</a:t>
                </a:r>
                <a:r>
                  <a:rPr lang="zh-CN" altLang="en-US" b="1" kern="100" dirty="0">
                    <a:solidFill>
                      <a:srgbClr val="33429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en-US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来对其进行描述。常用的距离度量方式包括</a:t>
                </a:r>
                <a:r>
                  <a:rPr lang="zh-CN" altLang="en-US" b="1" kern="100" dirty="0">
                    <a:solidFill>
                      <a:srgbClr val="33429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闵氏距离</a:t>
                </a:r>
                <a:r>
                  <a:rPr lang="zh-CN" altLang="en-US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</a:t>
                </a:r>
                <a:r>
                  <a:rPr lang="zh-CN" altLang="en-US" b="1" kern="100" dirty="0">
                    <a:solidFill>
                      <a:srgbClr val="33429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马氏距离</a:t>
                </a:r>
                <a:r>
                  <a:rPr lang="zh-CN" altLang="en-US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等。</a:t>
                </a:r>
                <a:endParaRPr lang="en-US" altLang="zh-CN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闵</a:t>
                </a:r>
                <a:r>
                  <a:rPr lang="zh-CN" altLang="en-US" sz="18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氏距离即</a:t>
                </a:r>
                <a:r>
                  <a:rPr lang="zh-CN" altLang="en-US" sz="1800" b="1" kern="100" dirty="0">
                    <a:solidFill>
                      <a:srgbClr val="33429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闵可夫斯基距离</a:t>
                </a:r>
                <a:r>
                  <a:rPr lang="zh-CN" altLang="en-US" sz="1800" kern="100" dirty="0">
                    <a:solidFill>
                      <a:srgbClr val="33429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1800" kern="100" dirty="0" err="1">
                    <a:solidFill>
                      <a:srgbClr val="33429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Minkowski</a:t>
                </a:r>
                <a:r>
                  <a:rPr lang="en-US" altLang="zh-CN" sz="1800" kern="100" dirty="0">
                    <a:solidFill>
                      <a:srgbClr val="33429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distance</a:t>
                </a:r>
                <a:r>
                  <a:rPr lang="zh-CN" altLang="en-US" sz="1800" kern="100" dirty="0">
                    <a:solidFill>
                      <a:srgbClr val="33429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en-US" sz="18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，定义如下：</a:t>
                </a:r>
                <a:endParaRPr lang="en-US" altLang="zh-CN" sz="18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kern="100" dirty="0">
                  <a:solidFill>
                    <a:srgbClr val="33429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1800" kern="100" dirty="0">
                  <a:solidFill>
                    <a:srgbClr val="33429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kern="100" dirty="0">
                  <a:solidFill>
                    <a:srgbClr val="33429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时，</a:t>
                </a:r>
                <a:r>
                  <a:rPr lang="zh-CN" altLang="en-US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闵</a:t>
                </a:r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氏距离称为</a:t>
                </a:r>
                <a:r>
                  <a:rPr lang="zh-CN" altLang="zh-CN" sz="1800" b="1" dirty="0">
                    <a:solidFill>
                      <a:srgbClr val="33429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曼哈顿距离</a:t>
                </a:r>
                <a:r>
                  <a:rPr lang="zh-CN" altLang="zh-CN" sz="1800" dirty="0">
                    <a:solidFill>
                      <a:srgbClr val="33429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1800" dirty="0" err="1">
                    <a:solidFill>
                      <a:srgbClr val="33429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Manhatan</a:t>
                </a:r>
                <a:r>
                  <a:rPr lang="en-US" altLang="zh-CN" sz="1800" dirty="0">
                    <a:solidFill>
                      <a:srgbClr val="33429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distance</a:t>
                </a:r>
                <a:r>
                  <a:rPr lang="zh-CN" altLang="zh-CN" sz="1800" dirty="0">
                    <a:solidFill>
                      <a:srgbClr val="33429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en-US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:endParaRPr lang="en-US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18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zh-CN" sz="18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=2</m:t>
                    </m:r>
                  </m:oMath>
                </a14:m>
                <a:r>
                  <a:rPr lang="zh-CN" altLang="zh-CN" sz="18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时，</a:t>
                </a:r>
                <a:r>
                  <a:rPr lang="zh-CN" altLang="en-US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闵</a:t>
                </a:r>
                <a:r>
                  <a:rPr lang="zh-CN" altLang="zh-CN" sz="18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氏距离就是著名的</a:t>
                </a:r>
                <a:r>
                  <a:rPr lang="zh-CN" altLang="zh-CN" sz="1800" b="1" kern="100" dirty="0">
                    <a:solidFill>
                      <a:srgbClr val="FF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欧式距离</a:t>
                </a:r>
                <a:r>
                  <a:rPr lang="zh-CN" altLang="zh-CN" sz="1800" kern="100" dirty="0">
                    <a:solidFill>
                      <a:srgbClr val="FF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1800" kern="100" dirty="0">
                    <a:solidFill>
                      <a:srgbClr val="FF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Euclidean distance</a:t>
                </a:r>
                <a:r>
                  <a:rPr lang="zh-CN" altLang="zh-CN" sz="1800" kern="100" dirty="0">
                    <a:solidFill>
                      <a:srgbClr val="FF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sz="18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:endParaRPr lang="en-US" altLang="zh-CN" sz="18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18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18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zh-CN" sz="18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=∞</m:t>
                    </m:r>
                  </m:oMath>
                </a14:m>
                <a:r>
                  <a:rPr lang="zh-CN" altLang="zh-CN" sz="18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时，</a:t>
                </a:r>
                <a:r>
                  <a:rPr lang="zh-CN" altLang="en-US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闵</a:t>
                </a:r>
                <a:r>
                  <a:rPr lang="zh-CN" altLang="zh-CN" sz="18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氏距离就变成了</a:t>
                </a:r>
                <a:r>
                  <a:rPr lang="zh-CN" altLang="zh-CN" sz="1800" b="1" kern="100" dirty="0">
                    <a:solidFill>
                      <a:srgbClr val="33429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切比雪夫距离</a:t>
                </a:r>
                <a:r>
                  <a:rPr lang="zh-CN" altLang="zh-CN" sz="1800" kern="100" dirty="0">
                    <a:solidFill>
                      <a:srgbClr val="33429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1800" kern="100" dirty="0">
                    <a:solidFill>
                      <a:srgbClr val="33429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Chebyshev distance</a:t>
                </a:r>
                <a:r>
                  <a:rPr lang="zh-CN" altLang="zh-CN" sz="1800" kern="100" dirty="0">
                    <a:solidFill>
                      <a:srgbClr val="33429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sz="18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:endParaRPr lang="en-US" altLang="zh-CN" sz="18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18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b="1" kern="100" dirty="0">
                    <a:solidFill>
                      <a:srgbClr val="304D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马氏距离</a:t>
                </a:r>
                <a:r>
                  <a:rPr lang="zh-CN" altLang="en-US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（其中</a:t>
                </a:r>
                <a14:m>
                  <m:oMath xmlns:m="http://schemas.openxmlformats.org/officeDocument/2006/math">
                    <m:r>
                      <a:rPr lang="en-US" altLang="zh-CN" i="1" kern="10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zh-CN" altLang="en-US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为协方差矩阵）：</a:t>
                </a:r>
                <a:endParaRPr lang="zh-CN" altLang="zh-CN" sz="18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zh-CN" altLang="zh-CN" sz="18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zh-CN" altLang="zh-CN" sz="18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D49ED77-E434-4355-A289-DEF4C9CC40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968" y="564131"/>
                <a:ext cx="11286478" cy="5909310"/>
              </a:xfrm>
              <a:prstGeom prst="rect">
                <a:avLst/>
              </a:prstGeom>
              <a:blipFill>
                <a:blip r:embed="rId2"/>
                <a:stretch>
                  <a:fillRect l="-337" t="-429" r="-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BEFD6B6-060F-4A63-AF81-EE091FCE74BA}"/>
                  </a:ext>
                </a:extLst>
              </p:cNvPr>
              <p:cNvSpPr txBox="1"/>
              <p:nvPr/>
            </p:nvSpPr>
            <p:spPr>
              <a:xfrm>
                <a:off x="4208015" y="1471428"/>
                <a:ext cx="4290134" cy="5410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zh-CN" altLang="zh-CN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zh-CN" sz="18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  <m:r>
                                  <a:rPr lang="en-US" altLang="zh-CN" sz="18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18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zh-CN" altLang="zh-CN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zh-CN" altLang="zh-CN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𝑘𝑖</m:t>
                                        </m:r>
                                      </m:sub>
                                    </m:sSub>
                                    <m:r>
                                      <a:rPr lang="en-US" altLang="zh-CN" sz="18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zh-CN" altLang="zh-CN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𝑘𝑗</m:t>
                                        </m:r>
                                      </m:sub>
                                    </m:sSub>
                                    <m:r>
                                      <a:rPr lang="en-US" altLang="zh-CN" sz="18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|</m:t>
                                    </m:r>
                                  </m:e>
                                  <m:sup>
                                    <m:r>
                                      <a:rPr lang="en-US" altLang="zh-CN" sz="1800" i="1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sup>
                                </m:sSup>
                              </m:e>
                            </m:nary>
                          </m:e>
                        </m:d>
                      </m:e>
                      <m:sup>
                        <m:f>
                          <m:fPr>
                            <m:ctrlPr>
                              <a:rPr lang="zh-CN" altLang="zh-CN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den>
                        </m:f>
                      </m:sup>
                    </m:sSup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     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≥1</m:t>
                    </m:r>
                  </m:oMath>
                </a14:m>
                <a:r>
                  <a:rPr lang="en-US" altLang="zh-CN" sz="24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endParaRPr lang="zh-CN" altLang="en-US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BEFD6B6-060F-4A63-AF81-EE091FCE7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8015" y="1471428"/>
                <a:ext cx="4290134" cy="5410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C6E38A1-E78E-40C8-988F-A3D901945D82}"/>
                  </a:ext>
                </a:extLst>
              </p:cNvPr>
              <p:cNvSpPr txBox="1"/>
              <p:nvPr/>
            </p:nvSpPr>
            <p:spPr>
              <a:xfrm>
                <a:off x="4667435" y="2608908"/>
                <a:ext cx="260337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zh-CN" altLang="zh-CN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𝑘𝑖</m:t>
                            </m:r>
                          </m:sub>
                        </m:s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zh-CN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𝑘𝑗</m:t>
                            </m:r>
                          </m:sub>
                        </m:s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nary>
                  </m:oMath>
                </a14:m>
                <a:r>
                  <a:rPr lang="en-US" altLang="zh-CN" sz="24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endParaRPr lang="zh-CN" altLang="en-US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C6E38A1-E78E-40C8-988F-A3D901945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435" y="2608908"/>
                <a:ext cx="2603376" cy="461665"/>
              </a:xfrm>
              <a:prstGeom prst="rect">
                <a:avLst/>
              </a:prstGeom>
              <a:blipFill>
                <a:blip r:embed="rId4"/>
                <a:stretch>
                  <a:fillRect t="-80263" b="-143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76DF090-148F-4C4A-894A-D8B92EF880E6}"/>
                  </a:ext>
                </a:extLst>
              </p:cNvPr>
              <p:cNvSpPr txBox="1"/>
              <p:nvPr/>
            </p:nvSpPr>
            <p:spPr>
              <a:xfrm>
                <a:off x="2810892" y="3597401"/>
                <a:ext cx="6121152" cy="10010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en-US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</a:rPr>
                                                <m:t>𝑘𝑖</m:t>
                                              </m:r>
                                            </m:sub>
                                          </m:sSub>
                                          <m:r>
                                            <a:rPr lang="zh-CN" altLang="en-US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en-US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</a:rPr>
                                                <m:t>𝑘𝑗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76DF090-148F-4C4A-894A-D8B92EF88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0892" y="3597401"/>
                <a:ext cx="6121152" cy="10010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6D5422D-6C49-4ACE-B3E2-E62A69DD0386}"/>
                  </a:ext>
                </a:extLst>
              </p:cNvPr>
              <p:cNvSpPr txBox="1"/>
              <p:nvPr/>
            </p:nvSpPr>
            <p:spPr>
              <a:xfrm>
                <a:off x="4767679" y="5074277"/>
                <a:ext cx="265664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18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max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  <m:sSub>
                      <m:sSub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𝑘𝑖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𝑘𝑗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en-US" altLang="zh-CN" sz="24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endParaRPr lang="zh-CN" altLang="en-US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6D5422D-6C49-4ACE-B3E2-E62A69DD03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7679" y="5074277"/>
                <a:ext cx="2656642" cy="461665"/>
              </a:xfrm>
              <a:prstGeom prst="rect">
                <a:avLst/>
              </a:prstGeom>
              <a:blipFill>
                <a:blip r:embed="rId6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0F6DA353-CE1B-4461-8334-092B29969496}"/>
                  </a:ext>
                </a:extLst>
              </p:cNvPr>
              <p:cNvSpPr txBox="1"/>
              <p:nvPr/>
            </p:nvSpPr>
            <p:spPr>
              <a:xfrm>
                <a:off x="2908547" y="5625994"/>
                <a:ext cx="6121152" cy="6678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b="1" i="1"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p>
                                  <m:r>
                                    <a:rPr lang="zh-CN" altLang="en-US" b="0" i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zh-CN" alt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b="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b="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b="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CN" altLang="en-US" b="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b="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b="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b="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zh-CN" altLang="en-US" b="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0F6DA353-CE1B-4461-8334-092B29969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8547" y="5625994"/>
                <a:ext cx="6121152" cy="6678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3140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4DF6655-7F7E-4E73-A3C2-AFEE64A0F032}"/>
              </a:ext>
            </a:extLst>
          </p:cNvPr>
          <p:cNvSpPr txBox="1"/>
          <p:nvPr/>
        </p:nvSpPr>
        <p:spPr>
          <a:xfrm>
            <a:off x="4208015" y="6473502"/>
            <a:ext cx="39150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机器学习公式推导与代码实现 </a:t>
            </a:r>
            <a:r>
              <a:rPr lang="en-US" altLang="zh-CN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@louwill</a:t>
            </a:r>
            <a:endParaRPr lang="zh-CN" altLang="en-US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4F2CB7A-BA96-49B0-B171-042F421B50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73441"/>
            <a:ext cx="1523260" cy="365125"/>
          </a:xfrm>
        </p:spPr>
        <p:txBody>
          <a:bodyPr/>
          <a:lstStyle/>
          <a:p>
            <a:fld id="{BCF1BC06-E0FE-46B4-923B-F350AE291E25}" type="datetime1">
              <a:rPr lang="zh-CN" altLang="en-US" sz="16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2025/7/26</a:t>
            </a:fld>
            <a:endParaRPr lang="zh-CN" altLang="en-US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B5A004ED-174F-43CC-9452-2829ADBB3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7188" y="6446931"/>
            <a:ext cx="336612" cy="365125"/>
          </a:xfrm>
        </p:spPr>
        <p:txBody>
          <a:bodyPr/>
          <a:lstStyle/>
          <a:p>
            <a:fld id="{9ED3A831-FE31-4C69-83B6-0EC1B23515F3}" type="slidenum">
              <a:rPr lang="zh-CN" altLang="en-US" sz="16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fld>
            <a:endParaRPr lang="zh-CN" altLang="en-US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852E54-4E69-4B4A-8F0E-43BB3D6A0089}"/>
              </a:ext>
            </a:extLst>
          </p:cNvPr>
          <p:cNvSpPr txBox="1"/>
          <p:nvPr/>
        </p:nvSpPr>
        <p:spPr>
          <a:xfrm>
            <a:off x="88776" y="62144"/>
            <a:ext cx="6081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304D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相似度度量方式</a:t>
            </a:r>
            <a:endParaRPr lang="zh-CN" altLang="en-US" sz="2000" b="1" dirty="0">
              <a:solidFill>
                <a:srgbClr val="304D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BDBE84E-8FAA-62B4-DC52-F8B4C7734511}"/>
                  </a:ext>
                </a:extLst>
              </p:cNvPr>
              <p:cNvSpPr txBox="1"/>
              <p:nvPr/>
            </p:nvSpPr>
            <p:spPr>
              <a:xfrm>
                <a:off x="452761" y="709359"/>
                <a:ext cx="11286478" cy="29069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相关系数。</a:t>
                </a:r>
                <a:r>
                  <a:rPr lang="zh-CN" altLang="zh-CN" b="1" dirty="0">
                    <a:solidFill>
                      <a:srgbClr val="304D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相关系数（</a:t>
                </a:r>
                <a:r>
                  <a:rPr lang="en-US" altLang="zh-CN" b="1" dirty="0">
                    <a:solidFill>
                      <a:srgbClr val="304D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correlation </a:t>
                </a:r>
                <a:r>
                  <a:rPr lang="en-US" altLang="zh-CN" b="1" dirty="0" err="1">
                    <a:solidFill>
                      <a:srgbClr val="304D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coefficent</a:t>
                </a:r>
                <a:r>
                  <a:rPr lang="zh-CN" altLang="zh-CN" b="1" dirty="0">
                    <a:solidFill>
                      <a:srgbClr val="304D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是度量相似度最常用的方式。相关系数越接近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，表示两个样本越相似；相关系数越接近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，表示两个样本越不相似。样本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与样本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之间的相关系数可定义为：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/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夹角余弦。</a:t>
                </a:r>
                <a:r>
                  <a:rPr lang="zh-CN" altLang="zh-CN" b="1" dirty="0">
                    <a:solidFill>
                      <a:srgbClr val="304D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夹角余弦（</a:t>
                </a:r>
                <a:r>
                  <a:rPr lang="en-US" altLang="zh-CN" b="1" dirty="0">
                    <a:solidFill>
                      <a:srgbClr val="304D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angle cosine</a:t>
                </a:r>
                <a:r>
                  <a:rPr lang="zh-CN" altLang="zh-CN" b="1" dirty="0">
                    <a:solidFill>
                      <a:srgbClr val="304D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也是度量两个样本相似度的方式。夹角余弦越接近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，表示两个样本越相似；夹角余弦越接近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，表示两个样本越不相似。样本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与样本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之间的夹角余弦可定义为：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zh-CN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zh-CN" altLang="zh-CN" sz="18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BDBE84E-8FAA-62B4-DC52-F8B4C77345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761" y="709359"/>
                <a:ext cx="11286478" cy="2906950"/>
              </a:xfrm>
              <a:prstGeom prst="rect">
                <a:avLst/>
              </a:prstGeom>
              <a:blipFill>
                <a:blip r:embed="rId3"/>
                <a:stretch>
                  <a:fillRect l="-337" t="-870" r="-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6AF5817-6F65-F053-F9B5-2C495198B797}"/>
                  </a:ext>
                </a:extLst>
              </p:cNvPr>
              <p:cNvSpPr txBox="1"/>
              <p:nvPr/>
            </p:nvSpPr>
            <p:spPr>
              <a:xfrm>
                <a:off x="4208013" y="1450834"/>
                <a:ext cx="4341091" cy="8771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 kern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000" i="1" ker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sz="2000" i="1" ker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000" i="1" ker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ctrlPr>
                              <a:rPr lang="zh-CN" altLang="zh-CN" sz="2000" i="1" ker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2000" i="1" kern="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CN" sz="2000" i="1" kern="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000" i="1" kern="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p>
                          <m:e>
                            <m:d>
                              <m:dPr>
                                <m:ctrlPr>
                                  <a:rPr lang="zh-CN" altLang="zh-CN" sz="2000" i="1" ker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zh-CN" sz="2000" i="1" ker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 ker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i="1" ker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𝑘𝑖</m:t>
                                    </m:r>
                                  </m:sub>
                                </m:sSub>
                                <m:r>
                                  <a:rPr lang="en-US" altLang="zh-CN" sz="2000" i="1" kern="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zh-CN" sz="2000" i="1" ker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zh-CN" altLang="zh-CN" sz="2000" i="1" ker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000" i="1" kern="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2000" i="1" ker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ctrlPr>
                                  <a:rPr lang="zh-CN" altLang="zh-CN" sz="2000" i="1" ker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zh-CN" sz="2000" i="1" ker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 ker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i="1" ker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𝑘𝑗</m:t>
                                    </m:r>
                                  </m:sub>
                                </m:sSub>
                                <m:r>
                                  <a:rPr lang="en-US" altLang="zh-CN" sz="2000" i="1" kern="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zh-CN" sz="2000" i="1" ker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zh-CN" altLang="zh-CN" sz="2000" i="1" ker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000" i="1" kern="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2000" i="1" ker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num>
                      <m:den>
                        <m:sSup>
                          <m:sSupPr>
                            <m:ctrlPr>
                              <a:rPr lang="zh-CN" altLang="zh-CN" sz="2000" i="1" ker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sz="2000" i="1" ker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zh-CN" altLang="zh-CN" sz="2000" i="1" ker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sz="2000" i="1" ker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zh-CN" sz="2000" i="1" ker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2000" i="1" ker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zh-CN" altLang="zh-CN" sz="2000" i="1" ker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zh-CN" altLang="zh-CN" sz="2000" i="1" ker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zh-CN" altLang="zh-CN" sz="2000" i="1" ker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000" i="1" ker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宋体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000" i="1" ker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宋体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𝑘𝑖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2000" i="1" kern="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zh-CN" altLang="zh-CN" sz="2000" i="1" ker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zh-CN" altLang="zh-CN" sz="2000" i="1" ker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altLang="zh-CN" sz="2000" i="1" ker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宋体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altLang="zh-CN" sz="2000" i="1" ker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宋体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zh-CN" sz="2000" i="1" kern="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zh-CN" altLang="zh-CN" sz="2000" i="1" ker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altLang="zh-CN" sz="2000" i="1" kern="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altLang="zh-CN" sz="2000" i="1" kern="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i="1" kern="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𝑚</m:t>
                                        </m:r>
                                      </m:sup>
                                      <m:e>
                                        <m:sSup>
                                          <m:sSupPr>
                                            <m:ctrlPr>
                                              <a:rPr lang="zh-CN" altLang="zh-CN" sz="2000" i="1" ker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zh-CN" altLang="zh-CN" sz="2000" i="1" ker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zh-CN" altLang="zh-CN" sz="2000" i="1" ker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2000" i="1" ker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宋体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2000" i="1" ker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宋体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𝑘𝑗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altLang="zh-CN" sz="2000" i="1" ker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宋体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zh-CN" altLang="zh-CN" sz="2000" i="1" ker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acc>
                                                      <m:accPr>
                                                        <m:chr m:val="̅"/>
                                                        <m:ctrlPr>
                                                          <a:rPr lang="zh-CN" altLang="zh-CN" sz="2000" i="1" kern="0">
                                                            <a:effectLst/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  <a:cs typeface="Times New Roman" panose="02020603050405020304" pitchFamily="18" charset="0"/>
                                                          </a:rPr>
                                                        </m:ctrlPr>
                                                      </m:accPr>
                                                      <m:e>
                                                        <m:r>
                                                          <a:rPr lang="en-US" altLang="zh-CN" sz="2000" i="1" kern="0">
                                                            <a:effectLst/>
                                                            <a:latin typeface="Cambria Math" panose="02040503050406030204" pitchFamily="18" charset="0"/>
                                                            <a:ea typeface="宋体" panose="02010600030101010101" pitchFamily="2" charset="-122"/>
                                                            <a:cs typeface="Times New Roman" panose="02020603050405020304" pitchFamily="18" charset="0"/>
                                                          </a:rPr>
                                                          <m:t>𝑥</m:t>
                                                        </m:r>
                                                      </m:e>
                                                    </m:acc>
                                                  </m:e>
                                                  <m:sub>
                                                    <m:r>
                                                      <a:rPr lang="en-US" altLang="zh-CN" sz="2000" i="1" ker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宋体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𝑗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n-US" altLang="zh-CN" sz="2000" i="1" kern="0">
                                                <a:effectLst/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nary>
                                  </m:e>
                                </m:nary>
                              </m:e>
                            </m:d>
                          </m:e>
                          <m:sup>
                            <m:f>
                              <m:fPr>
                                <m:ctrlPr>
                                  <a:rPr lang="zh-CN" altLang="zh-CN" sz="2000" i="1" ker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i="1" kern="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000" i="1" kern="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den>
                    </m:f>
                  </m:oMath>
                </a14:m>
                <a:r>
                  <a:rPr lang="en-US" altLang="zh-CN" sz="18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6AF5817-6F65-F053-F9B5-2C495198B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8013" y="1450834"/>
                <a:ext cx="4341091" cy="877100"/>
              </a:xfrm>
              <a:prstGeom prst="rect">
                <a:avLst/>
              </a:prstGeom>
              <a:blipFill>
                <a:blip r:embed="rId4"/>
                <a:stretch>
                  <a:fillRect t="-38571" b="-5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85C0315-D33E-49FF-5BEA-A4CBC15671BD}"/>
                  </a:ext>
                </a:extLst>
              </p:cNvPr>
              <p:cNvSpPr txBox="1"/>
              <p:nvPr/>
            </p:nvSpPr>
            <p:spPr>
              <a:xfrm>
                <a:off x="0" y="3069409"/>
                <a:ext cx="2056523" cy="1195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000" i="1" kern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𝐴𝐶</m:t>
                          </m:r>
                        </m:e>
                        <m:sub>
                          <m:r>
                            <a:rPr lang="en-US" altLang="zh-CN" sz="2000" i="1" kern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CN" sz="2000" i="1" kern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</m:oMath>
                  </m:oMathPara>
                </a14:m>
                <a:endParaRPr lang="en-US" altLang="zh-CN" sz="2000" i="1" kern="0" dirty="0">
                  <a:effectLst/>
                  <a:latin typeface="Cambria Math" panose="020405030504060302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000" i="1" ker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ctrlPr>
                              <a:rPr lang="zh-CN" altLang="zh-CN" sz="2000" i="1" ker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2000" i="1" kern="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CN" sz="2000" i="1" kern="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000" i="1" kern="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zh-CN" sz="2000" i="1" ker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 kern="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i="1" kern="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𝑘𝑖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zh-CN" sz="2000" i="1" ker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 kern="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i="1" kern="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𝑘𝑗</m:t>
                                </m:r>
                              </m:sub>
                            </m:sSub>
                          </m:e>
                        </m:nary>
                      </m:num>
                      <m:den>
                        <m:sSup>
                          <m:sSupPr>
                            <m:ctrlPr>
                              <a:rPr lang="zh-CN" altLang="zh-CN" sz="2000" i="1" ker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sz="2000" i="1" ker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zh-CN" altLang="zh-CN" sz="2000" i="1" ker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sz="2000" i="1" ker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zh-CN" sz="2000" i="1" ker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2000" i="1" ker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lang="zh-CN" altLang="zh-CN" sz="2000" i="1" ker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000" i="1" kern="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 kern="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𝑘𝑖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i="1" kern="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nary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zh-CN" altLang="zh-CN" sz="2000" i="1" ker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sz="2000" i="1" ker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zh-CN" sz="2000" i="1" ker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sz="2000" i="1" ker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lang="zh-CN" altLang="zh-CN" sz="2000" i="1" ker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000" i="1" kern="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 kern="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𝑘𝑗</m:t>
                                        </m:r>
                                      </m:sub>
                                      <m:sup>
                                        <m:r>
                                          <a:rPr lang="en-US" altLang="zh-CN" sz="2000" i="1" kern="0">
                                            <a:effectLst/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nary>
                              </m:e>
                            </m:d>
                          </m:e>
                          <m:sup>
                            <m:f>
                              <m:fPr>
                                <m:ctrlPr>
                                  <a:rPr lang="zh-CN" altLang="zh-CN" sz="2000" i="1" ker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i="1" kern="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000" i="1" kern="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den>
                    </m:f>
                  </m:oMath>
                </a14:m>
                <a:r>
                  <a:rPr lang="en-US" altLang="zh-CN" sz="20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85C0315-D33E-49FF-5BEA-A4CBC1567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069409"/>
                <a:ext cx="2056523" cy="1195135"/>
              </a:xfrm>
              <a:prstGeom prst="rect">
                <a:avLst/>
              </a:prstGeom>
              <a:blipFill>
                <a:blip r:embed="rId5"/>
                <a:stretch>
                  <a:fillRect l="-9877" t="-1053" b="-4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55946096-5296-6433-36C5-6D3C11258DB0}"/>
              </a:ext>
            </a:extLst>
          </p:cNvPr>
          <p:cNvGrpSpPr/>
          <p:nvPr/>
        </p:nvGrpSpPr>
        <p:grpSpPr>
          <a:xfrm>
            <a:off x="2108797" y="3069408"/>
            <a:ext cx="9630442" cy="3726447"/>
            <a:chOff x="133941" y="1397396"/>
            <a:chExt cx="11053994" cy="4063207"/>
          </a:xfrm>
        </p:grpSpPr>
        <p:pic>
          <p:nvPicPr>
            <p:cNvPr id="3" name="Picture 2" descr="图片">
              <a:extLst>
                <a:ext uri="{FF2B5EF4-FFF2-40B4-BE49-F238E27FC236}">
                  <a16:creationId xmlns:a16="http://schemas.microsoft.com/office/drawing/2014/main" id="{DDA8B34D-F71D-CBBE-8C4F-94CD4D8742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941" y="1397396"/>
              <a:ext cx="11053994" cy="40632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A9FBBE33-4A63-0DBD-4044-D9A20AAAE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10549" y="4743451"/>
              <a:ext cx="2733676" cy="670084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F9908A70-021C-26D0-6825-497A68B70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72977" y="4714875"/>
              <a:ext cx="1366838" cy="335042"/>
            </a:xfrm>
            <a:prstGeom prst="rect">
              <a:avLst/>
            </a:prstGeom>
          </p:spPr>
        </p:pic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8DC1DF33-95AA-C38B-F8A0-CE986C03DF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411" y="4932631"/>
            <a:ext cx="1409700" cy="149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71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4DF6655-7F7E-4E73-A3C2-AFEE64A0F032}"/>
              </a:ext>
            </a:extLst>
          </p:cNvPr>
          <p:cNvSpPr txBox="1"/>
          <p:nvPr/>
        </p:nvSpPr>
        <p:spPr>
          <a:xfrm>
            <a:off x="4208015" y="6473502"/>
            <a:ext cx="39150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机器学习公式推导与代码实现 </a:t>
            </a:r>
            <a:r>
              <a:rPr lang="en-US" altLang="zh-CN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@louwill</a:t>
            </a:r>
            <a:endParaRPr lang="zh-CN" altLang="en-US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4F2CB7A-BA96-49B0-B171-042F421B50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73441"/>
            <a:ext cx="1523260" cy="365125"/>
          </a:xfrm>
        </p:spPr>
        <p:txBody>
          <a:bodyPr/>
          <a:lstStyle/>
          <a:p>
            <a:fld id="{BCF1BC06-E0FE-46B4-923B-F350AE291E25}" type="datetime1">
              <a:rPr lang="zh-CN" altLang="en-US" sz="16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2025/7/26</a:t>
            </a:fld>
            <a:endParaRPr lang="zh-CN" altLang="en-US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B5A004ED-174F-43CC-9452-2829ADBB3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7188" y="6446931"/>
            <a:ext cx="336612" cy="365125"/>
          </a:xfrm>
        </p:spPr>
        <p:txBody>
          <a:bodyPr/>
          <a:lstStyle/>
          <a:p>
            <a:fld id="{9ED3A831-FE31-4C69-83B6-0EC1B23515F3}" type="slidenum">
              <a:rPr lang="zh-CN" altLang="en-US" sz="16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fld>
            <a:endParaRPr lang="zh-CN" altLang="en-US"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5E500F4-BB73-4D20-A156-84CAF8793FC1}"/>
              </a:ext>
            </a:extLst>
          </p:cNvPr>
          <p:cNvSpPr txBox="1"/>
          <p:nvPr/>
        </p:nvSpPr>
        <p:spPr>
          <a:xfrm>
            <a:off x="136189" y="45944"/>
            <a:ext cx="4185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304D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常用聚类算法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E2B2D9E-1979-4712-8C7B-C99475789D85}"/>
              </a:ext>
            </a:extLst>
          </p:cNvPr>
          <p:cNvSpPr txBox="1"/>
          <p:nvPr/>
        </p:nvSpPr>
        <p:spPr>
          <a:xfrm>
            <a:off x="452761" y="709359"/>
            <a:ext cx="112864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常用的聚类算法有如下几种：</a:t>
            </a:r>
            <a:r>
              <a:rPr lang="zh-CN" altLang="en-US" dirty="0">
                <a:solidFill>
                  <a:srgbClr val="304D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基于距离划分的聚类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，该类算法的目标就是使簇类距离小、簇间距离大，最典型就是本章将要详细阐述的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均值聚类算法；</a:t>
            </a:r>
            <a:r>
              <a:rPr lang="zh-CN" altLang="en-US" dirty="0">
                <a:solidFill>
                  <a:srgbClr val="304D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基于密度的聚类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，该类算法是以样本邻近区域的密度来进行划分的，最常见的密度聚类算法当数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DBSCAN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算法；</a:t>
            </a:r>
            <a:r>
              <a:rPr lang="zh-CN" altLang="en-US" dirty="0">
                <a:solidFill>
                  <a:srgbClr val="304D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层次聚类算法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，包括合并层次聚类和分裂层次聚类等；</a:t>
            </a:r>
            <a:r>
              <a:rPr lang="zh-CN" altLang="en-US" dirty="0">
                <a:solidFill>
                  <a:srgbClr val="304D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基于图论的谱聚类算法等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7510AFF-F4C5-0024-0D0F-5E879DE504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0664" y="1917239"/>
            <a:ext cx="6209453" cy="370078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BE05B91-42C0-6954-4800-95148356F5BB}"/>
              </a:ext>
            </a:extLst>
          </p:cNvPr>
          <p:cNvSpPr txBox="1"/>
          <p:nvPr/>
        </p:nvSpPr>
        <p:spPr>
          <a:xfrm>
            <a:off x="4039709" y="5737983"/>
            <a:ext cx="4083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类聚类算法效果对比（图来自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sklearn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官网教程）</a:t>
            </a:r>
          </a:p>
        </p:txBody>
      </p:sp>
    </p:spTree>
    <p:extLst>
      <p:ext uri="{BB962C8B-B14F-4D97-AF65-F5344CB8AC3E}">
        <p14:creationId xmlns:p14="http://schemas.microsoft.com/office/powerpoint/2010/main" val="1958356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8625</TotalTime>
  <Words>605</Words>
  <Application>Microsoft Macintosh PowerPoint</Application>
  <PresentationFormat>宽屏</PresentationFormat>
  <Paragraphs>61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等线</vt:lpstr>
      <vt:lpstr>等线 Light</vt:lpstr>
      <vt:lpstr>微软雅黑</vt:lpstr>
      <vt:lpstr>Arial</vt:lpstr>
      <vt:lpstr>Cambria Math</vt:lpstr>
      <vt:lpstr>Times New Roman</vt:lpstr>
      <vt:lpstr>Office 主题​​</vt:lpstr>
      <vt:lpstr>PowerPoint 演示文稿</vt:lpstr>
      <vt:lpstr>聚类算法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说课 ——《动力工程测控技术》</dc:title>
  <dc:creator>陈 冰虹</dc:creator>
  <cp:lastModifiedBy>Microsoft Office User</cp:lastModifiedBy>
  <cp:revision>596</cp:revision>
  <dcterms:created xsi:type="dcterms:W3CDTF">2021-11-17T13:21:01Z</dcterms:created>
  <dcterms:modified xsi:type="dcterms:W3CDTF">2025-07-26T14:04:17Z</dcterms:modified>
</cp:coreProperties>
</file>
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90" r:id="rId2"/>
    <p:sldId id="291" r:id="rId3"/>
    <p:sldId id="292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49" autoAdjust="0"/>
    <p:restoredTop sz="83196"/>
  </p:normalViewPr>
  <p:slideViewPr>
    <p:cSldViewPr snapToGrid="0" showGuides="1">
      <p:cViewPr varScale="1">
        <p:scale>
          <a:sx n="104" d="100"/>
          <a:sy n="104" d="100"/>
        </p:scale>
        <p:origin x="448" y="2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image" Target="../media/image22.png"/><Relationship Id="rId7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Part Five</a:t>
            </a:r>
            <a:b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层次聚类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495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层次聚类（无需聚类数量）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599" y="1137920"/>
            <a:ext cx="103428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例</a:t>
            </a:r>
            <a:r>
              <a:rPr lang="zh-CN" altLang="en-US" sz="2400" b="1" dirty="0">
                <a:sym typeface="Wingdings" panose="05000000000000000000" pitchFamily="2" charset="2"/>
              </a:rPr>
              <a:t>：（</a:t>
            </a:r>
            <a:r>
              <a:rPr lang="zh-CN" altLang="en-US" sz="2400" b="1" dirty="0"/>
              <a:t>数据同上例）有六个样品，每个只测量一个指标，分别是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9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， 试用重心法将它们聚类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212080" y="2014900"/>
                <a:ext cx="710184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/>
                  <a:t>步骤</a:t>
                </a:r>
                <a:r>
                  <a:rPr lang="en-US" altLang="zh-CN" sz="2000" b="1" dirty="0"/>
                  <a:t>2</a:t>
                </a:r>
                <a:r>
                  <a:rPr lang="zh-CN" altLang="en-US" sz="2000" b="1" dirty="0"/>
                  <a:t>：</a:t>
                </a:r>
                <a:r>
                  <a:rPr lang="en-US" altLang="zh-CN" sz="2000" b="1" dirty="0"/>
                  <a:t>D</a:t>
                </a:r>
                <a:r>
                  <a:rPr lang="en-US" altLang="zh-CN" sz="2000" b="1" baseline="30000" dirty="0"/>
                  <a:t>2</a:t>
                </a:r>
                <a:r>
                  <a:rPr lang="zh-CN" altLang="en-US" sz="2000" b="1" baseline="-25000" dirty="0"/>
                  <a:t>（</a:t>
                </a:r>
                <a:r>
                  <a:rPr lang="en-US" altLang="zh-CN" sz="2000" b="1" baseline="-25000" dirty="0"/>
                  <a:t>0</a:t>
                </a:r>
                <a:r>
                  <a:rPr lang="zh-CN" altLang="en-US" sz="2000" b="1" baseline="-25000" dirty="0"/>
                  <a:t>）</a:t>
                </a:r>
                <a:r>
                  <a:rPr lang="zh-CN" altLang="en-US" sz="2000" b="1" dirty="0"/>
                  <a:t>中最小的元素是</a:t>
                </a:r>
                <a:r>
                  <a:rPr lang="en-US" altLang="zh-CN" sz="2000" b="1" dirty="0"/>
                  <a:t>D</a:t>
                </a:r>
                <a:r>
                  <a:rPr lang="en-US" altLang="zh-CN" sz="2000" b="1" baseline="30000" dirty="0"/>
                  <a:t>2</a:t>
                </a:r>
                <a:r>
                  <a:rPr lang="en-US" altLang="zh-CN" sz="2000" b="1" baseline="-25000" dirty="0"/>
                  <a:t>12</a:t>
                </a:r>
                <a:r>
                  <a:rPr lang="zh-CN" altLang="en-US" sz="2000" b="1" dirty="0"/>
                  <a:t>＝</a:t>
                </a:r>
                <a:r>
                  <a:rPr lang="en-US" altLang="zh-CN" sz="2000" b="1" dirty="0"/>
                  <a:t>D</a:t>
                </a:r>
                <a:r>
                  <a:rPr lang="en-US" altLang="zh-CN" sz="2000" b="1" baseline="30000" dirty="0"/>
                  <a:t>2</a:t>
                </a:r>
                <a:r>
                  <a:rPr lang="en-US" altLang="zh-CN" sz="2000" b="1" baseline="-25000" dirty="0"/>
                  <a:t>56</a:t>
                </a:r>
                <a:r>
                  <a:rPr lang="zh-CN" altLang="en-US" sz="2000" b="1" dirty="0"/>
                  <a:t>＝</a:t>
                </a:r>
                <a:r>
                  <a:rPr lang="en-US" altLang="zh-CN" sz="2000" b="1" dirty="0"/>
                  <a:t>1,</a:t>
                </a:r>
                <a:r>
                  <a:rPr lang="zh-CN" altLang="en-US" sz="2000" b="1" dirty="0"/>
                  <a:t>于是将</a:t>
                </a:r>
                <a:endParaRPr lang="en-US" altLang="zh-CN" sz="2000" b="1" dirty="0"/>
              </a:p>
              <a:p>
                <a:r>
                  <a:rPr lang="en-US" altLang="zh-CN" sz="2000" b="1" dirty="0">
                    <a:solidFill>
                      <a:srgbClr val="FF0000"/>
                    </a:solidFill>
                  </a:rPr>
                  <a:t>G</a:t>
                </a:r>
                <a:r>
                  <a:rPr lang="en-US" altLang="zh-CN" sz="20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和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G</a:t>
                </a:r>
                <a:r>
                  <a:rPr lang="en-US" altLang="zh-CN" sz="2000" b="1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合并成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G</a:t>
                </a:r>
                <a:r>
                  <a:rPr lang="en-US" altLang="zh-CN" sz="2000" b="1" baseline="-25000" dirty="0">
                    <a:solidFill>
                      <a:srgbClr val="FF0000"/>
                    </a:solidFill>
                  </a:rPr>
                  <a:t>7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</a:rPr>
                  <a:t>1.5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，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G</a:t>
                </a:r>
                <a:r>
                  <a:rPr lang="en-US" altLang="zh-CN" sz="2000" b="1" baseline="-25000" dirty="0">
                    <a:solidFill>
                      <a:srgbClr val="FF0000"/>
                    </a:solidFill>
                  </a:rPr>
                  <a:t>5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和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G</a:t>
                </a:r>
                <a:r>
                  <a:rPr lang="en-US" altLang="zh-CN" sz="2000" b="1" baseline="-25000" dirty="0">
                    <a:solidFill>
                      <a:srgbClr val="FF0000"/>
                    </a:solidFill>
                  </a:rPr>
                  <a:t>6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合并成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G</a:t>
                </a:r>
                <a:r>
                  <a:rPr lang="en-US" altLang="zh-CN" sz="2000" b="1" baseline="-25000" dirty="0">
                    <a:solidFill>
                      <a:srgbClr val="FF0000"/>
                    </a:solidFill>
                  </a:rPr>
                  <a:t>8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</a:rPr>
                  <a:t>9.5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，</a:t>
                </a:r>
                <a:endParaRPr lang="en-US" altLang="zh-CN" sz="2000" b="1" dirty="0">
                  <a:solidFill>
                    <a:srgbClr val="FF0000"/>
                  </a:solidFill>
                </a:endParaRPr>
              </a:p>
              <a:p>
                <a:r>
                  <a:rPr lang="zh-CN" altLang="en-US" sz="2000" b="1" dirty="0"/>
                  <a:t>并计算新类与其它类的距离得到距离阵</a:t>
                </a:r>
                <a:r>
                  <a:rPr lang="en-US" altLang="zh-CN" sz="2000" b="1" dirty="0"/>
                  <a:t>D</a:t>
                </a:r>
                <a:r>
                  <a:rPr lang="en-US" altLang="zh-CN" sz="2000" b="1" baseline="30000" dirty="0"/>
                  <a:t>2</a:t>
                </a:r>
                <a:r>
                  <a:rPr lang="zh-CN" altLang="en-US" sz="2000" b="1" baseline="-25000" dirty="0"/>
                  <a:t>（</a:t>
                </a:r>
                <a:r>
                  <a:rPr lang="en-US" altLang="zh-CN" sz="2000" b="1" baseline="-25000" dirty="0"/>
                  <a:t>1</a:t>
                </a:r>
                <a:r>
                  <a:rPr lang="zh-CN" altLang="en-US" sz="2000" b="1" baseline="-25000" dirty="0"/>
                  <a:t>） </a:t>
                </a:r>
                <a:endParaRPr lang="en-US" altLang="zh-CN" sz="2000" b="1" baseline="-250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0" y="2014900"/>
                <a:ext cx="7101840" cy="1015663"/>
              </a:xfrm>
              <a:prstGeom prst="rect">
                <a:avLst/>
              </a:prstGeom>
              <a:blipFill>
                <a:blip r:embed="rId2"/>
                <a:stretch>
                  <a:fillRect l="-858" t="-3614" b="-10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469333"/>
              </p:ext>
            </p:extLst>
          </p:nvPr>
        </p:nvGraphicFramePr>
        <p:xfrm>
          <a:off x="609599" y="3498786"/>
          <a:ext cx="415543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634">
                  <a:extLst>
                    <a:ext uri="{9D8B030D-6E8A-4147-A177-3AD203B41FA5}">
                      <a16:colId xmlns:a16="http://schemas.microsoft.com/office/drawing/2014/main" val="3473272862"/>
                    </a:ext>
                  </a:extLst>
                </a:gridCol>
                <a:gridCol w="593634">
                  <a:extLst>
                    <a:ext uri="{9D8B030D-6E8A-4147-A177-3AD203B41FA5}">
                      <a16:colId xmlns:a16="http://schemas.microsoft.com/office/drawing/2014/main" val="390920614"/>
                    </a:ext>
                  </a:extLst>
                </a:gridCol>
                <a:gridCol w="593634">
                  <a:extLst>
                    <a:ext uri="{9D8B030D-6E8A-4147-A177-3AD203B41FA5}">
                      <a16:colId xmlns:a16="http://schemas.microsoft.com/office/drawing/2014/main" val="2740751504"/>
                    </a:ext>
                  </a:extLst>
                </a:gridCol>
                <a:gridCol w="593634">
                  <a:extLst>
                    <a:ext uri="{9D8B030D-6E8A-4147-A177-3AD203B41FA5}">
                      <a16:colId xmlns:a16="http://schemas.microsoft.com/office/drawing/2014/main" val="3991143426"/>
                    </a:ext>
                  </a:extLst>
                </a:gridCol>
                <a:gridCol w="593634">
                  <a:extLst>
                    <a:ext uri="{9D8B030D-6E8A-4147-A177-3AD203B41FA5}">
                      <a16:colId xmlns:a16="http://schemas.microsoft.com/office/drawing/2014/main" val="1076213954"/>
                    </a:ext>
                  </a:extLst>
                </a:gridCol>
                <a:gridCol w="593634">
                  <a:extLst>
                    <a:ext uri="{9D8B030D-6E8A-4147-A177-3AD203B41FA5}">
                      <a16:colId xmlns:a16="http://schemas.microsoft.com/office/drawing/2014/main" val="2190773832"/>
                    </a:ext>
                  </a:extLst>
                </a:gridCol>
                <a:gridCol w="593634">
                  <a:extLst>
                    <a:ext uri="{9D8B030D-6E8A-4147-A177-3AD203B41FA5}">
                      <a16:colId xmlns:a16="http://schemas.microsoft.com/office/drawing/2014/main" val="1433311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G2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G3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G5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G6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2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56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G2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27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G3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16</a:t>
                      </a:r>
                      <a:endParaRPr lang="zh-CN" alt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9</a:t>
                      </a:r>
                      <a:endParaRPr lang="zh-CN" alt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122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36</a:t>
                      </a:r>
                      <a:endParaRPr lang="zh-CN" alt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25</a:t>
                      </a:r>
                      <a:endParaRPr lang="zh-CN" alt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140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G5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64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49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16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047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G6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81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64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25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9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57725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467326" y="2240543"/>
            <a:ext cx="442941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/>
              <a:t>步骤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：样品采用欧氏距离，</a:t>
            </a:r>
            <a:endParaRPr lang="en-US" altLang="zh-CN" sz="2400" b="1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/>
              <a:t>计算样品间的平方距离阵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70949"/>
              </p:ext>
            </p:extLst>
          </p:nvPr>
        </p:nvGraphicFramePr>
        <p:xfrm>
          <a:off x="5391741" y="3071540"/>
          <a:ext cx="38945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900">
                  <a:extLst>
                    <a:ext uri="{9D8B030D-6E8A-4147-A177-3AD203B41FA5}">
                      <a16:colId xmlns:a16="http://schemas.microsoft.com/office/drawing/2014/main" val="3473272862"/>
                    </a:ext>
                  </a:extLst>
                </a:gridCol>
                <a:gridCol w="778900">
                  <a:extLst>
                    <a:ext uri="{9D8B030D-6E8A-4147-A177-3AD203B41FA5}">
                      <a16:colId xmlns:a16="http://schemas.microsoft.com/office/drawing/2014/main" val="390920614"/>
                    </a:ext>
                  </a:extLst>
                </a:gridCol>
                <a:gridCol w="778900">
                  <a:extLst>
                    <a:ext uri="{9D8B030D-6E8A-4147-A177-3AD203B41FA5}">
                      <a16:colId xmlns:a16="http://schemas.microsoft.com/office/drawing/2014/main" val="2740751504"/>
                    </a:ext>
                  </a:extLst>
                </a:gridCol>
                <a:gridCol w="778900">
                  <a:extLst>
                    <a:ext uri="{9D8B030D-6E8A-4147-A177-3AD203B41FA5}">
                      <a16:colId xmlns:a16="http://schemas.microsoft.com/office/drawing/2014/main" val="3991143426"/>
                    </a:ext>
                  </a:extLst>
                </a:gridCol>
                <a:gridCol w="778900">
                  <a:extLst>
                    <a:ext uri="{9D8B030D-6E8A-4147-A177-3AD203B41FA5}">
                      <a16:colId xmlns:a16="http://schemas.microsoft.com/office/drawing/2014/main" val="10762139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G7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G3=5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G4=7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G8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2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G7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56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G3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12.25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27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30.25</a:t>
                      </a:r>
                      <a:endParaRPr lang="zh-CN" alt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122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G8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64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20.25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6.25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140640"/>
                  </a:ext>
                </a:extLst>
              </a:tr>
            </a:tbl>
          </a:graphicData>
        </a:graphic>
      </p:graphicFrame>
      <p:sp>
        <p:nvSpPr>
          <p:cNvPr id="11" name="椭圆 10"/>
          <p:cNvSpPr/>
          <p:nvPr/>
        </p:nvSpPr>
        <p:spPr>
          <a:xfrm>
            <a:off x="5340940" y="3843424"/>
            <a:ext cx="562019" cy="713512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609598" y="5303520"/>
            <a:ext cx="562019" cy="791146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5391741" y="5031907"/>
                <a:ext cx="7295256" cy="2125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𝟑𝟕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altLang="zh-CN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endParaRPr lang="en-US" altLang="zh-CN" b="1" i="1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𝟗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</m:e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𝟔𝟒</m:t>
                    </m:r>
                  </m:oMath>
                </a14:m>
                <a:endParaRPr lang="en-US" altLang="zh-CN" b="1" i="1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𝟖𝟑</m:t>
                        </m:r>
                      </m:sub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𝟗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</m:e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zh-CN" altLang="en-US" b="1" i="1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𝟗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e>
                        </m:d>
                      </m:e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zh-CN" altLang="en-US" b="1" i="1" dirty="0"/>
              </a:p>
              <a:p>
                <a:endParaRPr lang="zh-CN" altLang="en-US" b="1" i="1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741" y="5031907"/>
                <a:ext cx="7295256" cy="2125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椭圆 13"/>
          <p:cNvSpPr/>
          <p:nvPr/>
        </p:nvSpPr>
        <p:spPr>
          <a:xfrm>
            <a:off x="556108" y="3916943"/>
            <a:ext cx="562019" cy="713512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781428"/>
              </p:ext>
            </p:extLst>
          </p:nvPr>
        </p:nvGraphicFramePr>
        <p:xfrm>
          <a:off x="6182796" y="13096"/>
          <a:ext cx="573489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3489">
                  <a:extLst>
                    <a:ext uri="{9D8B030D-6E8A-4147-A177-3AD203B41FA5}">
                      <a16:colId xmlns:a16="http://schemas.microsoft.com/office/drawing/2014/main" val="2399408042"/>
                    </a:ext>
                  </a:extLst>
                </a:gridCol>
                <a:gridCol w="573489">
                  <a:extLst>
                    <a:ext uri="{9D8B030D-6E8A-4147-A177-3AD203B41FA5}">
                      <a16:colId xmlns:a16="http://schemas.microsoft.com/office/drawing/2014/main" val="2024797665"/>
                    </a:ext>
                  </a:extLst>
                </a:gridCol>
                <a:gridCol w="573489">
                  <a:extLst>
                    <a:ext uri="{9D8B030D-6E8A-4147-A177-3AD203B41FA5}">
                      <a16:colId xmlns:a16="http://schemas.microsoft.com/office/drawing/2014/main" val="1055147304"/>
                    </a:ext>
                  </a:extLst>
                </a:gridCol>
                <a:gridCol w="573489">
                  <a:extLst>
                    <a:ext uri="{9D8B030D-6E8A-4147-A177-3AD203B41FA5}">
                      <a16:colId xmlns:a16="http://schemas.microsoft.com/office/drawing/2014/main" val="520559867"/>
                    </a:ext>
                  </a:extLst>
                </a:gridCol>
                <a:gridCol w="573489">
                  <a:extLst>
                    <a:ext uri="{9D8B030D-6E8A-4147-A177-3AD203B41FA5}">
                      <a16:colId xmlns:a16="http://schemas.microsoft.com/office/drawing/2014/main" val="3619444458"/>
                    </a:ext>
                  </a:extLst>
                </a:gridCol>
                <a:gridCol w="573489">
                  <a:extLst>
                    <a:ext uri="{9D8B030D-6E8A-4147-A177-3AD203B41FA5}">
                      <a16:colId xmlns:a16="http://schemas.microsoft.com/office/drawing/2014/main" val="47624942"/>
                    </a:ext>
                  </a:extLst>
                </a:gridCol>
                <a:gridCol w="573489">
                  <a:extLst>
                    <a:ext uri="{9D8B030D-6E8A-4147-A177-3AD203B41FA5}">
                      <a16:colId xmlns:a16="http://schemas.microsoft.com/office/drawing/2014/main" val="2192815020"/>
                    </a:ext>
                  </a:extLst>
                </a:gridCol>
                <a:gridCol w="573489">
                  <a:extLst>
                    <a:ext uri="{9D8B030D-6E8A-4147-A177-3AD203B41FA5}">
                      <a16:colId xmlns:a16="http://schemas.microsoft.com/office/drawing/2014/main" val="711186541"/>
                    </a:ext>
                  </a:extLst>
                </a:gridCol>
                <a:gridCol w="573489">
                  <a:extLst>
                    <a:ext uri="{9D8B030D-6E8A-4147-A177-3AD203B41FA5}">
                      <a16:colId xmlns:a16="http://schemas.microsoft.com/office/drawing/2014/main" val="995733985"/>
                    </a:ext>
                  </a:extLst>
                </a:gridCol>
                <a:gridCol w="573489">
                  <a:extLst>
                    <a:ext uri="{9D8B030D-6E8A-4147-A177-3AD203B41FA5}">
                      <a16:colId xmlns:a16="http://schemas.microsoft.com/office/drawing/2014/main" val="3267079870"/>
                    </a:ext>
                  </a:extLst>
                </a:gridCol>
              </a:tblGrid>
              <a:tr h="330285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G10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738542"/>
                  </a:ext>
                </a:extLst>
              </a:tr>
              <a:tr h="330285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42379"/>
                  </a:ext>
                </a:extLst>
              </a:tr>
              <a:tr h="330285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1.5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9.5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487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8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层次聚类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481408"/>
              </p:ext>
            </p:extLst>
          </p:nvPr>
        </p:nvGraphicFramePr>
        <p:xfrm>
          <a:off x="961981" y="2736260"/>
          <a:ext cx="31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900">
                  <a:extLst>
                    <a:ext uri="{9D8B030D-6E8A-4147-A177-3AD203B41FA5}">
                      <a16:colId xmlns:a16="http://schemas.microsoft.com/office/drawing/2014/main" val="3473272862"/>
                    </a:ext>
                  </a:extLst>
                </a:gridCol>
                <a:gridCol w="778900">
                  <a:extLst>
                    <a:ext uri="{9D8B030D-6E8A-4147-A177-3AD203B41FA5}">
                      <a16:colId xmlns:a16="http://schemas.microsoft.com/office/drawing/2014/main" val="390920614"/>
                    </a:ext>
                  </a:extLst>
                </a:gridCol>
                <a:gridCol w="778900">
                  <a:extLst>
                    <a:ext uri="{9D8B030D-6E8A-4147-A177-3AD203B41FA5}">
                      <a16:colId xmlns:a16="http://schemas.microsoft.com/office/drawing/2014/main" val="2740751504"/>
                    </a:ext>
                  </a:extLst>
                </a:gridCol>
                <a:gridCol w="778900">
                  <a:extLst>
                    <a:ext uri="{9D8B030D-6E8A-4147-A177-3AD203B41FA5}">
                      <a16:colId xmlns:a16="http://schemas.microsoft.com/office/drawing/2014/main" val="10762139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G7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G9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G8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2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G7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56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G9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20.25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27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G8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64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12.25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1406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741680" y="1247279"/>
                <a:ext cx="6096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b="1" dirty="0"/>
                  <a:t>步骤</a:t>
                </a:r>
                <a:r>
                  <a:rPr lang="en-US" altLang="zh-CN" b="1" dirty="0"/>
                  <a:t>3</a:t>
                </a:r>
                <a:r>
                  <a:rPr lang="zh-CN" altLang="en-US" b="1" dirty="0"/>
                  <a:t>：</a:t>
                </a:r>
                <a:r>
                  <a:rPr lang="en-US" altLang="zh-CN" b="1" dirty="0"/>
                  <a:t>D</a:t>
                </a:r>
                <a:r>
                  <a:rPr lang="en-US" altLang="zh-CN" b="1" baseline="30000" dirty="0"/>
                  <a:t>2</a:t>
                </a:r>
                <a:r>
                  <a:rPr lang="zh-CN" altLang="en-US" b="1" baseline="-25000" dirty="0"/>
                  <a:t>（</a:t>
                </a:r>
                <a:r>
                  <a:rPr lang="en-US" altLang="zh-CN" b="1" baseline="-25000" dirty="0"/>
                  <a:t>1</a:t>
                </a:r>
                <a:r>
                  <a:rPr lang="zh-CN" altLang="en-US" b="1" baseline="-25000" dirty="0"/>
                  <a:t>）</a:t>
                </a:r>
                <a:r>
                  <a:rPr lang="zh-CN" altLang="en-US" b="1" dirty="0"/>
                  <a:t>中最小的元素是</a:t>
                </a:r>
                <a:r>
                  <a:rPr lang="en-US" altLang="zh-CN" b="1" dirty="0"/>
                  <a:t>D</a:t>
                </a:r>
                <a:r>
                  <a:rPr lang="en-US" altLang="zh-CN" b="1" baseline="30000" dirty="0"/>
                  <a:t>2</a:t>
                </a:r>
                <a:r>
                  <a:rPr lang="en-US" altLang="zh-CN" b="1" baseline="-25000" dirty="0"/>
                  <a:t>34</a:t>
                </a:r>
                <a:r>
                  <a:rPr lang="zh-CN" altLang="en-US" b="1" dirty="0"/>
                  <a:t>＝</a:t>
                </a:r>
                <a:r>
                  <a:rPr lang="en-US" altLang="zh-CN" b="1" dirty="0"/>
                  <a:t>4,</a:t>
                </a:r>
                <a:r>
                  <a:rPr lang="zh-CN" altLang="en-US" b="1" dirty="0"/>
                  <a:t>于是将</a:t>
                </a:r>
                <a:endParaRPr lang="en-US" altLang="zh-CN" b="1" dirty="0"/>
              </a:p>
              <a:p>
                <a:r>
                  <a:rPr lang="en-US" altLang="zh-CN" b="1" dirty="0">
                    <a:solidFill>
                      <a:srgbClr val="FF0000"/>
                    </a:solidFill>
                  </a:rPr>
                  <a:t>G</a:t>
                </a:r>
                <a:r>
                  <a:rPr lang="en-US" altLang="zh-CN" b="1" baseline="-25000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和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G</a:t>
                </a:r>
                <a:r>
                  <a:rPr lang="en-US" altLang="zh-CN" b="1" baseline="-25000" dirty="0">
                    <a:solidFill>
                      <a:srgbClr val="FF0000"/>
                    </a:solidFill>
                  </a:rPr>
                  <a:t>4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合并成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G9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r>
                  <a:rPr lang="zh-CN" altLang="en-US" b="1" dirty="0"/>
                  <a:t>并计算新类与其它类的距离得到距离阵</a:t>
                </a:r>
                <a:r>
                  <a:rPr lang="en-US" altLang="zh-CN" b="1" dirty="0"/>
                  <a:t>D</a:t>
                </a:r>
                <a:r>
                  <a:rPr lang="en-US" altLang="zh-CN" b="1" baseline="30000" dirty="0"/>
                  <a:t>2</a:t>
                </a:r>
                <a:r>
                  <a:rPr lang="zh-CN" altLang="en-US" b="1" baseline="-25000" dirty="0"/>
                  <a:t>（</a:t>
                </a:r>
                <a:r>
                  <a:rPr lang="en-US" altLang="zh-CN" b="1" baseline="-25000" dirty="0"/>
                  <a:t>2</a:t>
                </a:r>
                <a:r>
                  <a:rPr lang="zh-CN" altLang="en-US" b="1" baseline="-25000" dirty="0"/>
                  <a:t>） </a:t>
                </a:r>
                <a:endParaRPr lang="en-US" altLang="zh-CN" b="1" baseline="-250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80" y="1247279"/>
                <a:ext cx="6096000" cy="923330"/>
              </a:xfrm>
              <a:prstGeom prst="rect">
                <a:avLst/>
              </a:prstGeom>
              <a:blipFill>
                <a:blip r:embed="rId3"/>
                <a:stretch>
                  <a:fillRect l="-900" t="-3974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951821" y="4462947"/>
                <a:ext cx="4432979" cy="684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𝟕𝟗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altLang="zh-CN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𝟖𝟗</m:t>
                        </m:r>
                      </m:sub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𝟗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en-US" altLang="zh-CN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821" y="4462947"/>
                <a:ext cx="4432979" cy="684739"/>
              </a:xfrm>
              <a:prstGeom prst="rect">
                <a:avLst/>
              </a:prstGeom>
              <a:blipFill>
                <a:blip r:embed="rId4"/>
                <a:stretch>
                  <a:fillRect b="-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994688"/>
              </p:ext>
            </p:extLst>
          </p:nvPr>
        </p:nvGraphicFramePr>
        <p:xfrm>
          <a:off x="6260422" y="2664310"/>
          <a:ext cx="325441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806">
                  <a:extLst>
                    <a:ext uri="{9D8B030D-6E8A-4147-A177-3AD203B41FA5}">
                      <a16:colId xmlns:a16="http://schemas.microsoft.com/office/drawing/2014/main" val="3473272862"/>
                    </a:ext>
                  </a:extLst>
                </a:gridCol>
                <a:gridCol w="1084806">
                  <a:extLst>
                    <a:ext uri="{9D8B030D-6E8A-4147-A177-3AD203B41FA5}">
                      <a16:colId xmlns:a16="http://schemas.microsoft.com/office/drawing/2014/main" val="390920614"/>
                    </a:ext>
                  </a:extLst>
                </a:gridCol>
                <a:gridCol w="1084806">
                  <a:extLst>
                    <a:ext uri="{9D8B030D-6E8A-4147-A177-3AD203B41FA5}">
                      <a16:colId xmlns:a16="http://schemas.microsoft.com/office/drawing/2014/main" val="27407515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G7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G10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2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G7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56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G10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30.0625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2722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096000" y="1707331"/>
                <a:ext cx="6096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b="1" dirty="0"/>
                  <a:t>步骤</a:t>
                </a:r>
                <a:r>
                  <a:rPr lang="en-US" altLang="zh-CN" b="1" dirty="0"/>
                  <a:t>4</a:t>
                </a:r>
                <a:r>
                  <a:rPr lang="zh-CN" altLang="en-US" b="1" dirty="0"/>
                  <a:t>：</a:t>
                </a:r>
                <a:r>
                  <a:rPr lang="en-US" altLang="zh-CN" b="1" dirty="0"/>
                  <a:t>D</a:t>
                </a:r>
                <a:r>
                  <a:rPr lang="en-US" altLang="zh-CN" b="1" baseline="30000" dirty="0"/>
                  <a:t>2</a:t>
                </a:r>
                <a:r>
                  <a:rPr lang="zh-CN" altLang="en-US" b="1" baseline="-25000" dirty="0"/>
                  <a:t>（</a:t>
                </a:r>
                <a:r>
                  <a:rPr lang="en-US" altLang="zh-CN" b="1" baseline="-25000" dirty="0"/>
                  <a:t>2</a:t>
                </a:r>
                <a:r>
                  <a:rPr lang="zh-CN" altLang="en-US" b="1" baseline="-25000" dirty="0"/>
                  <a:t>）</a:t>
                </a:r>
                <a:r>
                  <a:rPr lang="zh-CN" altLang="en-US" b="1" dirty="0"/>
                  <a:t>中最小的元素是</a:t>
                </a:r>
                <a:r>
                  <a:rPr lang="en-US" altLang="zh-CN" b="1" dirty="0"/>
                  <a:t>D</a:t>
                </a:r>
                <a:r>
                  <a:rPr lang="en-US" altLang="zh-CN" b="1" baseline="30000" dirty="0"/>
                  <a:t>2</a:t>
                </a:r>
                <a:r>
                  <a:rPr lang="en-US" altLang="zh-CN" b="1" baseline="-25000" dirty="0"/>
                  <a:t>89</a:t>
                </a:r>
                <a:r>
                  <a:rPr lang="zh-CN" altLang="en-US" b="1" dirty="0"/>
                  <a:t>＝</a:t>
                </a:r>
                <a:r>
                  <a:rPr lang="en-US" altLang="zh-CN" b="1" dirty="0"/>
                  <a:t>12.25,</a:t>
                </a:r>
                <a:r>
                  <a:rPr lang="zh-CN" altLang="en-US" b="1" dirty="0"/>
                  <a:t>于是将</a:t>
                </a:r>
                <a:endParaRPr lang="en-US" altLang="zh-CN" b="1" dirty="0"/>
              </a:p>
              <a:p>
                <a:r>
                  <a:rPr lang="en-US" altLang="zh-CN" b="1" dirty="0">
                    <a:solidFill>
                      <a:srgbClr val="FF0000"/>
                    </a:solidFill>
                  </a:rPr>
                  <a:t>G</a:t>
                </a:r>
                <a:r>
                  <a:rPr lang="en-US" altLang="zh-CN" b="1" baseline="-25000" dirty="0">
                    <a:solidFill>
                      <a:srgbClr val="FF0000"/>
                    </a:solidFill>
                  </a:rPr>
                  <a:t>8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和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G</a:t>
                </a:r>
                <a:r>
                  <a:rPr lang="en-US" altLang="zh-CN" b="1" baseline="-25000" dirty="0">
                    <a:solidFill>
                      <a:srgbClr val="FF0000"/>
                    </a:solidFill>
                  </a:rPr>
                  <a:t>9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合并成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G1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𝟕𝟓</m:t>
                    </m:r>
                  </m:oMath>
                </a14:m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r>
                  <a:rPr lang="zh-CN" altLang="en-US" b="1" dirty="0"/>
                  <a:t>并计算新类与其它类的距离得到距离阵</a:t>
                </a:r>
                <a:r>
                  <a:rPr lang="en-US" altLang="zh-CN" b="1" dirty="0"/>
                  <a:t>D</a:t>
                </a:r>
                <a:r>
                  <a:rPr lang="en-US" altLang="zh-CN" b="1" baseline="30000" dirty="0"/>
                  <a:t>2</a:t>
                </a:r>
                <a:r>
                  <a:rPr lang="zh-CN" altLang="en-US" b="1" baseline="-25000" dirty="0"/>
                  <a:t>（</a:t>
                </a:r>
                <a:r>
                  <a:rPr lang="en-US" altLang="zh-CN" b="1" baseline="-25000" dirty="0"/>
                  <a:t>3</a:t>
                </a:r>
                <a:r>
                  <a:rPr lang="zh-CN" altLang="en-US" b="1" baseline="-25000" dirty="0"/>
                  <a:t>） </a:t>
                </a:r>
                <a:endParaRPr lang="en-US" altLang="zh-CN" b="1" baseline="-250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07331"/>
                <a:ext cx="6096000" cy="923330"/>
              </a:xfrm>
              <a:prstGeom prst="rect">
                <a:avLst/>
              </a:prstGeom>
              <a:blipFill>
                <a:blip r:embed="rId5"/>
                <a:stretch>
                  <a:fillRect l="-800" t="-3289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192214" y="3754449"/>
                <a:ext cx="4873016" cy="388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𝟏𝟎𝟕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𝟕𝟓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𝟎𝟔𝟐𝟓</m:t>
                      </m:r>
                    </m:oMath>
                  </m:oMathPara>
                </a14:m>
                <a:endParaRPr lang="en-US" altLang="zh-CN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2214" y="3754449"/>
                <a:ext cx="4873016" cy="388504"/>
              </a:xfrm>
              <a:prstGeom prst="rect">
                <a:avLst/>
              </a:prstGeom>
              <a:blipFill>
                <a:blip r:embed="rId6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/>
          <p:cNvCxnSpPr/>
          <p:nvPr/>
        </p:nvCxnSpPr>
        <p:spPr>
          <a:xfrm>
            <a:off x="6169588" y="6412911"/>
            <a:ext cx="4918269" cy="36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091658"/>
              </p:ext>
            </p:extLst>
          </p:nvPr>
        </p:nvGraphicFramePr>
        <p:xfrm>
          <a:off x="5213895" y="3810479"/>
          <a:ext cx="6555003" cy="312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4557893" imgH="2175010" progId="Word.Document.8">
                  <p:embed/>
                </p:oleObj>
              </mc:Choice>
              <mc:Fallback>
                <p:oleObj name="Document" r:id="rId7" imgW="4557893" imgH="2175010" progId="Word.Document.8">
                  <p:embed/>
                  <p:pic>
                    <p:nvPicPr>
                      <p:cNvPr id="142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895" y="3810479"/>
                        <a:ext cx="6555003" cy="3127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038979"/>
              </p:ext>
            </p:extLst>
          </p:nvPr>
        </p:nvGraphicFramePr>
        <p:xfrm>
          <a:off x="6095996" y="-62142"/>
          <a:ext cx="5724590" cy="1615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2459">
                  <a:extLst>
                    <a:ext uri="{9D8B030D-6E8A-4147-A177-3AD203B41FA5}">
                      <a16:colId xmlns:a16="http://schemas.microsoft.com/office/drawing/2014/main" val="1973434479"/>
                    </a:ext>
                  </a:extLst>
                </a:gridCol>
                <a:gridCol w="572459">
                  <a:extLst>
                    <a:ext uri="{9D8B030D-6E8A-4147-A177-3AD203B41FA5}">
                      <a16:colId xmlns:a16="http://schemas.microsoft.com/office/drawing/2014/main" val="441285770"/>
                    </a:ext>
                  </a:extLst>
                </a:gridCol>
                <a:gridCol w="572459">
                  <a:extLst>
                    <a:ext uri="{9D8B030D-6E8A-4147-A177-3AD203B41FA5}">
                      <a16:colId xmlns:a16="http://schemas.microsoft.com/office/drawing/2014/main" val="2602159112"/>
                    </a:ext>
                  </a:extLst>
                </a:gridCol>
                <a:gridCol w="572459">
                  <a:extLst>
                    <a:ext uri="{9D8B030D-6E8A-4147-A177-3AD203B41FA5}">
                      <a16:colId xmlns:a16="http://schemas.microsoft.com/office/drawing/2014/main" val="441405259"/>
                    </a:ext>
                  </a:extLst>
                </a:gridCol>
                <a:gridCol w="572459">
                  <a:extLst>
                    <a:ext uri="{9D8B030D-6E8A-4147-A177-3AD203B41FA5}">
                      <a16:colId xmlns:a16="http://schemas.microsoft.com/office/drawing/2014/main" val="3255055931"/>
                    </a:ext>
                  </a:extLst>
                </a:gridCol>
                <a:gridCol w="572459">
                  <a:extLst>
                    <a:ext uri="{9D8B030D-6E8A-4147-A177-3AD203B41FA5}">
                      <a16:colId xmlns:a16="http://schemas.microsoft.com/office/drawing/2014/main" val="2744706044"/>
                    </a:ext>
                  </a:extLst>
                </a:gridCol>
                <a:gridCol w="572459">
                  <a:extLst>
                    <a:ext uri="{9D8B030D-6E8A-4147-A177-3AD203B41FA5}">
                      <a16:colId xmlns:a16="http://schemas.microsoft.com/office/drawing/2014/main" val="3471128898"/>
                    </a:ext>
                  </a:extLst>
                </a:gridCol>
                <a:gridCol w="572459">
                  <a:extLst>
                    <a:ext uri="{9D8B030D-6E8A-4147-A177-3AD203B41FA5}">
                      <a16:colId xmlns:a16="http://schemas.microsoft.com/office/drawing/2014/main" val="3384579917"/>
                    </a:ext>
                  </a:extLst>
                </a:gridCol>
                <a:gridCol w="521190">
                  <a:extLst>
                    <a:ext uri="{9D8B030D-6E8A-4147-A177-3AD203B41FA5}">
                      <a16:colId xmlns:a16="http://schemas.microsoft.com/office/drawing/2014/main" val="3048582933"/>
                    </a:ext>
                  </a:extLst>
                </a:gridCol>
                <a:gridCol w="623728">
                  <a:extLst>
                    <a:ext uri="{9D8B030D-6E8A-4147-A177-3AD203B41FA5}">
                      <a16:colId xmlns:a16="http://schemas.microsoft.com/office/drawing/2014/main" val="3089507806"/>
                    </a:ext>
                  </a:extLst>
                </a:gridCol>
              </a:tblGrid>
              <a:tr h="271767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G2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G3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G4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G5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G6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G7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G8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G9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G10</a:t>
                      </a:r>
                      <a:endParaRPr lang="zh-CN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437638"/>
                  </a:ext>
                </a:extLst>
              </a:tr>
              <a:tr h="247061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5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7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9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10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590362"/>
                  </a:ext>
                </a:extLst>
              </a:tr>
              <a:tr h="247061">
                <a:tc>
                  <a:txBody>
                    <a:bodyPr/>
                    <a:lstStyle/>
                    <a:p>
                      <a:endParaRPr lang="zh-CN" altLang="en-US" sz="14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5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7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1.5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9.5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645831"/>
                  </a:ext>
                </a:extLst>
              </a:tr>
              <a:tr h="271767">
                <a:tc>
                  <a:txBody>
                    <a:bodyPr/>
                    <a:lstStyle/>
                    <a:p>
                      <a:endParaRPr lang="zh-CN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1.5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9.5</a:t>
                      </a:r>
                      <a:endParaRPr lang="zh-CN" altLang="en-US" sz="1600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6</a:t>
                      </a:r>
                      <a:endParaRPr lang="zh-CN" altLang="en-US" sz="1600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401649"/>
                  </a:ext>
                </a:extLst>
              </a:tr>
              <a:tr h="271767">
                <a:tc>
                  <a:txBody>
                    <a:bodyPr/>
                    <a:lstStyle/>
                    <a:p>
                      <a:endParaRPr lang="zh-CN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1.5</a:t>
                      </a:r>
                      <a:endParaRPr lang="zh-CN" altLang="en-US" sz="16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7.75</a:t>
                      </a:r>
                      <a:endParaRPr lang="zh-CN" altLang="en-US" sz="16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981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303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8625</TotalTime>
  <Words>422</Words>
  <Application>Microsoft Macintosh PowerPoint</Application>
  <PresentationFormat>宽屏</PresentationFormat>
  <Paragraphs>139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等线</vt:lpstr>
      <vt:lpstr>等线 Light</vt:lpstr>
      <vt:lpstr>Arial</vt:lpstr>
      <vt:lpstr>Cambria Math</vt:lpstr>
      <vt:lpstr>Times New Roman</vt:lpstr>
      <vt:lpstr>Wingdings</vt:lpstr>
      <vt:lpstr>Office 主题​​</vt:lpstr>
      <vt:lpstr>Document</vt:lpstr>
      <vt:lpstr>Part Five 层次聚类</vt:lpstr>
      <vt:lpstr>层次聚类（无需聚类数量）</vt:lpstr>
      <vt:lpstr>层次聚类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596</cp:revision>
  <dcterms:created xsi:type="dcterms:W3CDTF">2021-11-17T13:21:01Z</dcterms:created>
  <dcterms:modified xsi:type="dcterms:W3CDTF">2025-07-26T14:07:37Z</dcterms:modified>
</cp:coreProperties>
</file>
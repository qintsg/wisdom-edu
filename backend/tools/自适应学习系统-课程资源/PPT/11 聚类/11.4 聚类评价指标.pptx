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93" r:id="rId2"/>
    <p:sldId id="284" r:id="rId3"/>
    <p:sldId id="294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49" autoAdjust="0"/>
    <p:restoredTop sz="83196"/>
  </p:normalViewPr>
  <p:slideViewPr>
    <p:cSldViewPr snapToGrid="0" showGuides="1">
      <p:cViewPr varScale="1">
        <p:scale>
          <a:sx n="104" d="100"/>
          <a:sy n="104" d="100"/>
        </p:scale>
        <p:origin x="448" y="20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067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7920203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7333" y="296901"/>
            <a:ext cx="9792824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97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Part Four</a:t>
            </a:r>
            <a:b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确定聚类数量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K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31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文本框 3"/>
          <p:cNvSpPr txBox="1">
            <a:spLocks noChangeArrowheads="1"/>
          </p:cNvSpPr>
          <p:nvPr/>
        </p:nvSpPr>
        <p:spPr bwMode="auto">
          <a:xfrm>
            <a:off x="133942" y="1230254"/>
            <a:ext cx="10515599" cy="3933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zh-CN" altLang="en-US" sz="2880" b="1" dirty="0">
                <a:solidFill>
                  <a:prstClr val="black"/>
                </a:solidFill>
              </a:rPr>
              <a:t>轮廓系数：用来评估聚类结果的指标</a:t>
            </a:r>
            <a:endParaRPr lang="en-US" altLang="zh-CN" sz="2880" b="1" dirty="0">
              <a:solidFill>
                <a:prstClr val="black"/>
              </a:solidFill>
            </a:endParaRPr>
          </a:p>
          <a:p>
            <a:pPr marL="457200" indent="-457200" algn="just" eaLnBrk="1" hangingPunct="1">
              <a:buFont typeface="Wingdings" panose="05000000000000000000" pitchFamily="2" charset="2"/>
              <a:buChar char="u"/>
            </a:pPr>
            <a:r>
              <a:rPr lang="zh-CN" altLang="en-US" sz="2880" b="1" dirty="0">
                <a:solidFill>
                  <a:prstClr val="black"/>
                </a:solidFill>
              </a:rPr>
              <a:t>组内距离尽量小（类内的更紧密）</a:t>
            </a:r>
            <a:endParaRPr lang="en-US" altLang="zh-CN" sz="2880" b="1" dirty="0">
              <a:solidFill>
                <a:prstClr val="black"/>
              </a:solidFill>
            </a:endParaRPr>
          </a:p>
          <a:p>
            <a:pPr marL="457200" indent="-457200" algn="just" eaLnBrk="1" hangingPunct="1">
              <a:buFont typeface="Wingdings" panose="05000000000000000000" pitchFamily="2" charset="2"/>
              <a:buChar char="u"/>
            </a:pPr>
            <a:r>
              <a:rPr lang="zh-CN" altLang="en-US" sz="2880" b="1" dirty="0">
                <a:solidFill>
                  <a:prstClr val="black"/>
                </a:solidFill>
              </a:rPr>
              <a:t>组间距离尽量大（类间的更分离）</a:t>
            </a:r>
            <a:endParaRPr lang="en-US" altLang="zh-CN" sz="2880" b="1" dirty="0">
              <a:solidFill>
                <a:prstClr val="black"/>
              </a:solidFill>
            </a:endParaRPr>
          </a:p>
          <a:p>
            <a:pPr marL="457200" indent="-457200" algn="just" eaLnBrk="1" hangingPunct="1">
              <a:buFont typeface="Wingdings" panose="05000000000000000000" pitchFamily="2" charset="2"/>
              <a:buChar char="u"/>
            </a:pPr>
            <a:endParaRPr lang="en-US" altLang="zh-CN" sz="2880" b="1" dirty="0">
              <a:solidFill>
                <a:prstClr val="black"/>
              </a:solidFill>
            </a:endParaRPr>
          </a:p>
          <a:p>
            <a:pPr algn="just" eaLnBrk="1" hangingPunct="1"/>
            <a:endParaRPr lang="en-US" altLang="zh-CN" sz="2880" b="1" dirty="0">
              <a:solidFill>
                <a:prstClr val="black"/>
              </a:solidFill>
            </a:endParaRPr>
          </a:p>
          <a:p>
            <a:pPr algn="just" eaLnBrk="1" hangingPunct="1"/>
            <a:endParaRPr lang="en-US" altLang="zh-CN" sz="2880" b="1" dirty="0">
              <a:solidFill>
                <a:prstClr val="black"/>
              </a:solidFill>
            </a:endParaRPr>
          </a:p>
          <a:p>
            <a:pPr algn="just" eaLnBrk="1" hangingPunct="1"/>
            <a:r>
              <a:rPr lang="en-US" altLang="zh-CN" dirty="0"/>
              <a:t>a(</a:t>
            </a:r>
            <a:r>
              <a:rPr lang="en-US" altLang="zh-CN" dirty="0" err="1"/>
              <a:t>i</a:t>
            </a:r>
            <a:r>
              <a:rPr lang="en-US" altLang="zh-CN" dirty="0"/>
              <a:t>) = </a:t>
            </a:r>
            <a:r>
              <a:rPr lang="zh-CN" altLang="en-US" dirty="0"/>
              <a:t>样本</a:t>
            </a:r>
            <a:r>
              <a:rPr lang="en-US" altLang="zh-CN" dirty="0" err="1"/>
              <a:t>i</a:t>
            </a:r>
            <a:r>
              <a:rPr lang="zh-CN" altLang="en-US" dirty="0"/>
              <a:t>与同一簇类内其他点的平均距离</a:t>
            </a:r>
            <a:endParaRPr lang="en-US" altLang="zh-CN" dirty="0"/>
          </a:p>
          <a:p>
            <a:pPr algn="just" eaLnBrk="1" hangingPunct="1"/>
            <a:r>
              <a:rPr lang="en-US" altLang="zh-CN" dirty="0"/>
              <a:t>b(</a:t>
            </a:r>
            <a:r>
              <a:rPr lang="en-US" altLang="zh-CN" dirty="0" err="1"/>
              <a:t>i</a:t>
            </a:r>
            <a:r>
              <a:rPr lang="en-US" altLang="zh-CN" dirty="0"/>
              <a:t>) = min{</a:t>
            </a:r>
            <a:r>
              <a:rPr lang="zh-CN" altLang="en-US" dirty="0"/>
              <a:t>样本</a:t>
            </a:r>
            <a:r>
              <a:rPr lang="en-US" altLang="zh-CN" dirty="0" err="1"/>
              <a:t>i</a:t>
            </a:r>
            <a:r>
              <a:rPr lang="zh-CN" altLang="en-US" dirty="0"/>
              <a:t>与其他簇类内其他点的平均距离</a:t>
            </a:r>
            <a:r>
              <a:rPr lang="en-US" altLang="zh-CN" dirty="0"/>
              <a:t>}</a:t>
            </a:r>
          </a:p>
          <a:p>
            <a:pPr algn="just" eaLnBrk="1" hangingPunct="1"/>
            <a:endParaRPr lang="en-US" altLang="zh-CN" sz="2880" b="1" dirty="0">
              <a:solidFill>
                <a:prstClr val="blac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评估聚类结果指标：轮廓系数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267EC8-20E2-37A9-E943-7205D1B0C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66" y="2808299"/>
            <a:ext cx="3265180" cy="94854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96657D2-068D-A215-EED4-28CB39F2DF9B}"/>
              </a:ext>
            </a:extLst>
          </p:cNvPr>
          <p:cNvSpPr txBox="1"/>
          <p:nvPr/>
        </p:nvSpPr>
        <p:spPr>
          <a:xfrm>
            <a:off x="6632812" y="2728573"/>
            <a:ext cx="542524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‌</a:t>
            </a:r>
            <a:r>
              <a:rPr lang="en-US" altLang="zh-CN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1‌</a:t>
            </a:r>
            <a:r>
              <a:rPr lang="zh-CN" altLang="en-US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：数据点聚类合理，内聚度高且分离度大。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‌</a:t>
            </a:r>
            <a:r>
              <a:rPr lang="en-US" altLang="zh-CN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0‌</a:t>
            </a:r>
            <a:r>
              <a:rPr lang="zh-CN" altLang="en-US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：数据点处于簇边界，难以明确分类。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‌</a:t>
            </a:r>
            <a:r>
              <a:rPr lang="en-US" altLang="zh-CN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-1‌</a:t>
            </a:r>
            <a:r>
              <a:rPr lang="zh-CN" altLang="en-US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：数据点可能被错误分配到相邻簇。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93C5B4-4413-64E8-88DF-72463BB90814}"/>
              </a:ext>
            </a:extLst>
          </p:cNvPr>
          <p:cNvSpPr txBox="1"/>
          <p:nvPr/>
        </p:nvSpPr>
        <p:spPr>
          <a:xfrm>
            <a:off x="6498871" y="1563915"/>
            <a:ext cx="55591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zh-CN" altLang="en-US" sz="2400" b="1" dirty="0">
                <a:solidFill>
                  <a:prstClr val="black"/>
                </a:solidFill>
              </a:rPr>
              <a:t>计算每个样本轮廓系数的平均值，即为聚类轮廓系数</a:t>
            </a:r>
            <a:r>
              <a:rPr lang="en-US" altLang="zh-CN" sz="2400" b="1" dirty="0">
                <a:solidFill>
                  <a:prstClr val="black"/>
                </a:solidFill>
              </a:rPr>
              <a:t>,</a:t>
            </a:r>
            <a:r>
              <a:rPr lang="zh-CN" altLang="en-US" sz="2400" b="1" dirty="0">
                <a:solidFill>
                  <a:prstClr val="black"/>
                </a:solidFill>
              </a:rPr>
              <a:t>轮廓系数取值范围在</a:t>
            </a:r>
            <a:r>
              <a:rPr lang="en-US" altLang="zh-CN" sz="2400" b="1" dirty="0">
                <a:solidFill>
                  <a:prstClr val="black"/>
                </a:solidFill>
              </a:rPr>
              <a:t>[1,-1]</a:t>
            </a:r>
          </a:p>
        </p:txBody>
      </p:sp>
    </p:spTree>
    <p:extLst>
      <p:ext uri="{BB962C8B-B14F-4D97-AF65-F5344CB8AC3E}">
        <p14:creationId xmlns:p14="http://schemas.microsoft.com/office/powerpoint/2010/main" val="1161061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K-</a:t>
            </a:r>
            <a:r>
              <a:rPr lang="en-US" altLang="zh-CN" dirty="0" err="1"/>
              <a:t>Medoids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49427" y="1323470"/>
            <a:ext cx="11285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K</a:t>
            </a:r>
            <a:r>
              <a:rPr lang="zh-CN" altLang="en-US" sz="2400" b="1" dirty="0"/>
              <a:t>值的选择需要深刻理解数据集及业务背景。</a:t>
            </a:r>
            <a:endParaRPr lang="en-US" altLang="zh-CN" sz="2400" b="1" dirty="0"/>
          </a:p>
          <a:p>
            <a:r>
              <a:rPr lang="zh-CN" altLang="en-US" sz="2400" b="1" dirty="0"/>
              <a:t>肘部法则，可以帮助我们选取最佳可行的聚类数量。（基于数据总方差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轮廓系数）</a:t>
            </a:r>
            <a:endParaRPr lang="en-US" altLang="zh-CN" sz="2400" b="1" dirty="0"/>
          </a:p>
          <a:p>
            <a:endParaRPr lang="zh-CN" altLang="en-US" sz="2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79F631-DFAF-A0CE-549B-66D29B2B9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305" y="2304639"/>
            <a:ext cx="5154391" cy="365992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1E9DFA3-E275-92FD-5DB8-C6C5679810A7}"/>
              </a:ext>
            </a:extLst>
          </p:cNvPr>
          <p:cNvSpPr txBox="1"/>
          <p:nvPr/>
        </p:nvSpPr>
        <p:spPr>
          <a:xfrm>
            <a:off x="2179031" y="6164357"/>
            <a:ext cx="71569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K=3</a:t>
            </a:r>
            <a:r>
              <a:rPr lang="zh-CN" altLang="en-US" sz="2000" b="1" dirty="0"/>
              <a:t>时可以捕获最大的可变性，同时使用较少的聚类数量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31246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8625</TotalTime>
  <Words>214</Words>
  <Application>Microsoft Macintosh PowerPoint</Application>
  <PresentationFormat>宽屏</PresentationFormat>
  <Paragraphs>19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等线 Light</vt:lpstr>
      <vt:lpstr>PingFang SC</vt:lpstr>
      <vt:lpstr>Arial</vt:lpstr>
      <vt:lpstr>Times New Roman</vt:lpstr>
      <vt:lpstr>Wingdings</vt:lpstr>
      <vt:lpstr>Office 主题​​</vt:lpstr>
      <vt:lpstr>Part Four 确定聚类数量K</vt:lpstr>
      <vt:lpstr>评估聚类结果指标：轮廓系数</vt:lpstr>
      <vt:lpstr>K-Medoids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596</cp:revision>
  <dcterms:created xsi:type="dcterms:W3CDTF">2021-11-17T13:21:01Z</dcterms:created>
  <dcterms:modified xsi:type="dcterms:W3CDTF">2025-07-26T14:07:13Z</dcterms:modified>
</cp:coreProperties>
</file>